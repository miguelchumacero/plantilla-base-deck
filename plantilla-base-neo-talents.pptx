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5143500" cx="9144000"/>
  <p:notesSz cx="5143500" cy="9144000"/>
  <p:embeddedFontLst>
    <p:embeddedFont>
      <p:font typeface="Montserrat SemiBold"/>
      <p:regular r:id="rId25"/>
      <p:bold r:id="rId26"/>
      <p:italic r:id="rId27"/>
      <p:boldItalic r:id="rId28"/>
    </p:embeddedFont>
    <p:embeddedFont>
      <p:font typeface="Montserrat"/>
      <p:regular r:id="rId29"/>
      <p:bold r:id="rId30"/>
      <p:italic r:id="rId31"/>
      <p:boldItalic r:id="rId32"/>
    </p:embeddedFont>
    <p:embeddedFont>
      <p:font typeface="Montserrat Black"/>
      <p:bold r:id="rId33"/>
      <p:boldItalic r:id="rId34"/>
    </p:embeddedFont>
    <p:embeddedFont>
      <p:font typeface="Montserrat Medium"/>
      <p:regular r:id="rId35"/>
      <p:bold r:id="rId36"/>
      <p:italic r:id="rId37"/>
      <p:boldItalic r:id="rId38"/>
    </p:embeddedFont>
    <p:embeddedFont>
      <p:font typeface="Montserrat ExtraBold"/>
      <p:bold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7987163-05EB-4841-B32E-FE23FC968E0B}">
  <a:tblStyle styleId="{C7987163-05EB-4841-B32E-FE23FC968E0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MontserratExtraBold-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MontserratSemiBold-bold.fntdata"/><Relationship Id="rId25" Type="http://schemas.openxmlformats.org/officeDocument/2006/relationships/font" Target="fonts/MontserratSemiBold-regular.fntdata"/><Relationship Id="rId28" Type="http://schemas.openxmlformats.org/officeDocument/2006/relationships/font" Target="fonts/MontserratSemiBold-boldItalic.fntdata"/><Relationship Id="rId27" Type="http://schemas.openxmlformats.org/officeDocument/2006/relationships/font" Target="fonts/MontserratSemiBold-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italic.fntdata"/><Relationship Id="rId30" Type="http://schemas.openxmlformats.org/officeDocument/2006/relationships/font" Target="fonts/Montserrat-bold.fntdata"/><Relationship Id="rId11" Type="http://schemas.openxmlformats.org/officeDocument/2006/relationships/slide" Target="slides/slide6.xml"/><Relationship Id="rId33" Type="http://schemas.openxmlformats.org/officeDocument/2006/relationships/font" Target="fonts/MontserratBlack-bold.fntdata"/><Relationship Id="rId10" Type="http://schemas.openxmlformats.org/officeDocument/2006/relationships/slide" Target="slides/slide5.xml"/><Relationship Id="rId32" Type="http://schemas.openxmlformats.org/officeDocument/2006/relationships/font" Target="fonts/Montserrat-boldItalic.fntdata"/><Relationship Id="rId13" Type="http://schemas.openxmlformats.org/officeDocument/2006/relationships/slide" Target="slides/slide8.xml"/><Relationship Id="rId35" Type="http://schemas.openxmlformats.org/officeDocument/2006/relationships/font" Target="fonts/MontserratMedium-regular.fntdata"/><Relationship Id="rId12" Type="http://schemas.openxmlformats.org/officeDocument/2006/relationships/slide" Target="slides/slide7.xml"/><Relationship Id="rId34" Type="http://schemas.openxmlformats.org/officeDocument/2006/relationships/font" Target="fonts/MontserratBlack-boldItalic.fntdata"/><Relationship Id="rId15" Type="http://schemas.openxmlformats.org/officeDocument/2006/relationships/slide" Target="slides/slide10.xml"/><Relationship Id="rId37" Type="http://schemas.openxmlformats.org/officeDocument/2006/relationships/font" Target="fonts/MontserratMedium-italic.fntdata"/><Relationship Id="rId14" Type="http://schemas.openxmlformats.org/officeDocument/2006/relationships/slide" Target="slides/slide9.xml"/><Relationship Id="rId36" Type="http://schemas.openxmlformats.org/officeDocument/2006/relationships/font" Target="fonts/MontserratMedium-bold.fntdata"/><Relationship Id="rId17" Type="http://schemas.openxmlformats.org/officeDocument/2006/relationships/slide" Target="slides/slide12.xml"/><Relationship Id="rId39" Type="http://schemas.openxmlformats.org/officeDocument/2006/relationships/font" Target="fonts/MontserratExtraBold-bold.fntdata"/><Relationship Id="rId16" Type="http://schemas.openxmlformats.org/officeDocument/2006/relationships/slide" Target="slides/slide11.xml"/><Relationship Id="rId38" Type="http://schemas.openxmlformats.org/officeDocument/2006/relationships/font" Target="fonts/MontserratMedium-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 name="Google Shape;5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60" name="Google Shape;6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70" name="Google Shape;7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 name="Google Shape;80;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 name="Google Shape;81;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 name="Google Shape;11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119" name="Google Shape;119;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5" name="Google Shape;16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 name="Google Shape;19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17" name="Google Shape;217;p1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h3c06cb87bc4eaa0a_0_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h3c06cb87bc4eaa0a_0_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27" name="Google Shape;227;h3c06cb87bc4eaa0a_0_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h3c06cb87bc4eaa0a_0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 name="Google Shape;238;h3c06cb87bc4eaa0a_0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9" name="Google Shape;239;h3c06cb87bc4eaa0a_0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2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20: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h3c06cb87bc4eaa0a_0_4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h3c06cb87bc4eaa0a_0_4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72" name="Google Shape;272;h3c06cb87bc4eaa0a_0_4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2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89" name="Google Shape;289;p2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2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2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06" name="Google Shape;306;p2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2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2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67" name="Google Shape;367;p2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54" name="Shape 54"/>
        <p:cNvGrpSpPr/>
        <p:nvPr/>
      </p:nvGrpSpPr>
      <p:grpSpPr>
        <a:xfrm>
          <a:off x="0" y="0"/>
          <a:ext cx="0" cy="0"/>
          <a:chOff x="0" y="0"/>
          <a:chExt cx="0" cy="0"/>
        </a:xfrm>
      </p:grpSpPr>
      <p:sp>
        <p:nvSpPr>
          <p:cNvPr id="55" name="Google Shape;55;p13"/>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56" name="Google Shape;56;p13"/>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11" name="Google Shape;11;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12" name="Google Shape;12;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13.png"/></Relationships>
</file>

<file path=ppt/slides/_rels/slide18.xml.rels><?xml version="1.0" encoding="UTF-8" standalone="yes"?><Relationships xmlns="http://schemas.openxmlformats.org/package/2006/relationships"><Relationship Id="rId40" Type="http://schemas.openxmlformats.org/officeDocument/2006/relationships/image" Target="../media/image51.png"/><Relationship Id="rId20" Type="http://schemas.openxmlformats.org/officeDocument/2006/relationships/image" Target="../media/image26.png"/><Relationship Id="rId42" Type="http://schemas.openxmlformats.org/officeDocument/2006/relationships/image" Target="../media/image55.png"/><Relationship Id="rId41" Type="http://schemas.openxmlformats.org/officeDocument/2006/relationships/image" Target="../media/image49.png"/><Relationship Id="rId22" Type="http://schemas.openxmlformats.org/officeDocument/2006/relationships/image" Target="../media/image30.png"/><Relationship Id="rId44" Type="http://schemas.openxmlformats.org/officeDocument/2006/relationships/image" Target="../media/image50.png"/><Relationship Id="rId21" Type="http://schemas.openxmlformats.org/officeDocument/2006/relationships/image" Target="../media/image44.png"/><Relationship Id="rId43" Type="http://schemas.openxmlformats.org/officeDocument/2006/relationships/image" Target="../media/image47.png"/><Relationship Id="rId24" Type="http://schemas.openxmlformats.org/officeDocument/2006/relationships/image" Target="../media/image31.png"/><Relationship Id="rId23" Type="http://schemas.openxmlformats.org/officeDocument/2006/relationships/image" Target="../media/image29.png"/><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 Id="rId9" Type="http://schemas.openxmlformats.org/officeDocument/2006/relationships/image" Target="../media/image53.png"/><Relationship Id="rId26" Type="http://schemas.openxmlformats.org/officeDocument/2006/relationships/image" Target="../media/image35.png"/><Relationship Id="rId25" Type="http://schemas.openxmlformats.org/officeDocument/2006/relationships/image" Target="../media/image28.png"/><Relationship Id="rId28" Type="http://schemas.openxmlformats.org/officeDocument/2006/relationships/image" Target="../media/image32.png"/><Relationship Id="rId27" Type="http://schemas.openxmlformats.org/officeDocument/2006/relationships/image" Target="../media/image34.png"/><Relationship Id="rId5" Type="http://schemas.openxmlformats.org/officeDocument/2006/relationships/image" Target="../media/image16.png"/><Relationship Id="rId6" Type="http://schemas.openxmlformats.org/officeDocument/2006/relationships/image" Target="../media/image17.png"/><Relationship Id="rId29" Type="http://schemas.openxmlformats.org/officeDocument/2006/relationships/image" Target="../media/image36.png"/><Relationship Id="rId7" Type="http://schemas.openxmlformats.org/officeDocument/2006/relationships/image" Target="../media/image46.png"/><Relationship Id="rId8" Type="http://schemas.openxmlformats.org/officeDocument/2006/relationships/image" Target="../media/image18.png"/><Relationship Id="rId31" Type="http://schemas.openxmlformats.org/officeDocument/2006/relationships/image" Target="../media/image38.png"/><Relationship Id="rId30" Type="http://schemas.openxmlformats.org/officeDocument/2006/relationships/image" Target="../media/image39.png"/><Relationship Id="rId11" Type="http://schemas.openxmlformats.org/officeDocument/2006/relationships/image" Target="../media/image21.png"/><Relationship Id="rId33" Type="http://schemas.openxmlformats.org/officeDocument/2006/relationships/image" Target="../media/image41.png"/><Relationship Id="rId10" Type="http://schemas.openxmlformats.org/officeDocument/2006/relationships/image" Target="../media/image19.png"/><Relationship Id="rId32" Type="http://schemas.openxmlformats.org/officeDocument/2006/relationships/image" Target="../media/image37.png"/><Relationship Id="rId13" Type="http://schemas.openxmlformats.org/officeDocument/2006/relationships/image" Target="../media/image23.png"/><Relationship Id="rId35" Type="http://schemas.openxmlformats.org/officeDocument/2006/relationships/image" Target="../media/image54.png"/><Relationship Id="rId12" Type="http://schemas.openxmlformats.org/officeDocument/2006/relationships/image" Target="../media/image52.png"/><Relationship Id="rId34" Type="http://schemas.openxmlformats.org/officeDocument/2006/relationships/image" Target="../media/image40.png"/><Relationship Id="rId15" Type="http://schemas.openxmlformats.org/officeDocument/2006/relationships/image" Target="../media/image22.png"/><Relationship Id="rId37" Type="http://schemas.openxmlformats.org/officeDocument/2006/relationships/image" Target="../media/image45.png"/><Relationship Id="rId14" Type="http://schemas.openxmlformats.org/officeDocument/2006/relationships/image" Target="../media/image20.png"/><Relationship Id="rId36" Type="http://schemas.openxmlformats.org/officeDocument/2006/relationships/image" Target="../media/image42.png"/><Relationship Id="rId17" Type="http://schemas.openxmlformats.org/officeDocument/2006/relationships/image" Target="../media/image33.png"/><Relationship Id="rId39" Type="http://schemas.openxmlformats.org/officeDocument/2006/relationships/image" Target="../media/image48.png"/><Relationship Id="rId16" Type="http://schemas.openxmlformats.org/officeDocument/2006/relationships/image" Target="../media/image24.png"/><Relationship Id="rId38" Type="http://schemas.openxmlformats.org/officeDocument/2006/relationships/image" Target="../media/image43.png"/><Relationship Id="rId19" Type="http://schemas.openxmlformats.org/officeDocument/2006/relationships/image" Target="../media/image25.png"/><Relationship Id="rId18"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58.png"/><Relationship Id="rId4" Type="http://schemas.openxmlformats.org/officeDocument/2006/relationships/image" Target="../media/image57.png"/><Relationship Id="rId5" Type="http://schemas.openxmlformats.org/officeDocument/2006/relationships/hyperlink" Target="https://calendar.app.google/1maZfBCTfF8Utm1U6" TargetMode="External"/><Relationship Id="rId6"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1" name="Shape 61"/>
        <p:cNvGrpSpPr/>
        <p:nvPr/>
      </p:nvGrpSpPr>
      <p:grpSpPr>
        <a:xfrm>
          <a:off x="0" y="0"/>
          <a:ext cx="0" cy="0"/>
          <a:chOff x="0" y="0"/>
          <a:chExt cx="0" cy="0"/>
        </a:xfrm>
      </p:grpSpPr>
      <p:pic>
        <p:nvPicPr>
          <p:cNvPr descr="bg-dark-glow.png" id="62" name="Google Shape;62;p14"/>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3" name="Google Shape;63;p14"/>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4" name="Google Shape;64;p14"/>
          <p:cNvSpPr txBox="1"/>
          <p:nvPr/>
        </p:nvSpPr>
        <p:spPr>
          <a:xfrm>
            <a:off x="3556000" y="4607805"/>
            <a:ext cx="2031900" cy="185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5" name="Google Shape;65;p14"/>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Neo Consulting</a:t>
            </a:r>
            <a:endParaRPr b="0" i="0" sz="1400" u="none" cap="none" strike="noStrike">
              <a:solidFill>
                <a:srgbClr val="000000"/>
              </a:solidFill>
              <a:latin typeface="Arial"/>
              <a:ea typeface="Arial"/>
              <a:cs typeface="Arial"/>
              <a:sym typeface="Arial"/>
            </a:endParaRPr>
          </a:p>
        </p:txBody>
      </p:sp>
      <p:sp>
        <p:nvSpPr>
          <p:cNvPr id="66" name="Google Shape;66;p14"/>
          <p:cNvSpPr txBox="1"/>
          <p:nvPr/>
        </p:nvSpPr>
        <p:spPr>
          <a:xfrm>
            <a:off x="571500" y="2979425"/>
            <a:ext cx="8001000" cy="445500"/>
          </a:xfrm>
          <a:prstGeom prst="rect">
            <a:avLst/>
          </a:prstGeom>
          <a:noFill/>
          <a:ln>
            <a:noFill/>
          </a:ln>
        </p:spPr>
        <p:txBody>
          <a:bodyPr anchorCtr="0" anchor="t" bIns="0" lIns="0" spcFirstLastPara="1" rIns="0" wrap="square" tIns="0">
            <a:noAutofit/>
          </a:bodyPr>
          <a:lstStyle/>
          <a:p>
            <a:pPr indent="0" lvl="0" marL="0" marR="0" rtl="0" algn="ctr">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1" name="Shape 71"/>
        <p:cNvGrpSpPr/>
        <p:nvPr/>
      </p:nvGrpSpPr>
      <p:grpSpPr>
        <a:xfrm>
          <a:off x="0" y="0"/>
          <a:ext cx="0" cy="0"/>
          <a:chOff x="0" y="0"/>
          <a:chExt cx="0" cy="0"/>
        </a:xfrm>
      </p:grpSpPr>
      <p:pic>
        <p:nvPicPr>
          <p:cNvPr descr="bg-dark-glow.png" id="72" name="Google Shape;72;p15"/>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73" name="Google Shape;73;p15"/>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74" name="Google Shape;74;p15"/>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75" name="Google Shape;75;p15"/>
          <p:cNvSpPr txBox="1"/>
          <p:nvPr/>
        </p:nvSpPr>
        <p:spPr>
          <a:xfrm>
            <a:off x="571500" y="1915538"/>
            <a:ext cx="8001000" cy="1259700"/>
          </a:xfrm>
          <a:prstGeom prst="rect">
            <a:avLst/>
          </a:prstGeom>
          <a:noFill/>
          <a:ln>
            <a:noFill/>
          </a:ln>
        </p:spPr>
        <p:txBody>
          <a:bodyPr anchorCtr="0" anchor="t" bIns="0" lIns="0" spcFirstLastPara="1" rIns="0" wrap="square" tIns="0">
            <a:noAutofit/>
          </a:bodyPr>
          <a:lstStyle/>
          <a:p>
            <a:pPr indent="0" lvl="0" marL="0" marR="0" rtl="0" algn="l">
              <a:lnSpc>
                <a:spcPct val="8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Nombre del servicio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500"/>
              <a:buFont typeface="Arial"/>
              <a:buNone/>
            </a:pPr>
            <a:r>
              <a:rPr b="0" i="1" lang="en-US" sz="4500" u="none" cap="none" strike="noStrike">
                <a:solidFill>
                  <a:srgbClr val="9AAFFE"/>
                </a:solidFill>
                <a:latin typeface="Montserrat Black"/>
                <a:ea typeface="Montserrat Black"/>
                <a:cs typeface="Montserrat Black"/>
                <a:sym typeface="Montserrat Black"/>
              </a:rPr>
              <a:t>Área o alcance</a:t>
            </a:r>
            <a:endParaRPr b="0" i="0" sz="1400" u="none" cap="none" strike="noStrike">
              <a:solidFill>
                <a:srgbClr val="9AAFFE"/>
              </a:solidFill>
              <a:latin typeface="Arial"/>
              <a:ea typeface="Arial"/>
              <a:cs typeface="Arial"/>
              <a:sym typeface="Arial"/>
            </a:endParaRPr>
          </a:p>
        </p:txBody>
      </p:sp>
      <p:sp>
        <p:nvSpPr>
          <p:cNvPr id="76" name="Google Shape;76;p15"/>
          <p:cNvSpPr txBox="1"/>
          <p:nvPr/>
        </p:nvSpPr>
        <p:spPr>
          <a:xfrm>
            <a:off x="571500" y="1554858"/>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PROPUESTA</a:t>
            </a:r>
            <a:endParaRPr b="0" i="0" sz="1400" u="none" cap="none" strike="noStrike">
              <a:solidFill>
                <a:srgbClr val="000000"/>
              </a:solidFill>
              <a:latin typeface="Arial"/>
              <a:ea typeface="Arial"/>
              <a:cs typeface="Arial"/>
              <a:sym typeface="Arial"/>
            </a:endParaRPr>
          </a:p>
        </p:txBody>
      </p:sp>
      <p:sp>
        <p:nvSpPr>
          <p:cNvPr id="77" name="Google Shape;77;p15"/>
          <p:cNvSpPr txBox="1"/>
          <p:nvPr/>
        </p:nvSpPr>
        <p:spPr>
          <a:xfrm>
            <a:off x="571500" y="3353178"/>
            <a:ext cx="4800600" cy="235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2" name="Shape 82"/>
        <p:cNvGrpSpPr/>
        <p:nvPr/>
      </p:nvGrpSpPr>
      <p:grpSpPr>
        <a:xfrm>
          <a:off x="0" y="0"/>
          <a:ext cx="0" cy="0"/>
          <a:chOff x="0" y="0"/>
          <a:chExt cx="0" cy="0"/>
        </a:xfrm>
      </p:grpSpPr>
      <p:sp>
        <p:nvSpPr>
          <p:cNvPr id="83" name="Google Shape;83;p16"/>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84" name="Google Shape;84;p16"/>
          <p:cNvSpPr txBox="1"/>
          <p:nvPr/>
        </p:nvSpPr>
        <p:spPr>
          <a:xfrm>
            <a:off x="571500" y="850900"/>
            <a:ext cx="8001000" cy="19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CONTENIDO</a:t>
            </a:r>
            <a:endParaRPr b="0" i="0" sz="1400" u="none" cap="none" strike="noStrike">
              <a:solidFill>
                <a:srgbClr val="000000"/>
              </a:solidFill>
              <a:latin typeface="Arial"/>
              <a:ea typeface="Arial"/>
              <a:cs typeface="Arial"/>
              <a:sym typeface="Arial"/>
            </a:endParaRPr>
          </a:p>
        </p:txBody>
      </p:sp>
      <p:sp>
        <p:nvSpPr>
          <p:cNvPr id="85" name="Google Shape;85;p16"/>
          <p:cNvSpPr txBox="1"/>
          <p:nvPr/>
        </p:nvSpPr>
        <p:spPr>
          <a:xfrm>
            <a:off x="571500" y="1088390"/>
            <a:ext cx="8001000" cy="32943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Agenda</a:t>
            </a:r>
            <a:endParaRPr b="0" i="0" sz="1400" u="none" cap="none" strike="noStrike">
              <a:solidFill>
                <a:srgbClr val="000000"/>
              </a:solidFill>
              <a:latin typeface="Arial"/>
              <a:ea typeface="Arial"/>
              <a:cs typeface="Arial"/>
              <a:sym typeface="Arial"/>
            </a:endParaRPr>
          </a:p>
        </p:txBody>
      </p:sp>
      <p:sp>
        <p:nvSpPr>
          <p:cNvPr id="86" name="Google Shape;86;p16"/>
          <p:cNvSpPr/>
          <p:nvPr/>
        </p:nvSpPr>
        <p:spPr>
          <a:xfrm>
            <a:off x="571500" y="2002127"/>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87" name="Google Shape;87;p16"/>
          <p:cNvSpPr txBox="1"/>
          <p:nvPr/>
        </p:nvSpPr>
        <p:spPr>
          <a:xfrm>
            <a:off x="840835" y="2144403"/>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01</a:t>
            </a:r>
            <a:endParaRPr b="0" i="0" sz="1600" u="none" cap="none" strike="noStrike">
              <a:solidFill>
                <a:srgbClr val="000000"/>
              </a:solidFill>
              <a:latin typeface="Calibri"/>
              <a:ea typeface="Calibri"/>
              <a:cs typeface="Calibri"/>
              <a:sym typeface="Calibri"/>
            </a:endParaRPr>
          </a:p>
        </p:txBody>
      </p:sp>
      <p:sp>
        <p:nvSpPr>
          <p:cNvPr id="88" name="Google Shape;88;p16"/>
          <p:cNvSpPr txBox="1"/>
          <p:nvPr/>
        </p:nvSpPr>
        <p:spPr>
          <a:xfrm>
            <a:off x="1460307" y="2144403"/>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La necesidad</a:t>
            </a:r>
            <a:endParaRPr b="0" i="0" sz="1600" u="none" cap="none" strike="noStrike">
              <a:solidFill>
                <a:srgbClr val="000000"/>
              </a:solidFill>
              <a:latin typeface="Calibri"/>
              <a:ea typeface="Calibri"/>
              <a:cs typeface="Calibri"/>
              <a:sym typeface="Calibri"/>
            </a:endParaRPr>
          </a:p>
        </p:txBody>
      </p:sp>
      <p:sp>
        <p:nvSpPr>
          <p:cNvPr id="89" name="Google Shape;89;p16"/>
          <p:cNvSpPr/>
          <p:nvPr/>
        </p:nvSpPr>
        <p:spPr>
          <a:xfrm>
            <a:off x="571594" y="2949522"/>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0" name="Google Shape;90;p16"/>
          <p:cNvSpPr txBox="1"/>
          <p:nvPr/>
        </p:nvSpPr>
        <p:spPr>
          <a:xfrm>
            <a:off x="840930" y="3091783"/>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02</a:t>
            </a:r>
            <a:endParaRPr b="0" i="0" sz="1600" u="none" cap="none" strike="noStrike">
              <a:solidFill>
                <a:srgbClr val="000000"/>
              </a:solidFill>
              <a:latin typeface="Calibri"/>
              <a:ea typeface="Calibri"/>
              <a:cs typeface="Calibri"/>
              <a:sym typeface="Calibri"/>
            </a:endParaRPr>
          </a:p>
        </p:txBody>
      </p:sp>
      <p:sp>
        <p:nvSpPr>
          <p:cNvPr id="91" name="Google Shape;91;p16"/>
          <p:cNvSpPr txBox="1"/>
          <p:nvPr/>
        </p:nvSpPr>
        <p:spPr>
          <a:xfrm>
            <a:off x="1460401" y="3091783"/>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Nuestra propuesta</a:t>
            </a:r>
            <a:endParaRPr b="0" i="0" sz="1600" u="none" cap="none" strike="noStrike">
              <a:solidFill>
                <a:srgbClr val="000000"/>
              </a:solidFill>
              <a:latin typeface="Calibri"/>
              <a:ea typeface="Calibri"/>
              <a:cs typeface="Calibri"/>
              <a:sym typeface="Calibri"/>
            </a:endParaRPr>
          </a:p>
        </p:txBody>
      </p:sp>
      <p:sp>
        <p:nvSpPr>
          <p:cNvPr id="92" name="Google Shape;92;p16"/>
          <p:cNvSpPr/>
          <p:nvPr/>
        </p:nvSpPr>
        <p:spPr>
          <a:xfrm>
            <a:off x="4606050" y="2002002"/>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3" name="Google Shape;93;p16"/>
          <p:cNvSpPr txBox="1"/>
          <p:nvPr/>
        </p:nvSpPr>
        <p:spPr>
          <a:xfrm>
            <a:off x="4875385" y="2144279"/>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03</a:t>
            </a:r>
            <a:endParaRPr b="0" i="0" sz="1600" u="none" cap="none" strike="noStrike">
              <a:solidFill>
                <a:srgbClr val="000000"/>
              </a:solidFill>
              <a:latin typeface="Calibri"/>
              <a:ea typeface="Calibri"/>
              <a:cs typeface="Calibri"/>
              <a:sym typeface="Calibri"/>
            </a:endParaRPr>
          </a:p>
        </p:txBody>
      </p:sp>
      <p:sp>
        <p:nvSpPr>
          <p:cNvPr id="94" name="Google Shape;94;p16"/>
          <p:cNvSpPr txBox="1"/>
          <p:nvPr/>
        </p:nvSpPr>
        <p:spPr>
          <a:xfrm>
            <a:off x="5494857" y="2144279"/>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Cronograma e inversión</a:t>
            </a:r>
            <a:endParaRPr b="0" i="0" sz="1600" u="none" cap="none" strike="noStrike">
              <a:solidFill>
                <a:srgbClr val="000000"/>
              </a:solidFill>
              <a:latin typeface="Calibri"/>
              <a:ea typeface="Calibri"/>
              <a:cs typeface="Calibri"/>
              <a:sym typeface="Calibri"/>
            </a:endParaRPr>
          </a:p>
        </p:txBody>
      </p:sp>
      <p:sp>
        <p:nvSpPr>
          <p:cNvPr id="95" name="Google Shape;95;p16"/>
          <p:cNvSpPr/>
          <p:nvPr/>
        </p:nvSpPr>
        <p:spPr>
          <a:xfrm>
            <a:off x="4606046" y="2949524"/>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96" name="Google Shape;96;p16"/>
          <p:cNvSpPr txBox="1"/>
          <p:nvPr/>
        </p:nvSpPr>
        <p:spPr>
          <a:xfrm>
            <a:off x="4875381" y="3091785"/>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04</a:t>
            </a:r>
            <a:endParaRPr b="0" i="0" sz="1600" u="none" cap="none" strike="noStrike">
              <a:solidFill>
                <a:srgbClr val="000000"/>
              </a:solidFill>
              <a:latin typeface="Calibri"/>
              <a:ea typeface="Calibri"/>
              <a:cs typeface="Calibri"/>
              <a:sym typeface="Calibri"/>
            </a:endParaRPr>
          </a:p>
        </p:txBody>
      </p:sp>
      <p:sp>
        <p:nvSpPr>
          <p:cNvPr id="97" name="Google Shape;97;p16"/>
          <p:cNvSpPr txBox="1"/>
          <p:nvPr/>
        </p:nvSpPr>
        <p:spPr>
          <a:xfrm>
            <a:off x="5494846" y="3091789"/>
            <a:ext cx="29076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¿Por qué NEO?</a:t>
            </a:r>
            <a:endParaRPr b="0" i="0" sz="16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02" name="Shape 102"/>
        <p:cNvGrpSpPr/>
        <p:nvPr/>
      </p:nvGrpSpPr>
      <p:grpSpPr>
        <a:xfrm>
          <a:off x="0" y="0"/>
          <a:ext cx="0" cy="0"/>
          <a:chOff x="0" y="0"/>
          <a:chExt cx="0" cy="0"/>
        </a:xfrm>
      </p:grpSpPr>
      <p:pic>
        <p:nvPicPr>
          <p:cNvPr descr="bg-dark-glow.png" id="103" name="Google Shape;103;p1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04" name="Google Shape;104;p17"/>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105" name="Google Shape;105;p17"/>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06" name="Google Shape;106;p17"/>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La Necesidad</a:t>
            </a:r>
            <a:endParaRPr b="0" i="0" sz="1400" u="none" cap="none" strike="noStrike">
              <a:solidFill>
                <a:srgbClr val="000000"/>
              </a:solidFill>
              <a:latin typeface="Arial"/>
              <a:ea typeface="Arial"/>
              <a:cs typeface="Arial"/>
              <a:sym typeface="Arial"/>
            </a:endParaRPr>
          </a:p>
        </p:txBody>
      </p:sp>
      <p:sp>
        <p:nvSpPr>
          <p:cNvPr id="107" name="Google Shape;107;p17"/>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8"/>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13" name="Google Shape;113;p18"/>
          <p:cNvSpPr txBox="1"/>
          <p:nvPr/>
        </p:nvSpPr>
        <p:spPr>
          <a:xfrm>
            <a:off x="571500" y="1905000"/>
            <a:ext cx="8001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3400" u="none" cap="none" strike="noStrike">
                <a:solidFill>
                  <a:srgbClr val="000033"/>
                </a:solidFill>
                <a:latin typeface="Montserrat ExtraBold"/>
                <a:ea typeface="Montserrat ExtraBold"/>
                <a:cs typeface="Montserrat ExtraBold"/>
                <a:sym typeface="Montserrat ExtraBold"/>
              </a:rPr>
              <a:t>El </a:t>
            </a:r>
            <a:r>
              <a:rPr b="1" i="1" lang="en-US" sz="3400" u="none" cap="none" strike="noStrike">
                <a:solidFill>
                  <a:srgbClr val="2D5BFF"/>
                </a:solidFill>
                <a:latin typeface="Montserrat Black"/>
                <a:ea typeface="Montserrat Black"/>
                <a:cs typeface="Montserrat Black"/>
                <a:sym typeface="Montserrat Black"/>
              </a:rPr>
              <a:t>Reto</a:t>
            </a:r>
            <a:endParaRPr b="0" i="0" sz="3600" u="none" cap="none" strike="noStrike">
              <a:solidFill>
                <a:srgbClr val="2D5BFF"/>
              </a:solidFill>
              <a:latin typeface="Calibri"/>
              <a:ea typeface="Calibri"/>
              <a:cs typeface="Calibri"/>
              <a:sym typeface="Calibri"/>
            </a:endParaRPr>
          </a:p>
        </p:txBody>
      </p:sp>
      <p:sp>
        <p:nvSpPr>
          <p:cNvPr id="114" name="Google Shape;114;p18"/>
          <p:cNvSpPr/>
          <p:nvPr/>
        </p:nvSpPr>
        <p:spPr>
          <a:xfrm>
            <a:off x="571500" y="2603500"/>
            <a:ext cx="822960" cy="762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33"/>
              </a:solidFill>
              <a:latin typeface="Arial"/>
              <a:ea typeface="Arial"/>
              <a:cs typeface="Arial"/>
              <a:sym typeface="Arial"/>
            </a:endParaRPr>
          </a:p>
        </p:txBody>
      </p:sp>
      <p:sp>
        <p:nvSpPr>
          <p:cNvPr id="115" name="Google Shape;115;p18"/>
          <p:cNvSpPr txBox="1"/>
          <p:nvPr/>
        </p:nvSpPr>
        <p:spPr>
          <a:xfrm>
            <a:off x="571500" y="2768600"/>
            <a:ext cx="8001000" cy="2794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C5D5F7"/>
              </a:buClr>
              <a:buSzPts val="1250"/>
              <a:buFont typeface="Montserrat Medium"/>
              <a:buNone/>
            </a:pPr>
            <a:r>
              <a:rPr b="0" i="0" lang="en-US" sz="1300" u="none" cap="none" strike="noStrike">
                <a:solidFill>
                  <a:srgbClr val="000033"/>
                </a:solidFill>
                <a:latin typeface="Montserrat Medium"/>
                <a:ea typeface="Montserrat Medium"/>
                <a:cs typeface="Montserrat Medium"/>
                <a:sym typeface="Montserrat Medium"/>
              </a:rPr>
              <a:t>*Resumen del reto del cliente. Resumen del objetivo del cliente*</a:t>
            </a:r>
            <a:endParaRPr b="0" i="0" sz="1250" u="none" cap="none" strike="noStrike">
              <a:solidFill>
                <a:srgbClr val="000033"/>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20" name="Shape 120"/>
        <p:cNvGrpSpPr/>
        <p:nvPr/>
      </p:nvGrpSpPr>
      <p:grpSpPr>
        <a:xfrm>
          <a:off x="0" y="0"/>
          <a:ext cx="0" cy="0"/>
          <a:chOff x="0" y="0"/>
          <a:chExt cx="0" cy="0"/>
        </a:xfrm>
      </p:grpSpPr>
      <p:pic>
        <p:nvPicPr>
          <p:cNvPr descr="bg-dark-glow.png" id="121" name="Google Shape;121;p1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22" name="Google Shape;122;p19"/>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123" name="Google Shape;123;p19"/>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24" name="Google Shape;124;p19"/>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Nuestra </a:t>
            </a:r>
            <a:r>
              <a:rPr b="0" i="1" lang="en-US" sz="4500" u="none" cap="none" strike="noStrike">
                <a:solidFill>
                  <a:srgbClr val="7E99FE"/>
                </a:solidFill>
                <a:latin typeface="Montserrat Black"/>
                <a:ea typeface="Montserrat Black"/>
                <a:cs typeface="Montserrat Black"/>
                <a:sym typeface="Montserrat Black"/>
              </a:rPr>
              <a:t>Propuesta</a:t>
            </a:r>
            <a:endParaRPr b="0" i="0" sz="1400" u="none" cap="none" strike="noStrike">
              <a:solidFill>
                <a:srgbClr val="000000"/>
              </a:solidFill>
              <a:latin typeface="Arial"/>
              <a:ea typeface="Arial"/>
              <a:cs typeface="Arial"/>
              <a:sym typeface="Arial"/>
            </a:endParaRPr>
          </a:p>
        </p:txBody>
      </p:sp>
      <p:sp>
        <p:nvSpPr>
          <p:cNvPr id="125" name="Google Shape;125;p19"/>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0"/>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31" name="Google Shape;131;p20"/>
          <p:cNvSpPr txBox="1"/>
          <p:nvPr/>
        </p:nvSpPr>
        <p:spPr>
          <a:xfrm>
            <a:off x="571500" y="1610200"/>
            <a:ext cx="54864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NEO TALENT SOLUTIONS</a:t>
            </a:r>
            <a:endParaRPr b="0" i="0" sz="1100" u="none" cap="none" strike="noStrike">
              <a:solidFill>
                <a:srgbClr val="2D5BFF"/>
              </a:solidFill>
              <a:latin typeface="Calibri"/>
              <a:ea typeface="Calibri"/>
              <a:cs typeface="Calibri"/>
              <a:sym typeface="Calibri"/>
            </a:endParaRPr>
          </a:p>
        </p:txBody>
      </p:sp>
      <p:sp>
        <p:nvSpPr>
          <p:cNvPr id="132" name="Google Shape;132;p20"/>
          <p:cNvSpPr txBox="1"/>
          <p:nvPr/>
        </p:nvSpPr>
        <p:spPr>
          <a:xfrm>
            <a:off x="571500" y="1975960"/>
            <a:ext cx="7223700" cy="141720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FFFFFF"/>
              </a:buClr>
              <a:buSzPts val="3400"/>
              <a:buFont typeface="Montserrat ExtraBold"/>
              <a:buNone/>
            </a:pPr>
            <a:r>
              <a:rPr b="1" i="0" lang="en-US" sz="3400" u="none" cap="none" strike="noStrike">
                <a:solidFill>
                  <a:srgbClr val="000033"/>
                </a:solidFill>
                <a:latin typeface="Montserrat ExtraBold"/>
                <a:ea typeface="Montserrat ExtraBold"/>
                <a:cs typeface="Montserrat ExtraBold"/>
                <a:sym typeface="Montserrat ExtraBold"/>
              </a:rPr>
              <a:t>Encontramos al </a:t>
            </a:r>
            <a:r>
              <a:rPr b="0" i="1" lang="en-US" sz="3400" u="none" cap="none" strike="noStrike">
                <a:solidFill>
                  <a:srgbClr val="2D5BFF"/>
                </a:solidFill>
                <a:latin typeface="Montserrat Black"/>
                <a:ea typeface="Montserrat Black"/>
                <a:cs typeface="Montserrat Black"/>
                <a:sym typeface="Montserrat Black"/>
              </a:rPr>
              <a:t>mejor talento digital</a:t>
            </a:r>
            <a:r>
              <a:rPr b="1" i="0" lang="en-US" sz="3400" u="none" cap="none" strike="noStrike">
                <a:solidFill>
                  <a:srgbClr val="FFFFFF"/>
                </a:solidFill>
                <a:latin typeface="Montserrat ExtraBold"/>
                <a:ea typeface="Montserrat ExtraBold"/>
                <a:cs typeface="Montserrat ExtraBold"/>
                <a:sym typeface="Montserrat ExtraBold"/>
              </a:rPr>
              <a:t> </a:t>
            </a:r>
            <a:r>
              <a:rPr b="1" i="0" lang="en-US" sz="3400" u="none" cap="none" strike="noStrike">
                <a:solidFill>
                  <a:srgbClr val="000033"/>
                </a:solidFill>
                <a:latin typeface="Montserrat ExtraBold"/>
                <a:ea typeface="Montserrat ExtraBold"/>
                <a:cs typeface="Montserrat ExtraBold"/>
                <a:sym typeface="Montserrat ExtraBold"/>
              </a:rPr>
              <a:t>que estabas buscando</a:t>
            </a:r>
            <a:endParaRPr b="0" i="0" sz="3400" u="none" cap="none" strike="noStrike">
              <a:solidFill>
                <a:srgbClr val="000033"/>
              </a:solidFill>
              <a:latin typeface="Calibri"/>
              <a:ea typeface="Calibri"/>
              <a:cs typeface="Calibri"/>
              <a:sym typeface="Calibri"/>
            </a:endParaRPr>
          </a:p>
        </p:txBody>
      </p:sp>
      <p:sp>
        <p:nvSpPr>
          <p:cNvPr id="133" name="Google Shape;133;p20"/>
          <p:cNvSpPr/>
          <p:nvPr/>
        </p:nvSpPr>
        <p:spPr>
          <a:xfrm>
            <a:off x="571500" y="3603592"/>
            <a:ext cx="8229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1"/>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39" name="Google Shape;139;p21"/>
          <p:cNvSpPr txBox="1"/>
          <p:nvPr/>
        </p:nvSpPr>
        <p:spPr>
          <a:xfrm>
            <a:off x="571500" y="850900"/>
            <a:ext cx="8001000" cy="193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¿POR QUÉ NEO?</a:t>
            </a:r>
            <a:endParaRPr b="0" i="0" sz="1100" u="none" cap="none" strike="noStrike">
              <a:solidFill>
                <a:schemeClr val="dk1"/>
              </a:solidFill>
              <a:latin typeface="Calibri"/>
              <a:ea typeface="Calibri"/>
              <a:cs typeface="Calibri"/>
              <a:sym typeface="Calibri"/>
            </a:endParaRPr>
          </a:p>
        </p:txBody>
      </p:sp>
      <p:sp>
        <p:nvSpPr>
          <p:cNvPr id="140" name="Google Shape;140;p21"/>
          <p:cNvSpPr txBox="1"/>
          <p:nvPr/>
        </p:nvSpPr>
        <p:spPr>
          <a:xfrm>
            <a:off x="571500" y="1088390"/>
            <a:ext cx="8001000" cy="32893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a:t>
            </a:r>
            <a:r>
              <a:rPr b="1" i="1" lang="en-US" sz="2100" u="none" cap="none" strike="noStrike">
                <a:solidFill>
                  <a:srgbClr val="2D5BFF"/>
                </a:solidFill>
                <a:latin typeface="Montserrat ExtraBold"/>
                <a:ea typeface="Montserrat ExtraBold"/>
                <a:cs typeface="Montserrat ExtraBold"/>
                <a:sym typeface="Montserrat ExtraBold"/>
              </a:rPr>
              <a:t> pilares</a:t>
            </a:r>
            <a:endParaRPr b="0" i="0" sz="2100" u="none" cap="none" strike="noStrike">
              <a:solidFill>
                <a:schemeClr val="dk1"/>
              </a:solidFill>
              <a:latin typeface="Calibri"/>
              <a:ea typeface="Calibri"/>
              <a:cs typeface="Calibri"/>
              <a:sym typeface="Calibri"/>
            </a:endParaRPr>
          </a:p>
        </p:txBody>
      </p:sp>
      <p:sp>
        <p:nvSpPr>
          <p:cNvPr id="141" name="Google Shape;141;p21"/>
          <p:cNvSpPr txBox="1"/>
          <p:nvPr/>
        </p:nvSpPr>
        <p:spPr>
          <a:xfrm>
            <a:off x="571500" y="1493520"/>
            <a:ext cx="8001000" cy="203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100" u="none" cap="none" strike="noStrike">
                <a:solidFill>
                  <a:srgbClr val="000033"/>
                </a:solidFill>
                <a:latin typeface="Montserrat"/>
                <a:ea typeface="Montserrat"/>
                <a:cs typeface="Montserrat"/>
                <a:sym typeface="Montserrat"/>
              </a:rPr>
              <a:t>Tres principios que sostienen cada incorporación de talento Neo.</a:t>
            </a:r>
            <a:endParaRPr b="0" i="0" sz="1050" u="none" cap="none" strike="noStrike">
              <a:solidFill>
                <a:schemeClr val="dk1"/>
              </a:solidFill>
              <a:latin typeface="Calibri"/>
              <a:ea typeface="Calibri"/>
              <a:cs typeface="Calibri"/>
              <a:sym typeface="Calibri"/>
            </a:endParaRPr>
          </a:p>
        </p:txBody>
      </p:sp>
      <p:sp>
        <p:nvSpPr>
          <p:cNvPr id="142" name="Google Shape;142;p21"/>
          <p:cNvSpPr/>
          <p:nvPr/>
        </p:nvSpPr>
        <p:spPr>
          <a:xfrm>
            <a:off x="571500"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1"/>
          <p:cNvSpPr/>
          <p:nvPr/>
        </p:nvSpPr>
        <p:spPr>
          <a:xfrm>
            <a:off x="754380"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p21"/>
          <p:cNvSpPr txBox="1"/>
          <p:nvPr/>
        </p:nvSpPr>
        <p:spPr>
          <a:xfrm>
            <a:off x="754380"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01</a:t>
            </a:r>
            <a:endParaRPr b="0" i="0" sz="850" u="none" cap="none" strike="noStrike">
              <a:solidFill>
                <a:schemeClr val="dk1"/>
              </a:solidFill>
              <a:latin typeface="Calibri"/>
              <a:ea typeface="Calibri"/>
              <a:cs typeface="Calibri"/>
              <a:sym typeface="Calibri"/>
            </a:endParaRPr>
          </a:p>
        </p:txBody>
      </p:sp>
      <p:pic>
        <p:nvPicPr>
          <p:cNvPr descr="icon_pilar1.png" id="145" name="Google Shape;145;p21"/>
          <p:cNvPicPr preferRelativeResize="0"/>
          <p:nvPr/>
        </p:nvPicPr>
        <p:blipFill rotWithShape="1">
          <a:blip r:embed="rId3">
            <a:alphaModFix/>
          </a:blip>
          <a:srcRect b="0" l="0" r="0" t="0"/>
          <a:stretch/>
        </p:blipFill>
        <p:spPr>
          <a:xfrm>
            <a:off x="1555852" y="2463800"/>
            <a:ext cx="621792" cy="621792"/>
          </a:xfrm>
          <a:prstGeom prst="rect">
            <a:avLst/>
          </a:prstGeom>
          <a:noFill/>
          <a:ln>
            <a:noFill/>
          </a:ln>
        </p:spPr>
      </p:pic>
      <p:sp>
        <p:nvSpPr>
          <p:cNvPr id="146" name="Google Shape;146;p21"/>
          <p:cNvSpPr txBox="1"/>
          <p:nvPr/>
        </p:nvSpPr>
        <p:spPr>
          <a:xfrm>
            <a:off x="754380"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Calidad de talento</a:t>
            </a:r>
            <a:endParaRPr b="0" i="0" sz="1400" u="none" cap="none" strike="noStrike">
              <a:solidFill>
                <a:schemeClr val="dk1"/>
              </a:solidFill>
              <a:latin typeface="Calibri"/>
              <a:ea typeface="Calibri"/>
              <a:cs typeface="Calibri"/>
              <a:sym typeface="Calibri"/>
            </a:endParaRPr>
          </a:p>
        </p:txBody>
      </p:sp>
      <p:sp>
        <p:nvSpPr>
          <p:cNvPr id="147" name="Google Shape;147;p21"/>
          <p:cNvSpPr/>
          <p:nvPr/>
        </p:nvSpPr>
        <p:spPr>
          <a:xfrm>
            <a:off x="754380"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21"/>
          <p:cNvSpPr txBox="1"/>
          <p:nvPr/>
        </p:nvSpPr>
        <p:spPr>
          <a:xfrm>
            <a:off x="754380"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25 años de experiencia en digital</a:t>
            </a:r>
            <a:endParaRPr b="0" i="0" sz="850" u="none" cap="none" strike="noStrike">
              <a:solidFill>
                <a:schemeClr val="dk1"/>
              </a:solidFill>
              <a:latin typeface="Calibri"/>
              <a:ea typeface="Calibri"/>
              <a:cs typeface="Calibri"/>
              <a:sym typeface="Calibri"/>
            </a:endParaRPr>
          </a:p>
        </p:txBody>
      </p:sp>
      <p:sp>
        <p:nvSpPr>
          <p:cNvPr id="149" name="Google Shape;149;p21"/>
          <p:cNvSpPr/>
          <p:nvPr/>
        </p:nvSpPr>
        <p:spPr>
          <a:xfrm>
            <a:off x="3276752"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21"/>
          <p:cNvSpPr/>
          <p:nvPr/>
        </p:nvSpPr>
        <p:spPr>
          <a:xfrm>
            <a:off x="3459632"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1"/>
          <p:cNvSpPr txBox="1"/>
          <p:nvPr/>
        </p:nvSpPr>
        <p:spPr>
          <a:xfrm>
            <a:off x="3459632"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02</a:t>
            </a:r>
            <a:endParaRPr b="0" i="0" sz="850" u="none" cap="none" strike="noStrike">
              <a:solidFill>
                <a:schemeClr val="dk1"/>
              </a:solidFill>
              <a:latin typeface="Calibri"/>
              <a:ea typeface="Calibri"/>
              <a:cs typeface="Calibri"/>
              <a:sym typeface="Calibri"/>
            </a:endParaRPr>
          </a:p>
        </p:txBody>
      </p:sp>
      <p:pic>
        <p:nvPicPr>
          <p:cNvPr descr="icon_pilar2.png" id="152" name="Google Shape;152;p21"/>
          <p:cNvPicPr preferRelativeResize="0"/>
          <p:nvPr/>
        </p:nvPicPr>
        <p:blipFill rotWithShape="1">
          <a:blip r:embed="rId4">
            <a:alphaModFix/>
          </a:blip>
          <a:srcRect b="0" l="0" r="0" t="0"/>
          <a:stretch/>
        </p:blipFill>
        <p:spPr>
          <a:xfrm>
            <a:off x="4261104" y="2463800"/>
            <a:ext cx="621792" cy="621792"/>
          </a:xfrm>
          <a:prstGeom prst="rect">
            <a:avLst/>
          </a:prstGeom>
          <a:noFill/>
          <a:ln>
            <a:noFill/>
          </a:ln>
        </p:spPr>
      </p:pic>
      <p:sp>
        <p:nvSpPr>
          <p:cNvPr id="153" name="Google Shape;153;p21"/>
          <p:cNvSpPr txBox="1"/>
          <p:nvPr/>
        </p:nvSpPr>
        <p:spPr>
          <a:xfrm>
            <a:off x="3459632"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Rapidez</a:t>
            </a:r>
            <a:endParaRPr b="0" i="0" sz="1400" u="none" cap="none" strike="noStrike">
              <a:solidFill>
                <a:schemeClr val="dk1"/>
              </a:solidFill>
              <a:latin typeface="Calibri"/>
              <a:ea typeface="Calibri"/>
              <a:cs typeface="Calibri"/>
              <a:sym typeface="Calibri"/>
            </a:endParaRPr>
          </a:p>
        </p:txBody>
      </p:sp>
      <p:sp>
        <p:nvSpPr>
          <p:cNvPr id="154" name="Google Shape;154;p21"/>
          <p:cNvSpPr/>
          <p:nvPr/>
        </p:nvSpPr>
        <p:spPr>
          <a:xfrm>
            <a:off x="3459632"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21"/>
          <p:cNvSpPr txBox="1"/>
          <p:nvPr/>
        </p:nvSpPr>
        <p:spPr>
          <a:xfrm>
            <a:off x="3459632"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Metodología integrada de selección + machine learning para predecir el performance</a:t>
            </a:r>
            <a:endParaRPr b="0" i="0" sz="850" u="none" cap="none" strike="noStrike">
              <a:solidFill>
                <a:schemeClr val="dk1"/>
              </a:solidFill>
              <a:latin typeface="Calibri"/>
              <a:ea typeface="Calibri"/>
              <a:cs typeface="Calibri"/>
              <a:sym typeface="Calibri"/>
            </a:endParaRPr>
          </a:p>
        </p:txBody>
      </p:sp>
      <p:sp>
        <p:nvSpPr>
          <p:cNvPr id="156" name="Google Shape;156;p21"/>
          <p:cNvSpPr/>
          <p:nvPr/>
        </p:nvSpPr>
        <p:spPr>
          <a:xfrm>
            <a:off x="5982005" y="1883410"/>
            <a:ext cx="2590500" cy="2527300"/>
          </a:xfrm>
          <a:prstGeom prst="roundRect">
            <a:avLst>
              <a:gd fmla="val 3015"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21"/>
          <p:cNvSpPr/>
          <p:nvPr/>
        </p:nvSpPr>
        <p:spPr>
          <a:xfrm>
            <a:off x="6164885" y="2084832"/>
            <a:ext cx="914400" cy="255900"/>
          </a:xfrm>
          <a:prstGeom prst="roundRect">
            <a:avLst>
              <a:gd fmla="val 50000" name="adj"/>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21"/>
          <p:cNvSpPr txBox="1"/>
          <p:nvPr/>
        </p:nvSpPr>
        <p:spPr>
          <a:xfrm>
            <a:off x="6164885" y="2101850"/>
            <a:ext cx="914400" cy="203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PILAR 03</a:t>
            </a:r>
            <a:endParaRPr b="0" i="0" sz="850" u="none" cap="none" strike="noStrike">
              <a:solidFill>
                <a:schemeClr val="dk1"/>
              </a:solidFill>
              <a:latin typeface="Calibri"/>
              <a:ea typeface="Calibri"/>
              <a:cs typeface="Calibri"/>
              <a:sym typeface="Calibri"/>
            </a:endParaRPr>
          </a:p>
        </p:txBody>
      </p:sp>
      <p:pic>
        <p:nvPicPr>
          <p:cNvPr descr="icon_pilar3.png" id="159" name="Google Shape;159;p21"/>
          <p:cNvPicPr preferRelativeResize="0"/>
          <p:nvPr/>
        </p:nvPicPr>
        <p:blipFill rotWithShape="1">
          <a:blip r:embed="rId5">
            <a:alphaModFix/>
          </a:blip>
          <a:srcRect b="0" l="0" r="0" t="0"/>
          <a:stretch/>
        </p:blipFill>
        <p:spPr>
          <a:xfrm>
            <a:off x="6966356" y="2463800"/>
            <a:ext cx="621792" cy="621792"/>
          </a:xfrm>
          <a:prstGeom prst="rect">
            <a:avLst/>
          </a:prstGeom>
          <a:noFill/>
          <a:ln>
            <a:noFill/>
          </a:ln>
        </p:spPr>
      </p:pic>
      <p:sp>
        <p:nvSpPr>
          <p:cNvPr id="160" name="Google Shape;160;p21"/>
          <p:cNvSpPr txBox="1"/>
          <p:nvPr/>
        </p:nvSpPr>
        <p:spPr>
          <a:xfrm>
            <a:off x="6164885" y="3200400"/>
            <a:ext cx="2224800" cy="254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Personalización</a:t>
            </a:r>
            <a:endParaRPr b="0" i="0" sz="1400" u="none" cap="none" strike="noStrike">
              <a:solidFill>
                <a:schemeClr val="dk1"/>
              </a:solidFill>
              <a:latin typeface="Calibri"/>
              <a:ea typeface="Calibri"/>
              <a:cs typeface="Calibri"/>
              <a:sym typeface="Calibri"/>
            </a:endParaRPr>
          </a:p>
        </p:txBody>
      </p:sp>
      <p:sp>
        <p:nvSpPr>
          <p:cNvPr id="161" name="Google Shape;161;p21"/>
          <p:cNvSpPr/>
          <p:nvPr/>
        </p:nvSpPr>
        <p:spPr>
          <a:xfrm>
            <a:off x="6164885" y="354330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1"/>
          <p:cNvSpPr txBox="1"/>
          <p:nvPr/>
        </p:nvSpPr>
        <p:spPr>
          <a:xfrm>
            <a:off x="6164885" y="3657600"/>
            <a:ext cx="2224800" cy="6350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1100" u="none" cap="none" strike="noStrike">
                <a:solidFill>
                  <a:srgbClr val="000033"/>
                </a:solidFill>
                <a:latin typeface="Montserrat"/>
                <a:ea typeface="Montserrat"/>
                <a:cs typeface="Montserrat"/>
                <a:sym typeface="Montserrat"/>
              </a:rPr>
              <a:t>Servicio ad hoc y acompañamiento continuo,</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2"/>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68" name="Google Shape;168;p22"/>
          <p:cNvSpPr txBox="1"/>
          <p:nvPr/>
        </p:nvSpPr>
        <p:spPr>
          <a:xfrm>
            <a:off x="571500" y="850900"/>
            <a:ext cx="8001000" cy="193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NUESTRA PROPUESTA</a:t>
            </a:r>
            <a:endParaRPr b="0" i="0" sz="1100" u="none" cap="none" strike="noStrike">
              <a:solidFill>
                <a:schemeClr val="dk1"/>
              </a:solidFill>
              <a:latin typeface="Calibri"/>
              <a:ea typeface="Calibri"/>
              <a:cs typeface="Calibri"/>
              <a:sym typeface="Calibri"/>
            </a:endParaRPr>
          </a:p>
        </p:txBody>
      </p:sp>
      <p:sp>
        <p:nvSpPr>
          <p:cNvPr id="169" name="Google Shape;169;p22"/>
          <p:cNvSpPr txBox="1"/>
          <p:nvPr/>
        </p:nvSpPr>
        <p:spPr>
          <a:xfrm>
            <a:off x="571500" y="1088390"/>
            <a:ext cx="8001000" cy="32893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Lo que</a:t>
            </a:r>
            <a:r>
              <a:rPr b="1" i="1" lang="en-US" sz="2100" u="none" cap="none" strike="noStrike">
                <a:solidFill>
                  <a:srgbClr val="2D5BFF"/>
                </a:solidFill>
                <a:latin typeface="Montserrat ExtraBold"/>
                <a:ea typeface="Montserrat ExtraBold"/>
                <a:cs typeface="Montserrat ExtraBold"/>
                <a:sym typeface="Montserrat ExtraBold"/>
              </a:rPr>
              <a:t> ofrecemos</a:t>
            </a:r>
            <a:endParaRPr b="0" i="0" sz="2100" u="none" cap="none" strike="noStrike">
              <a:solidFill>
                <a:schemeClr val="dk1"/>
              </a:solidFill>
              <a:latin typeface="Calibri"/>
              <a:ea typeface="Calibri"/>
              <a:cs typeface="Calibri"/>
              <a:sym typeface="Calibri"/>
            </a:endParaRPr>
          </a:p>
        </p:txBody>
      </p:sp>
      <p:sp>
        <p:nvSpPr>
          <p:cNvPr id="170" name="Google Shape;170;p22"/>
          <p:cNvSpPr txBox="1"/>
          <p:nvPr/>
        </p:nvSpPr>
        <p:spPr>
          <a:xfrm>
            <a:off x="571500" y="1493520"/>
            <a:ext cx="8001000" cy="203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100" u="none" cap="none" strike="noStrike">
                <a:solidFill>
                  <a:srgbClr val="000033"/>
                </a:solidFill>
                <a:latin typeface="Montserrat"/>
                <a:ea typeface="Montserrat"/>
                <a:cs typeface="Montserrat"/>
                <a:sym typeface="Montserrat"/>
              </a:rPr>
              <a:t>Un servicio integral de principio a fin:  del reclutamiento al desarrollo del talento.</a:t>
            </a:r>
            <a:endParaRPr b="0" i="0" sz="1050" u="none" cap="none" strike="noStrike">
              <a:solidFill>
                <a:schemeClr val="dk1"/>
              </a:solidFill>
              <a:latin typeface="Calibri"/>
              <a:ea typeface="Calibri"/>
              <a:cs typeface="Calibri"/>
              <a:sym typeface="Calibri"/>
            </a:endParaRPr>
          </a:p>
        </p:txBody>
      </p:sp>
      <p:sp>
        <p:nvSpPr>
          <p:cNvPr id="171" name="Google Shape;171;p22"/>
          <p:cNvSpPr/>
          <p:nvPr/>
        </p:nvSpPr>
        <p:spPr>
          <a:xfrm>
            <a:off x="571500"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72" name="Google Shape;172;p22"/>
          <p:cNvSpPr txBox="1"/>
          <p:nvPr/>
        </p:nvSpPr>
        <p:spPr>
          <a:xfrm>
            <a:off x="754380"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#1 · SELECCIÓN DEL TALENTO</a:t>
            </a:r>
            <a:endParaRPr b="0" i="0" sz="750" u="none" cap="none" strike="noStrike">
              <a:solidFill>
                <a:schemeClr val="dk1"/>
              </a:solidFill>
              <a:latin typeface="Calibri"/>
              <a:ea typeface="Calibri"/>
              <a:cs typeface="Calibri"/>
              <a:sym typeface="Calibri"/>
            </a:endParaRPr>
          </a:p>
        </p:txBody>
      </p:sp>
      <p:sp>
        <p:nvSpPr>
          <p:cNvPr id="173" name="Google Shape;173;p22"/>
          <p:cNvSpPr txBox="1"/>
          <p:nvPr/>
        </p:nvSpPr>
        <p:spPr>
          <a:xfrm>
            <a:off x="754380"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Selección del talento</a:t>
            </a:r>
            <a:endParaRPr b="0" i="0" sz="1400" u="none" cap="none" strike="noStrike">
              <a:solidFill>
                <a:schemeClr val="dk1"/>
              </a:solidFill>
              <a:latin typeface="Calibri"/>
              <a:ea typeface="Calibri"/>
              <a:cs typeface="Calibri"/>
              <a:sym typeface="Calibri"/>
            </a:endParaRPr>
          </a:p>
        </p:txBody>
      </p:sp>
      <p:sp>
        <p:nvSpPr>
          <p:cNvPr id="174" name="Google Shape;174;p22"/>
          <p:cNvSpPr/>
          <p:nvPr/>
        </p:nvSpPr>
        <p:spPr>
          <a:xfrm>
            <a:off x="754380"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22"/>
          <p:cNvSpPr txBox="1"/>
          <p:nvPr/>
        </p:nvSpPr>
        <p:spPr>
          <a:xfrm>
            <a:off x="754380"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Encontramos a los especialistas digitales que necesitas, con el perfil exacto para el reto.</a:t>
            </a:r>
            <a:endParaRPr b="0" i="0" sz="900" u="none" cap="none" strike="noStrike">
              <a:solidFill>
                <a:schemeClr val="dk1"/>
              </a:solidFill>
              <a:latin typeface="Calibri"/>
              <a:ea typeface="Calibri"/>
              <a:cs typeface="Calibri"/>
              <a:sym typeface="Calibri"/>
            </a:endParaRPr>
          </a:p>
        </p:txBody>
      </p:sp>
      <p:sp>
        <p:nvSpPr>
          <p:cNvPr id="176" name="Google Shape;176;p22"/>
          <p:cNvSpPr/>
          <p:nvPr/>
        </p:nvSpPr>
        <p:spPr>
          <a:xfrm>
            <a:off x="754380" y="3942070"/>
            <a:ext cx="12192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2"/>
          <p:cNvSpPr txBox="1"/>
          <p:nvPr/>
        </p:nvSpPr>
        <p:spPr>
          <a:xfrm>
            <a:off x="754380" y="3973820"/>
            <a:ext cx="12192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RECRUITING</a:t>
            </a:r>
            <a:endParaRPr b="0" i="0" sz="850" u="none" cap="none" strike="noStrike">
              <a:solidFill>
                <a:schemeClr val="dk1"/>
              </a:solidFill>
              <a:latin typeface="Calibri"/>
              <a:ea typeface="Calibri"/>
              <a:cs typeface="Calibri"/>
              <a:sym typeface="Calibri"/>
            </a:endParaRPr>
          </a:p>
        </p:txBody>
      </p:sp>
      <p:sp>
        <p:nvSpPr>
          <p:cNvPr id="178" name="Google Shape;178;p22"/>
          <p:cNvSpPr/>
          <p:nvPr/>
        </p:nvSpPr>
        <p:spPr>
          <a:xfrm>
            <a:off x="3276752"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79" name="Google Shape;179;p22"/>
          <p:cNvSpPr txBox="1"/>
          <p:nvPr/>
        </p:nvSpPr>
        <p:spPr>
          <a:xfrm>
            <a:off x="3459632"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#2 · GESTIÓN DEL TALENTO</a:t>
            </a:r>
            <a:endParaRPr b="0" i="0" sz="750" u="none" cap="none" strike="noStrike">
              <a:solidFill>
                <a:schemeClr val="dk1"/>
              </a:solidFill>
              <a:latin typeface="Calibri"/>
              <a:ea typeface="Calibri"/>
              <a:cs typeface="Calibri"/>
              <a:sym typeface="Calibri"/>
            </a:endParaRPr>
          </a:p>
        </p:txBody>
      </p:sp>
      <p:sp>
        <p:nvSpPr>
          <p:cNvPr id="180" name="Google Shape;180;p22"/>
          <p:cNvSpPr txBox="1"/>
          <p:nvPr/>
        </p:nvSpPr>
        <p:spPr>
          <a:xfrm>
            <a:off x="3459632"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Gestión del talento</a:t>
            </a:r>
            <a:endParaRPr b="0" i="0" sz="1400" u="none" cap="none" strike="noStrike">
              <a:solidFill>
                <a:schemeClr val="dk1"/>
              </a:solidFill>
              <a:latin typeface="Calibri"/>
              <a:ea typeface="Calibri"/>
              <a:cs typeface="Calibri"/>
              <a:sym typeface="Calibri"/>
            </a:endParaRPr>
          </a:p>
        </p:txBody>
      </p:sp>
      <p:sp>
        <p:nvSpPr>
          <p:cNvPr id="181" name="Google Shape;181;p22"/>
          <p:cNvSpPr/>
          <p:nvPr/>
        </p:nvSpPr>
        <p:spPr>
          <a:xfrm>
            <a:off x="3459632"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22"/>
          <p:cNvSpPr txBox="1"/>
          <p:nvPr/>
        </p:nvSpPr>
        <p:spPr>
          <a:xfrm>
            <a:off x="3459632"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Administramos la planilla, los beneficios y los costos sociales del talento incorporado.</a:t>
            </a:r>
            <a:endParaRPr b="0" i="0" sz="900" u="none" cap="none" strike="noStrike">
              <a:solidFill>
                <a:schemeClr val="dk1"/>
              </a:solidFill>
              <a:latin typeface="Calibri"/>
              <a:ea typeface="Calibri"/>
              <a:cs typeface="Calibri"/>
              <a:sym typeface="Calibri"/>
            </a:endParaRPr>
          </a:p>
        </p:txBody>
      </p:sp>
      <p:sp>
        <p:nvSpPr>
          <p:cNvPr id="183" name="Google Shape;183;p22"/>
          <p:cNvSpPr/>
          <p:nvPr/>
        </p:nvSpPr>
        <p:spPr>
          <a:xfrm>
            <a:off x="3459632" y="3942070"/>
            <a:ext cx="15087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22"/>
          <p:cNvSpPr txBox="1"/>
          <p:nvPr/>
        </p:nvSpPr>
        <p:spPr>
          <a:xfrm>
            <a:off x="3459632" y="3973820"/>
            <a:ext cx="15087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PAYROLL &amp; OPS</a:t>
            </a:r>
            <a:endParaRPr b="0" i="0" sz="850" u="none" cap="none" strike="noStrike">
              <a:solidFill>
                <a:schemeClr val="dk1"/>
              </a:solidFill>
              <a:latin typeface="Calibri"/>
              <a:ea typeface="Calibri"/>
              <a:cs typeface="Calibri"/>
              <a:sym typeface="Calibri"/>
            </a:endParaRPr>
          </a:p>
        </p:txBody>
      </p:sp>
      <p:sp>
        <p:nvSpPr>
          <p:cNvPr id="185" name="Google Shape;185;p22"/>
          <p:cNvSpPr/>
          <p:nvPr/>
        </p:nvSpPr>
        <p:spPr>
          <a:xfrm>
            <a:off x="5982005" y="1863334"/>
            <a:ext cx="2590500" cy="2487300"/>
          </a:xfrm>
          <a:prstGeom prst="roundRect">
            <a:avLst>
              <a:gd fmla="val 3064"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186" name="Google Shape;186;p22"/>
          <p:cNvSpPr txBox="1"/>
          <p:nvPr/>
        </p:nvSpPr>
        <p:spPr>
          <a:xfrm>
            <a:off x="6164885" y="2011670"/>
            <a:ext cx="22248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7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#3 · TRAINING</a:t>
            </a:r>
            <a:endParaRPr b="0" i="0" sz="750" u="none" cap="none" strike="noStrike">
              <a:solidFill>
                <a:schemeClr val="dk1"/>
              </a:solidFill>
              <a:latin typeface="Calibri"/>
              <a:ea typeface="Calibri"/>
              <a:cs typeface="Calibri"/>
              <a:sym typeface="Calibri"/>
            </a:endParaRPr>
          </a:p>
        </p:txBody>
      </p:sp>
      <p:sp>
        <p:nvSpPr>
          <p:cNvPr id="187" name="Google Shape;187;p22"/>
          <p:cNvSpPr txBox="1"/>
          <p:nvPr/>
        </p:nvSpPr>
        <p:spPr>
          <a:xfrm>
            <a:off x="6164885" y="2418070"/>
            <a:ext cx="22248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Training</a:t>
            </a:r>
            <a:endParaRPr b="0" i="0" sz="1400" u="none" cap="none" strike="noStrike">
              <a:solidFill>
                <a:schemeClr val="dk1"/>
              </a:solidFill>
              <a:latin typeface="Calibri"/>
              <a:ea typeface="Calibri"/>
              <a:cs typeface="Calibri"/>
              <a:sym typeface="Calibri"/>
            </a:endParaRPr>
          </a:p>
        </p:txBody>
      </p:sp>
      <p:sp>
        <p:nvSpPr>
          <p:cNvPr id="188" name="Google Shape;188;p22"/>
          <p:cNvSpPr/>
          <p:nvPr/>
        </p:nvSpPr>
        <p:spPr>
          <a:xfrm>
            <a:off x="6164885" y="2951470"/>
            <a:ext cx="502800" cy="7200"/>
          </a:xfrm>
          <a:prstGeom prst="rect">
            <a:avLst/>
          </a:prstGeom>
          <a:solidFill>
            <a:srgbClr val="2D5BFF"/>
          </a:solidFill>
          <a:ln cap="flat" cmpd="sng" w="12700">
            <a:solidFill>
              <a:srgbClr val="2D5B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22"/>
          <p:cNvSpPr txBox="1"/>
          <p:nvPr/>
        </p:nvSpPr>
        <p:spPr>
          <a:xfrm>
            <a:off x="6164885" y="3053070"/>
            <a:ext cx="2224800" cy="7365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1100" u="none" cap="none" strike="noStrike">
                <a:solidFill>
                  <a:srgbClr val="000033"/>
                </a:solidFill>
                <a:latin typeface="Montserrat"/>
                <a:ea typeface="Montserrat"/>
                <a:cs typeface="Montserrat"/>
                <a:sym typeface="Montserrat"/>
              </a:rPr>
              <a:t>Participación en las capacitaciones NEO para sostener el rendimiento esperado en el tiempo.</a:t>
            </a:r>
            <a:endParaRPr b="0" i="0" sz="900" u="none" cap="none" strike="noStrike">
              <a:solidFill>
                <a:schemeClr val="dk1"/>
              </a:solidFill>
              <a:latin typeface="Calibri"/>
              <a:ea typeface="Calibri"/>
              <a:cs typeface="Calibri"/>
              <a:sym typeface="Calibri"/>
            </a:endParaRPr>
          </a:p>
        </p:txBody>
      </p:sp>
      <p:sp>
        <p:nvSpPr>
          <p:cNvPr id="190" name="Google Shape;190;p22"/>
          <p:cNvSpPr/>
          <p:nvPr/>
        </p:nvSpPr>
        <p:spPr>
          <a:xfrm>
            <a:off x="6164885" y="3942070"/>
            <a:ext cx="1219200" cy="255900"/>
          </a:xfrm>
          <a:prstGeom prst="roundRect">
            <a:avLst>
              <a:gd fmla="val 50000" name="adj"/>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22"/>
          <p:cNvSpPr txBox="1"/>
          <p:nvPr/>
        </p:nvSpPr>
        <p:spPr>
          <a:xfrm>
            <a:off x="6164885" y="3973820"/>
            <a:ext cx="12192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DESARROLLO</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3"/>
          <p:cNvSpPr txBox="1"/>
          <p:nvPr/>
        </p:nvSpPr>
        <p:spPr>
          <a:xfrm>
            <a:off x="571500" y="850900"/>
            <a:ext cx="8001000" cy="193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EL EQUIPO ASIGNADO</a:t>
            </a:r>
            <a:endParaRPr b="0" i="0" sz="1100" u="none" cap="none" strike="noStrike">
              <a:solidFill>
                <a:schemeClr val="dk1"/>
              </a:solidFill>
              <a:latin typeface="Calibri"/>
              <a:ea typeface="Calibri"/>
              <a:cs typeface="Calibri"/>
              <a:sym typeface="Calibri"/>
            </a:endParaRPr>
          </a:p>
        </p:txBody>
      </p:sp>
      <p:sp>
        <p:nvSpPr>
          <p:cNvPr id="197" name="Google Shape;197;p23"/>
          <p:cNvSpPr txBox="1"/>
          <p:nvPr/>
        </p:nvSpPr>
        <p:spPr>
          <a:xfrm>
            <a:off x="571500" y="1088390"/>
            <a:ext cx="8001000" cy="32893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Perfil NEO:</a:t>
            </a:r>
            <a:r>
              <a:rPr b="1" i="1" lang="en-US" sz="2100" u="none" cap="none" strike="noStrike">
                <a:solidFill>
                  <a:srgbClr val="2D5BFF"/>
                </a:solidFill>
                <a:latin typeface="Montserrat ExtraBold"/>
                <a:ea typeface="Montserrat ExtraBold"/>
                <a:cs typeface="Montserrat ExtraBold"/>
                <a:sym typeface="Montserrat ExtraBold"/>
              </a:rPr>
              <a:t> *nombre del perfil*</a:t>
            </a:r>
            <a:endParaRPr b="0" i="0" sz="2100" u="none" cap="none" strike="noStrike">
              <a:solidFill>
                <a:schemeClr val="dk1"/>
              </a:solidFill>
              <a:latin typeface="Calibri"/>
              <a:ea typeface="Calibri"/>
              <a:cs typeface="Calibri"/>
              <a:sym typeface="Calibri"/>
            </a:endParaRPr>
          </a:p>
        </p:txBody>
      </p:sp>
      <p:sp>
        <p:nvSpPr>
          <p:cNvPr id="198" name="Google Shape;198;p23"/>
          <p:cNvSpPr/>
          <p:nvPr/>
        </p:nvSpPr>
        <p:spPr>
          <a:xfrm>
            <a:off x="571500" y="1485900"/>
            <a:ext cx="3683100" cy="254100"/>
          </a:xfrm>
          <a:prstGeom prst="roundRect">
            <a:avLst>
              <a:gd fmla="val 50000" name="adj"/>
            </a:avLst>
          </a:prstGeom>
          <a:solidFill>
            <a:srgbClr val="2D5BFF"/>
          </a:solidFill>
          <a:ln cap="flat" cmpd="sng" w="12700">
            <a:solidFill>
              <a:srgbClr val="2D5B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23"/>
          <p:cNvSpPr txBox="1"/>
          <p:nvPr/>
        </p:nvSpPr>
        <p:spPr>
          <a:xfrm>
            <a:off x="571500" y="1517650"/>
            <a:ext cx="3683100" cy="190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1100" u="none" cap="none" strike="noStrike">
                <a:solidFill>
                  <a:srgbClr val="FFFFFF"/>
                </a:solidFill>
                <a:latin typeface="Montserrat SemiBold"/>
                <a:ea typeface="Montserrat SemiBold"/>
                <a:cs typeface="Montserrat SemiBold"/>
                <a:sym typeface="Montserrat SemiBold"/>
              </a:rPr>
              <a:t>*Tipo de Perfil*: Senior, Pleno, Junior</a:t>
            </a:r>
            <a:endParaRPr b="0" i="0" sz="900" u="none" cap="none" strike="noStrike">
              <a:solidFill>
                <a:schemeClr val="dk1"/>
              </a:solidFill>
              <a:latin typeface="Calibri"/>
              <a:ea typeface="Calibri"/>
              <a:cs typeface="Calibri"/>
              <a:sym typeface="Calibri"/>
            </a:endParaRPr>
          </a:p>
        </p:txBody>
      </p:sp>
      <p:sp>
        <p:nvSpPr>
          <p:cNvPr id="200" name="Google Shape;200;p23"/>
          <p:cNvSpPr/>
          <p:nvPr/>
        </p:nvSpPr>
        <p:spPr>
          <a:xfrm>
            <a:off x="571500" y="1854200"/>
            <a:ext cx="8001000" cy="558800"/>
          </a:xfrm>
          <a:prstGeom prst="roundRect">
            <a:avLst>
              <a:gd fmla="val 13636"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1" name="Google Shape;201;p23"/>
          <p:cNvSpPr txBox="1"/>
          <p:nvPr/>
        </p:nvSpPr>
        <p:spPr>
          <a:xfrm>
            <a:off x="702600" y="1930400"/>
            <a:ext cx="7738800" cy="40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1000"/>
              </a:spcBef>
              <a:spcAft>
                <a:spcPts val="0"/>
              </a:spcAft>
              <a:buClr>
                <a:srgbClr val="000033"/>
              </a:buClr>
              <a:buSzPts val="95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Objetivo del puesto: </a:t>
            </a:r>
            <a:r>
              <a:rPr b="0" i="0" lang="en-US" sz="1000" u="none" cap="none" strike="noStrike">
                <a:solidFill>
                  <a:srgbClr val="000033"/>
                </a:solidFill>
                <a:latin typeface="Montserrat"/>
                <a:ea typeface="Montserrat"/>
                <a:cs typeface="Montserrat"/>
                <a:sym typeface="Montserrat"/>
              </a:rPr>
              <a:t>xxxxxxxx (resumen del objetivo de la posición según el caso)</a:t>
            </a:r>
            <a:endParaRPr b="0" i="0" sz="7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00033"/>
              </a:buClr>
              <a:buSzPts val="95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de experiencia: </a:t>
            </a:r>
            <a:r>
              <a:rPr b="0" i="0" lang="en-US" sz="1000" u="none" cap="none" strike="noStrike">
                <a:solidFill>
                  <a:srgbClr val="000033"/>
                </a:solidFill>
                <a:latin typeface="Montserrat"/>
                <a:ea typeface="Montserrat"/>
                <a:cs typeface="Montserrat"/>
                <a:sym typeface="Montserrat"/>
              </a:rPr>
              <a:t>xxxxxxx (incluir el mínimo de años de experiencia)</a:t>
            </a:r>
            <a:endParaRPr b="0" i="0" sz="750" u="none" cap="none" strike="noStrike">
              <a:solidFill>
                <a:schemeClr val="dk1"/>
              </a:solidFill>
              <a:latin typeface="Calibri"/>
              <a:ea typeface="Calibri"/>
              <a:cs typeface="Calibri"/>
              <a:sym typeface="Calibri"/>
            </a:endParaRPr>
          </a:p>
        </p:txBody>
      </p:sp>
      <p:sp>
        <p:nvSpPr>
          <p:cNvPr id="202" name="Google Shape;202;p23"/>
          <p:cNvSpPr/>
          <p:nvPr/>
        </p:nvSpPr>
        <p:spPr>
          <a:xfrm>
            <a:off x="571500" y="2540000"/>
            <a:ext cx="2590500" cy="22092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3" name="Google Shape;203;p23"/>
          <p:cNvSpPr txBox="1"/>
          <p:nvPr/>
        </p:nvSpPr>
        <p:spPr>
          <a:xfrm>
            <a:off x="754380" y="2692400"/>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FUNCIONES</a:t>
            </a:r>
            <a:endParaRPr b="0" i="0" sz="850" u="none" cap="none" strike="noStrike">
              <a:solidFill>
                <a:schemeClr val="dk1"/>
              </a:solidFill>
              <a:latin typeface="Calibri"/>
              <a:ea typeface="Calibri"/>
              <a:cs typeface="Calibri"/>
              <a:sym typeface="Calibri"/>
            </a:endParaRPr>
          </a:p>
        </p:txBody>
      </p:sp>
      <p:sp>
        <p:nvSpPr>
          <p:cNvPr id="204" name="Google Shape;204;p23"/>
          <p:cNvSpPr/>
          <p:nvPr/>
        </p:nvSpPr>
        <p:spPr>
          <a:xfrm>
            <a:off x="754380" y="2933700"/>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23"/>
          <p:cNvSpPr/>
          <p:nvPr/>
        </p:nvSpPr>
        <p:spPr>
          <a:xfrm>
            <a:off x="3276749" y="2540000"/>
            <a:ext cx="2590500" cy="22092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6" name="Google Shape;206;p23"/>
          <p:cNvSpPr txBox="1"/>
          <p:nvPr/>
        </p:nvSpPr>
        <p:spPr>
          <a:xfrm>
            <a:off x="3459632" y="2692400"/>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CONOCIMIENTOS ESENCIALES</a:t>
            </a:r>
            <a:endParaRPr b="0" i="0" sz="850" u="none" cap="none" strike="noStrike">
              <a:solidFill>
                <a:schemeClr val="dk1"/>
              </a:solidFill>
              <a:latin typeface="Calibri"/>
              <a:ea typeface="Calibri"/>
              <a:cs typeface="Calibri"/>
              <a:sym typeface="Calibri"/>
            </a:endParaRPr>
          </a:p>
        </p:txBody>
      </p:sp>
      <p:sp>
        <p:nvSpPr>
          <p:cNvPr id="207" name="Google Shape;207;p23"/>
          <p:cNvSpPr/>
          <p:nvPr/>
        </p:nvSpPr>
        <p:spPr>
          <a:xfrm>
            <a:off x="3459632" y="2933700"/>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23"/>
          <p:cNvSpPr/>
          <p:nvPr/>
        </p:nvSpPr>
        <p:spPr>
          <a:xfrm>
            <a:off x="5982001" y="2540000"/>
            <a:ext cx="2590500" cy="2209200"/>
          </a:xfrm>
          <a:prstGeom prst="roundRect">
            <a:avLst>
              <a:gd fmla="val 4110" name="adj"/>
            </a:avLst>
          </a:prstGeom>
          <a:solidFill>
            <a:srgbClr val="FFFFFF"/>
          </a:solidFill>
          <a:ln>
            <a:noFill/>
          </a:ln>
          <a:effectLst>
            <a:outerShdw blurRad="57150" rotWithShape="0" algn="bl" dir="5400000" dist="19050">
              <a:srgbClr val="000000">
                <a:alpha val="18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209" name="Google Shape;209;p23"/>
          <p:cNvSpPr txBox="1"/>
          <p:nvPr/>
        </p:nvSpPr>
        <p:spPr>
          <a:xfrm>
            <a:off x="6164885" y="2692400"/>
            <a:ext cx="22248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COMPETENCIAS</a:t>
            </a:r>
            <a:endParaRPr b="0" i="0" sz="850" u="none" cap="none" strike="noStrike">
              <a:solidFill>
                <a:schemeClr val="dk1"/>
              </a:solidFill>
              <a:latin typeface="Calibri"/>
              <a:ea typeface="Calibri"/>
              <a:cs typeface="Calibri"/>
              <a:sym typeface="Calibri"/>
            </a:endParaRPr>
          </a:p>
        </p:txBody>
      </p:sp>
      <p:sp>
        <p:nvSpPr>
          <p:cNvPr id="210" name="Google Shape;210;p23"/>
          <p:cNvSpPr/>
          <p:nvPr/>
        </p:nvSpPr>
        <p:spPr>
          <a:xfrm>
            <a:off x="6164885" y="2933700"/>
            <a:ext cx="2224800" cy="7200"/>
          </a:xfrm>
          <a:prstGeom prst="rect">
            <a:avLst/>
          </a:prstGeom>
          <a:solidFill>
            <a:srgbClr val="C5D5F7"/>
          </a:solidFill>
          <a:ln cap="flat" cmpd="sng" w="12700">
            <a:solidFill>
              <a:srgbClr val="C5D5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23"/>
          <p:cNvSpPr txBox="1"/>
          <p:nvPr/>
        </p:nvSpPr>
        <p:spPr>
          <a:xfrm>
            <a:off x="754375" y="2946350"/>
            <a:ext cx="2224800" cy="12192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212" name="Google Shape;212;p23"/>
          <p:cNvSpPr txBox="1"/>
          <p:nvPr/>
        </p:nvSpPr>
        <p:spPr>
          <a:xfrm>
            <a:off x="3459600" y="2946350"/>
            <a:ext cx="2224800" cy="12192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213" name="Google Shape;213;p23"/>
          <p:cNvSpPr txBox="1"/>
          <p:nvPr/>
        </p:nvSpPr>
        <p:spPr>
          <a:xfrm>
            <a:off x="6164825" y="2946350"/>
            <a:ext cx="2224800" cy="12192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52401" lvl="0" marL="180000" marR="0" rtl="0" algn="l">
              <a:lnSpc>
                <a:spcPct val="100000"/>
              </a:lnSpc>
              <a:spcBef>
                <a:spcPts val="1000"/>
              </a:spcBef>
              <a:spcAft>
                <a:spcPts val="0"/>
              </a:spcAft>
              <a:buClr>
                <a:srgbClr val="2D5BFF"/>
              </a:buClr>
              <a:buSzPts val="900"/>
              <a:buFont typeface="Montserrat"/>
              <a:buChar char="●"/>
            </a:pPr>
            <a:r>
              <a:rPr b="0" i="0" lang="en-US" sz="11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pic>
        <p:nvPicPr>
          <p:cNvPr descr="bg-dark-glow.png" id="219" name="Google Shape;219;p24"/>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20" name="Google Shape;220;p24"/>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21" name="Google Shape;221;p24"/>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22" name="Google Shape;222;p24"/>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Cronograma e </a:t>
            </a:r>
            <a:r>
              <a:rPr b="0" i="1" lang="en-US" sz="4500" u="none" cap="none" strike="noStrike">
                <a:solidFill>
                  <a:srgbClr val="7E99FE"/>
                </a:solidFill>
                <a:latin typeface="Montserrat Black"/>
                <a:ea typeface="Montserrat Black"/>
                <a:cs typeface="Montserrat Black"/>
                <a:sym typeface="Montserrat Black"/>
              </a:rPr>
              <a:t>Inversión</a:t>
            </a:r>
            <a:endParaRPr b="0" i="0" sz="1400" u="none" cap="none" strike="noStrike">
              <a:solidFill>
                <a:srgbClr val="000000"/>
              </a:solidFill>
              <a:latin typeface="Arial"/>
              <a:ea typeface="Arial"/>
              <a:cs typeface="Arial"/>
              <a:sym typeface="Arial"/>
            </a:endParaRPr>
          </a:p>
        </p:txBody>
      </p:sp>
      <p:sp>
        <p:nvSpPr>
          <p:cNvPr id="223" name="Google Shape;223;p24"/>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28" name="Shape 228"/>
        <p:cNvGrpSpPr/>
        <p:nvPr/>
      </p:nvGrpSpPr>
      <p:grpSpPr>
        <a:xfrm>
          <a:off x="0" y="0"/>
          <a:ext cx="0" cy="0"/>
          <a:chOff x="0" y="0"/>
          <a:chExt cx="0" cy="0"/>
        </a:xfrm>
      </p:grpSpPr>
      <p:sp>
        <p:nvSpPr>
          <p:cNvPr id="229" name="Google Shape;229;p2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PROPUESTA ECONÓMICA</a:t>
            </a:r>
            <a:endParaRPr b="0" i="0" sz="1100" u="none" cap="none" strike="noStrike">
              <a:solidFill>
                <a:schemeClr val="dk1"/>
              </a:solidFill>
              <a:latin typeface="Calibri"/>
              <a:ea typeface="Calibri"/>
              <a:cs typeface="Calibri"/>
              <a:sym typeface="Calibri"/>
            </a:endParaRPr>
          </a:p>
        </p:txBody>
      </p:sp>
      <p:sp>
        <p:nvSpPr>
          <p:cNvPr id="230" name="Google Shape;230;p2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graphicFrame>
        <p:nvGraphicFramePr>
          <p:cNvPr id="231" name="Google Shape;231;p25"/>
          <p:cNvGraphicFramePr/>
          <p:nvPr/>
        </p:nvGraphicFramePr>
        <p:xfrm>
          <a:off x="571500" y="1755648"/>
          <a:ext cx="3000000" cy="3000000"/>
        </p:xfrm>
        <a:graphic>
          <a:graphicData uri="http://schemas.openxmlformats.org/drawingml/2006/table">
            <a:tbl>
              <a:tblPr>
                <a:noFill/>
                <a:tableStyleId>{C7987163-05EB-4841-B32E-FE23FC968E0B}</a:tableStyleId>
              </a:tblPr>
              <a:tblGrid>
                <a:gridCol w="3657600"/>
                <a:gridCol w="1188725"/>
                <a:gridCol w="1600200"/>
                <a:gridCol w="1554475"/>
              </a:tblGrid>
              <a:tr h="384050">
                <a:tc>
                  <a:txBody>
                    <a:bodyPr/>
                    <a:lstStyle/>
                    <a:p>
                      <a:pPr indent="0" lvl="0" marL="0" marR="0" rtl="0" algn="ctr">
                        <a:spcBef>
                          <a:spcPts val="0"/>
                        </a:spcBef>
                        <a:spcAft>
                          <a:spcPts val="0"/>
                        </a:spcAft>
                        <a:buClr>
                          <a:srgbClr val="FFFFFF"/>
                        </a:buClr>
                        <a:buSzPts val="1000"/>
                        <a:buFont typeface="Montserrat SemiBold"/>
                        <a:buNone/>
                      </a:pPr>
                      <a:r>
                        <a:rPr b="1" lang="en-US" sz="1000">
                          <a:solidFill>
                            <a:srgbClr val="FFFFFF"/>
                          </a:solidFill>
                          <a:latin typeface="Montserrat SemiBold"/>
                          <a:ea typeface="Montserrat SemiBold"/>
                          <a:cs typeface="Montserrat SemiBold"/>
                          <a:sym typeface="Montserrat SemiBold"/>
                        </a:rPr>
                        <a:t>*nombre del perfil*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Duración</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Mensual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Total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r>
              <a:tr h="1079000">
                <a:tc>
                  <a:txBody>
                    <a:bodyPr/>
                    <a:lstStyle/>
                    <a:p>
                      <a:pPr indent="0" lvl="0" marL="0" marR="0" rtl="0" algn="l">
                        <a:spcBef>
                          <a:spcPts val="0"/>
                        </a:spcBef>
                        <a:spcAft>
                          <a:spcPts val="0"/>
                        </a:spcAft>
                        <a:buClr>
                          <a:srgbClr val="000033"/>
                        </a:buClr>
                        <a:buSzPts val="950"/>
                        <a:buFont typeface="Montserrat SemiBold"/>
                        <a:buNone/>
                      </a:pPr>
                      <a:r>
                        <a:rPr b="1" lang="en-US" sz="950">
                          <a:solidFill>
                            <a:srgbClr val="000033"/>
                          </a:solidFill>
                          <a:latin typeface="Montserrat SemiBold"/>
                          <a:ea typeface="Montserrat SemiBold"/>
                          <a:cs typeface="Montserrat SemiBold"/>
                          <a:sym typeface="Montserrat SemiBold"/>
                        </a:rPr>
                        <a:t>*nombre del perfil*</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Gestión administrativa (planilla, beneficios de ley, etc)</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Capacitaciones para el desarrollo de conocimiento.</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Herramienta: Laptop</a:t>
                      </a:r>
                      <a:endParaRPr sz="950" u="none" cap="none" strike="noStrike">
                        <a:latin typeface="Montserrat"/>
                        <a:ea typeface="Montserrat"/>
                        <a:cs typeface="Montserrat"/>
                        <a:sym typeface="Montserrat"/>
                      </a:endParaRPr>
                    </a:p>
                  </a:txBody>
                  <a:tcPr marT="101600" marB="1016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a:solidFill>
                            <a:srgbClr val="000033"/>
                          </a:solidFill>
                          <a:latin typeface="Montserrat SemiBold"/>
                          <a:ea typeface="Montserrat SemiBold"/>
                          <a:cs typeface="Montserrat SemiBold"/>
                          <a:sym typeface="Montserrat SemiBold"/>
                        </a:rPr>
                        <a:t>#</a:t>
                      </a:r>
                      <a:r>
                        <a:rPr b="1" lang="en-US" sz="1050" u="none" cap="none" strike="noStrike">
                          <a:solidFill>
                            <a:srgbClr val="000033"/>
                          </a:solidFill>
                          <a:latin typeface="Montserrat SemiBold"/>
                          <a:ea typeface="Montserrat SemiBold"/>
                          <a:cs typeface="Montserrat SemiBold"/>
                          <a:sym typeface="Montserrat SemiBold"/>
                        </a:rPr>
                        <a:t> meses</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 a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xxxxxx</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r>
            </a:tbl>
          </a:graphicData>
        </a:graphic>
      </p:graphicFrame>
      <p:sp>
        <p:nvSpPr>
          <p:cNvPr id="232" name="Google Shape;232;p25"/>
          <p:cNvSpPr txBox="1"/>
          <p:nvPr/>
        </p:nvSpPr>
        <p:spPr>
          <a:xfrm>
            <a:off x="571500" y="3521175"/>
            <a:ext cx="2743200" cy="12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CONDICIONES</a:t>
            </a:r>
            <a:endParaRPr b="0" i="0" sz="850" u="none" cap="none" strike="noStrike">
              <a:solidFill>
                <a:schemeClr val="dk1"/>
              </a:solidFill>
              <a:latin typeface="Calibri"/>
              <a:ea typeface="Calibri"/>
              <a:cs typeface="Calibri"/>
              <a:sym typeface="Calibri"/>
            </a:endParaRPr>
          </a:p>
        </p:txBody>
      </p:sp>
      <p:sp>
        <p:nvSpPr>
          <p:cNvPr id="233" name="Google Shape;233;p25"/>
          <p:cNvSpPr/>
          <p:nvPr/>
        </p:nvSpPr>
        <p:spPr>
          <a:xfrm>
            <a:off x="571500" y="3711682"/>
            <a:ext cx="8001000" cy="63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35" name="Google Shape;235;p25"/>
          <p:cNvSpPr txBox="1"/>
          <p:nvPr/>
        </p:nvSpPr>
        <p:spPr>
          <a:xfrm>
            <a:off x="600750" y="3717976"/>
            <a:ext cx="8001000" cy="6204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no incluyen impuestos (IGV)</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considerados tienen vigencia hasta 30 días después de presentada la propuesta.</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Forma de facturación del proyecto: al fin de cada mes.</a:t>
            </a:r>
            <a:endParaRPr sz="900">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40" name="Shape 240"/>
        <p:cNvGrpSpPr/>
        <p:nvPr/>
      </p:nvGrpSpPr>
      <p:grpSpPr>
        <a:xfrm>
          <a:off x="0" y="0"/>
          <a:ext cx="0" cy="0"/>
          <a:chOff x="0" y="0"/>
          <a:chExt cx="0" cy="0"/>
        </a:xfrm>
      </p:grpSpPr>
      <p:sp>
        <p:nvSpPr>
          <p:cNvPr id="241" name="Google Shape;241;p26"/>
          <p:cNvSpPr txBox="1"/>
          <p:nvPr/>
        </p:nvSpPr>
        <p:spPr>
          <a:xfrm>
            <a:off x="571500" y="943275"/>
            <a:ext cx="8001000" cy="35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1" lang="en-US" sz="1700" u="none" cap="none" strike="noStrike">
                <a:solidFill>
                  <a:srgbClr val="2B5BFC"/>
                </a:solidFill>
                <a:latin typeface="Montserrat Black"/>
                <a:ea typeface="Montserrat Black"/>
                <a:cs typeface="Montserrat Black"/>
                <a:sym typeface="Montserrat Black"/>
              </a:rPr>
              <a:t> de</a:t>
            </a:r>
            <a:r>
              <a:rPr b="1" i="1" lang="en-US" sz="1700">
                <a:solidFill>
                  <a:srgbClr val="2B5BFC"/>
                </a:solidFill>
                <a:latin typeface="Montserrat Black"/>
                <a:ea typeface="Montserrat Black"/>
                <a:cs typeface="Montserrat Black"/>
                <a:sym typeface="Montserrat Black"/>
              </a:rPr>
              <a:t> Neo Talents</a:t>
            </a:r>
            <a:endParaRPr b="0" i="0" sz="1700" u="none" cap="none" strike="noStrike">
              <a:solidFill>
                <a:schemeClr val="dk1"/>
              </a:solidFill>
              <a:latin typeface="Calibri"/>
              <a:ea typeface="Calibri"/>
              <a:cs typeface="Calibri"/>
              <a:sym typeface="Calibri"/>
            </a:endParaRPr>
          </a:p>
        </p:txBody>
      </p:sp>
      <p:sp>
        <p:nvSpPr>
          <p:cNvPr id="242" name="Google Shape;242;p26"/>
          <p:cNvSpPr/>
          <p:nvPr/>
        </p:nvSpPr>
        <p:spPr>
          <a:xfrm>
            <a:off x="571463"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6"/>
          <p:cNvSpPr txBox="1"/>
          <p:nvPr/>
        </p:nvSpPr>
        <p:spPr>
          <a:xfrm>
            <a:off x="70862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RELACIÓN CONTRACTUAL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 aceptación de esta propuesta no origina en modo alguno relación laboral entre el cliente y los consultores. La relación contractual será directamente con NEO (cobertura de costos planilla y beneficios de ley como EPS, AFP, CTS, gratificaciones y vacaciones). Asimismo, cualquier falta justificable (descanso médico) menor o igual a 15 días no generará reemplazo ni reprogramación de vigencia de contrato.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MODALIDAD Y HERRAMIENTAS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Las actividades de los consultores se realizan a distancia. Asimismo, ellos trabajarán en un esquema de 40 horas semanales.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Neo Consulting asumirá todos los costos relacionados con las herramientas de trabajo necesarias, incluyendo: Laptop, licencias especiales de software y herramientas específicas, o cualquier otro recurso esencial para la correcta ejecución del servicio. En caso de requerir herramientas adicionales por parte del cliente, esto deberá ser acordado previamente.</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CONTINUIDAD DEL EQUIPO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el periodo del proyecto, uno o más consultores no pudieran continuar en el proyecto; NEO se encargará de reemplazarlo con otro perfil de similares características en un periodo máximo de 35 días. El periodo ausente será completado al final del proyecto para no afectar el alcance del mismo ni el cronograma de facturación.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Los talentos asignados tendrán derecho a 30 días de descanso vacacional anual, de acuerdo con la legislación vigente. Las vacaciones serán coordinadas con el líder responsable del proyecto por parte del cliente y no generarán reprogramación ni reemplazo dentro del contrato.</a:t>
            </a:r>
            <a:endParaRPr b="0" i="0" sz="700" u="none" cap="none" strike="noStrike">
              <a:solidFill>
                <a:schemeClr val="dk1"/>
              </a:solidFill>
              <a:latin typeface="Calibri"/>
              <a:ea typeface="Calibri"/>
              <a:cs typeface="Calibri"/>
              <a:sym typeface="Calibri"/>
            </a:endParaRPr>
          </a:p>
        </p:txBody>
      </p:sp>
      <p:sp>
        <p:nvSpPr>
          <p:cNvPr id="244" name="Google Shape;244;p26"/>
          <p:cNvSpPr/>
          <p:nvPr/>
        </p:nvSpPr>
        <p:spPr>
          <a:xfrm>
            <a:off x="4672540"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26"/>
          <p:cNvSpPr txBox="1"/>
          <p:nvPr/>
        </p:nvSpPr>
        <p:spPr>
          <a:xfrm>
            <a:off x="480970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INICIO DEL SERVICIO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35 días hábiles de aceptada la propuesta NEO no presentase una terna de consultores y el cliente quiera prescindir del servicio, éste no estará obligado a asumir el pago del servicio.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VIGENCIA Y RENOVACIÓN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alguna de las partes desea rescindir parcial o totalmente el contrato, deberá notificarlo con al menos 2 meses de anticipación. Si el cliente no confirma la renovación ni cancela el servicio 30 días antes del término del contrato, este se renovará de manera automática por el mismo tiempo y bajo las mismas condiciones.</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PENALIDADES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decide cancelar un perfil Neo Talent luego de haber aceptado su incorporación y antes de que este haya iniciado sus funciones, deberá pagar una penalidad equivalente a dos meses de fee del servicio. Esta penalización tiene como objetivo compensar los daños y perjuicios ocasionados a la reputación de Neo Consulting, así como el impacto en la empleabilidad del talento asignado.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contrato se cancela antes del tiempo acordado, se aplicará un costo proporcional que cubrirá los gastos de reclutamiento y herramientas asignadas al talento durante el periodo del contrato. Dicho cobro ascenderá a USD $2500 por perfil.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desea que el talento asignado pase a formar parte de su organización, deberá esperar hasta la finalización del contrato actual para habilitar dicha opción. Penalidad por absorción del talento: Si el cliente decide contratar directamente al talento asignado antes de la finalización del contrato, se aplicará una penalidad equivalente a un mínimo de tres fees mensuales o los meses restantes del contrato, lo que resulte mayor.</a:t>
            </a:r>
            <a:endParaRPr b="0" i="0" sz="700" u="none" cap="none" strike="noStrike">
              <a:solidFill>
                <a:schemeClr val="dk1"/>
              </a:solidFill>
              <a:latin typeface="Calibri"/>
              <a:ea typeface="Calibri"/>
              <a:cs typeface="Calibri"/>
              <a:sym typeface="Calibri"/>
            </a:endParaRPr>
          </a:p>
        </p:txBody>
      </p:sp>
      <p:sp>
        <p:nvSpPr>
          <p:cNvPr id="246" name="Google Shape;246;p2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51" name="Shape 251"/>
        <p:cNvGrpSpPr/>
        <p:nvPr/>
      </p:nvGrpSpPr>
      <p:grpSpPr>
        <a:xfrm>
          <a:off x="0" y="0"/>
          <a:ext cx="0" cy="0"/>
          <a:chOff x="0" y="0"/>
          <a:chExt cx="0" cy="0"/>
        </a:xfrm>
      </p:grpSpPr>
      <p:pic>
        <p:nvPicPr>
          <p:cNvPr descr="bg-dark-glow.png" id="252" name="Google Shape;252;p2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53" name="Google Shape;253;p27"/>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54" name="Google Shape;254;p27"/>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55" name="Google Shape;255;p27"/>
          <p:cNvSpPr txBox="1"/>
          <p:nvPr/>
        </p:nvSpPr>
        <p:spPr>
          <a:xfrm>
            <a:off x="571500" y="2159000"/>
            <a:ext cx="8001000" cy="64262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¿Por qué </a:t>
            </a:r>
            <a:r>
              <a:rPr b="0" i="1" lang="en-US" sz="4500" u="none" cap="none" strike="noStrike">
                <a:solidFill>
                  <a:srgbClr val="9AAFFE"/>
                </a:solidFill>
                <a:latin typeface="Montserrat Black"/>
                <a:ea typeface="Montserrat Black"/>
                <a:cs typeface="Montserrat Black"/>
                <a:sym typeface="Montserrat Black"/>
              </a:rPr>
              <a:t>NEO?</a:t>
            </a:r>
            <a:endParaRPr b="0" i="0" sz="1400" u="none" cap="none" strike="noStrike">
              <a:solidFill>
                <a:srgbClr val="9AAFFE"/>
              </a:solidFill>
              <a:latin typeface="Arial"/>
              <a:ea typeface="Arial"/>
              <a:cs typeface="Arial"/>
              <a:sym typeface="Arial"/>
            </a:endParaRPr>
          </a:p>
        </p:txBody>
      </p:sp>
      <p:sp>
        <p:nvSpPr>
          <p:cNvPr id="256" name="Google Shape;256;p27"/>
          <p:cNvSpPr txBox="1"/>
          <p:nvPr/>
        </p:nvSpPr>
        <p:spPr>
          <a:xfrm>
            <a:off x="571500" y="1798320"/>
            <a:ext cx="8001000" cy="20827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04</a:t>
            </a:r>
            <a:endParaRPr b="0" i="0" sz="1400" u="none" cap="none" strike="noStrike">
              <a:solidFill>
                <a:srgbClr val="000000"/>
              </a:solidFill>
              <a:latin typeface="Arial"/>
              <a:ea typeface="Arial"/>
              <a:cs typeface="Arial"/>
              <a:sym typeface="Arial"/>
            </a:endParaRPr>
          </a:p>
        </p:txBody>
      </p:sp>
      <p:sp>
        <p:nvSpPr>
          <p:cNvPr id="257" name="Google Shape;257;p27"/>
          <p:cNvSpPr txBox="1"/>
          <p:nvPr/>
        </p:nvSpPr>
        <p:spPr>
          <a:xfrm>
            <a:off x="571500" y="2979420"/>
            <a:ext cx="6350000" cy="444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61" name="Shape 261"/>
        <p:cNvGrpSpPr/>
        <p:nvPr/>
      </p:nvGrpSpPr>
      <p:grpSpPr>
        <a:xfrm>
          <a:off x="0" y="0"/>
          <a:ext cx="0" cy="0"/>
          <a:chOff x="0" y="0"/>
          <a:chExt cx="0" cy="0"/>
        </a:xfrm>
      </p:grpSpPr>
      <p:sp>
        <p:nvSpPr>
          <p:cNvPr id="262" name="Google Shape;262;p28"/>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63" name="Google Shape;263;p28"/>
          <p:cNvSpPr txBox="1"/>
          <p:nvPr/>
        </p:nvSpPr>
        <p:spPr>
          <a:xfrm>
            <a:off x="571500" y="850900"/>
            <a:ext cx="8001000" cy="19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INNOVACIÓN</a:t>
            </a:r>
            <a:endParaRPr b="0" i="0" sz="1400" u="none" cap="none" strike="noStrike">
              <a:solidFill>
                <a:srgbClr val="000000"/>
              </a:solidFill>
              <a:latin typeface="Arial"/>
              <a:ea typeface="Arial"/>
              <a:cs typeface="Arial"/>
              <a:sym typeface="Arial"/>
            </a:endParaRPr>
          </a:p>
        </p:txBody>
      </p:sp>
      <p:sp>
        <p:nvSpPr>
          <p:cNvPr id="264" name="Google Shape;264;p28"/>
          <p:cNvSpPr txBox="1"/>
          <p:nvPr/>
        </p:nvSpPr>
        <p:spPr>
          <a:xfrm>
            <a:off x="571500" y="1088390"/>
            <a:ext cx="8001000" cy="3294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NEO </a:t>
            </a:r>
            <a:r>
              <a:rPr b="0" i="1" lang="en-US" sz="2100" u="none" cap="none" strike="noStrike">
                <a:solidFill>
                  <a:srgbClr val="2D5BFF"/>
                </a:solidFill>
                <a:latin typeface="Montserrat ExtraBold"/>
                <a:ea typeface="Montserrat ExtraBold"/>
                <a:cs typeface="Montserrat ExtraBold"/>
                <a:sym typeface="Montserrat ExtraBold"/>
              </a:rPr>
              <a:t>AI Lab</a:t>
            </a:r>
            <a:endParaRPr b="0" i="0" sz="1400" u="none" cap="none" strike="noStrike">
              <a:solidFill>
                <a:srgbClr val="000000"/>
              </a:solidFill>
              <a:latin typeface="Arial"/>
              <a:ea typeface="Arial"/>
              <a:cs typeface="Arial"/>
              <a:sym typeface="Arial"/>
            </a:endParaRPr>
          </a:p>
        </p:txBody>
      </p:sp>
      <p:pic>
        <p:nvPicPr>
          <p:cNvPr descr="image.png" id="265" name="Google Shape;265;p28"/>
          <p:cNvPicPr preferRelativeResize="0"/>
          <p:nvPr/>
        </p:nvPicPr>
        <p:blipFill rotWithShape="1">
          <a:blip r:embed="rId3">
            <a:alphaModFix/>
          </a:blip>
          <a:srcRect b="0" l="0" r="0" t="0"/>
          <a:stretch/>
        </p:blipFill>
        <p:spPr>
          <a:xfrm>
            <a:off x="571500" y="1726313"/>
            <a:ext cx="3200400" cy="2384298"/>
          </a:xfrm>
          <a:prstGeom prst="rect">
            <a:avLst/>
          </a:prstGeom>
          <a:noFill/>
          <a:ln>
            <a:noFill/>
          </a:ln>
        </p:spPr>
      </p:pic>
      <p:sp>
        <p:nvSpPr>
          <p:cNvPr id="266" name="Google Shape;266;p28"/>
          <p:cNvSpPr/>
          <p:nvPr/>
        </p:nvSpPr>
        <p:spPr>
          <a:xfrm>
            <a:off x="4051300" y="1751840"/>
            <a:ext cx="38100" cy="2333100"/>
          </a:xfrm>
          <a:prstGeom prst="rect">
            <a:avLst/>
          </a:prstGeom>
          <a:solidFill>
            <a:srgbClr val="2D5B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28"/>
          <p:cNvSpPr txBox="1"/>
          <p:nvPr/>
        </p:nvSpPr>
        <p:spPr>
          <a:xfrm>
            <a:off x="4229100" y="1751839"/>
            <a:ext cx="4343400" cy="17217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2B5BFC"/>
                </a:solidFill>
                <a:latin typeface="Montserrat"/>
                <a:ea typeface="Montserrat"/>
                <a:cs typeface="Montserrat"/>
                <a:sym typeface="Montserrat"/>
              </a:rPr>
              <a:t>MODELOS FRONTERA &amp; AGENTES</a:t>
            </a:r>
            <a:endParaRPr b="1" i="0" sz="1400" u="none" cap="none" strike="noStrike">
              <a:solidFill>
                <a:srgbClr val="2B5BFC"/>
              </a:solidFill>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Llevando la IA de la experimentación a la producción real. Construimos flujos de trabajo autónomos, agentes cognitivos y modelos especializados para resolver problemas complejos de negocio con optimización constante.</a:t>
            </a:r>
            <a:endParaRPr b="0" i="0" sz="1400" u="none" cap="none" strike="noStrike">
              <a:solidFill>
                <a:srgbClr val="000000"/>
              </a:solidFill>
              <a:latin typeface="Arial"/>
              <a:ea typeface="Arial"/>
              <a:cs typeface="Arial"/>
              <a:sym typeface="Arial"/>
            </a:endParaRPr>
          </a:p>
        </p:txBody>
      </p:sp>
      <p:sp>
        <p:nvSpPr>
          <p:cNvPr id="268" name="Google Shape;268;p28"/>
          <p:cNvSpPr txBox="1"/>
          <p:nvPr/>
        </p:nvSpPr>
        <p:spPr>
          <a:xfrm>
            <a:off x="4229100" y="3575053"/>
            <a:ext cx="4343400" cy="5100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000033"/>
                </a:solidFill>
                <a:latin typeface="Montserrat"/>
                <a:ea typeface="Montserrat"/>
                <a:cs typeface="Montserrat"/>
                <a:sym typeface="Montserrat"/>
              </a:rPr>
              <a:t>Nos ubicamos en:</a:t>
            </a:r>
            <a:r>
              <a:rPr b="0" i="0" lang="en-US" sz="1500" u="none" cap="none" strike="noStrike">
                <a:solidFill>
                  <a:srgbClr val="000033"/>
                </a:solidFill>
                <a:latin typeface="Montserrat"/>
                <a:ea typeface="Montserrat"/>
                <a:cs typeface="Montserrat"/>
                <a:sym typeface="Montserrat"/>
              </a:rPr>
              <a:t> </a:t>
            </a:r>
            <a:endParaRPr b="0" i="0" sz="1500" u="none" cap="none" strike="noStrike">
              <a:solidFill>
                <a:srgbClr val="000033"/>
              </a:solidFill>
              <a:latin typeface="Montserrat"/>
              <a:ea typeface="Montserrat"/>
              <a:cs typeface="Montserrat"/>
              <a:sym typeface="Montserrat"/>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Calle Río de la Plata 167, San Isidro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73" name="Shape 273"/>
        <p:cNvGrpSpPr/>
        <p:nvPr/>
      </p:nvGrpSpPr>
      <p:grpSpPr>
        <a:xfrm>
          <a:off x="0" y="0"/>
          <a:ext cx="0" cy="0"/>
          <a:chOff x="0" y="0"/>
          <a:chExt cx="0" cy="0"/>
        </a:xfrm>
      </p:grpSpPr>
      <p:pic>
        <p:nvPicPr>
          <p:cNvPr descr="preencoded.png" id="274" name="Google Shape;274;p29"/>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275" name="Google Shape;275;p2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76" name="Google Shape;276;p29"/>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277" name="Google Shape;277;p29"/>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278" name="Google Shape;278;p29"/>
          <p:cNvSpPr/>
          <p:nvPr/>
        </p:nvSpPr>
        <p:spPr>
          <a:xfrm>
            <a:off x="723900" y="2771775"/>
            <a:ext cx="1509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279" name="Google Shape;279;p29"/>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280" name="Google Shape;280;p29"/>
          <p:cNvSpPr/>
          <p:nvPr/>
        </p:nvSpPr>
        <p:spPr>
          <a:xfrm>
            <a:off x="2762250" y="2771775"/>
            <a:ext cx="1609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281" name="Google Shape;281;p29"/>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282" name="Google Shape;282;p29"/>
          <p:cNvSpPr/>
          <p:nvPr/>
        </p:nvSpPr>
        <p:spPr>
          <a:xfrm>
            <a:off x="4800600" y="2771775"/>
            <a:ext cx="1593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83" name="Google Shape;283;p29"/>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284" name="Google Shape;284;p29"/>
          <p:cNvSpPr/>
          <p:nvPr/>
        </p:nvSpPr>
        <p:spPr>
          <a:xfrm>
            <a:off x="6838950" y="2771775"/>
            <a:ext cx="1663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85" name="Google Shape;285;p29"/>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90" name="Shape 290"/>
        <p:cNvGrpSpPr/>
        <p:nvPr/>
      </p:nvGrpSpPr>
      <p:grpSpPr>
        <a:xfrm>
          <a:off x="0" y="0"/>
          <a:ext cx="0" cy="0"/>
          <a:chOff x="0" y="0"/>
          <a:chExt cx="0" cy="0"/>
        </a:xfrm>
      </p:grpSpPr>
      <p:pic>
        <p:nvPicPr>
          <p:cNvPr descr="preencoded.png" id="291" name="Google Shape;291;p30"/>
          <p:cNvPicPr preferRelativeResize="0"/>
          <p:nvPr/>
        </p:nvPicPr>
        <p:blipFill rotWithShape="1">
          <a:blip r:embed="rId3">
            <a:alphaModFix/>
          </a:blip>
          <a:srcRect b="0" l="0" r="0" t="0"/>
          <a:stretch/>
        </p:blipFill>
        <p:spPr>
          <a:xfrm>
            <a:off x="1896363" y="2321613"/>
            <a:ext cx="2712792" cy="971509"/>
          </a:xfrm>
          <a:prstGeom prst="rect">
            <a:avLst/>
          </a:prstGeom>
          <a:noFill/>
          <a:ln>
            <a:noFill/>
          </a:ln>
        </p:spPr>
      </p:pic>
      <p:pic>
        <p:nvPicPr>
          <p:cNvPr descr="preencoded.png" id="292" name="Google Shape;292;p30"/>
          <p:cNvPicPr preferRelativeResize="0"/>
          <p:nvPr/>
        </p:nvPicPr>
        <p:blipFill rotWithShape="1">
          <a:blip r:embed="rId3">
            <a:alphaModFix/>
          </a:blip>
          <a:srcRect b="0" l="0" r="0" t="0"/>
          <a:stretch/>
        </p:blipFill>
        <p:spPr>
          <a:xfrm>
            <a:off x="4534849" y="2321613"/>
            <a:ext cx="2712792" cy="971509"/>
          </a:xfrm>
          <a:prstGeom prst="rect">
            <a:avLst/>
          </a:prstGeom>
          <a:noFill/>
          <a:ln>
            <a:noFill/>
          </a:ln>
        </p:spPr>
      </p:pic>
      <p:pic>
        <p:nvPicPr>
          <p:cNvPr descr="preencoded.png" id="293" name="Google Shape;293;p30"/>
          <p:cNvPicPr preferRelativeResize="0"/>
          <p:nvPr/>
        </p:nvPicPr>
        <p:blipFill rotWithShape="1">
          <a:blip r:embed="rId3">
            <a:alphaModFix/>
          </a:blip>
          <a:srcRect b="0" l="0" r="0" t="0"/>
          <a:stretch/>
        </p:blipFill>
        <p:spPr>
          <a:xfrm>
            <a:off x="1896363" y="3213490"/>
            <a:ext cx="2712792" cy="971509"/>
          </a:xfrm>
          <a:prstGeom prst="rect">
            <a:avLst/>
          </a:prstGeom>
          <a:noFill/>
          <a:ln>
            <a:noFill/>
          </a:ln>
        </p:spPr>
      </p:pic>
      <p:pic>
        <p:nvPicPr>
          <p:cNvPr descr="preencoded.png" id="294" name="Google Shape;294;p30"/>
          <p:cNvPicPr preferRelativeResize="0"/>
          <p:nvPr/>
        </p:nvPicPr>
        <p:blipFill rotWithShape="1">
          <a:blip r:embed="rId3">
            <a:alphaModFix/>
          </a:blip>
          <a:srcRect b="0" l="0" r="0" t="0"/>
          <a:stretch/>
        </p:blipFill>
        <p:spPr>
          <a:xfrm>
            <a:off x="4534849" y="3213490"/>
            <a:ext cx="2712792" cy="971509"/>
          </a:xfrm>
          <a:prstGeom prst="rect">
            <a:avLst/>
          </a:prstGeom>
          <a:noFill/>
          <a:ln>
            <a:noFill/>
          </a:ln>
        </p:spPr>
      </p:pic>
      <p:sp>
        <p:nvSpPr>
          <p:cNvPr id="295" name="Google Shape;295;p30"/>
          <p:cNvSpPr/>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96" name="Google Shape;296;p30"/>
          <p:cNvSpPr/>
          <p:nvPr/>
        </p:nvSpPr>
        <p:spPr>
          <a:xfrm>
            <a:off x="571500" y="1088390"/>
            <a:ext cx="4591200" cy="32893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partners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297" name="Google Shape;297;p30"/>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298" name="Google Shape;298;p30"/>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D5BFF"/>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299" name="Google Shape;299;p30"/>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300" name="Google Shape;300;p30"/>
          <p:cNvPicPr preferRelativeResize="0"/>
          <p:nvPr/>
        </p:nvPicPr>
        <p:blipFill rotWithShape="1">
          <a:blip r:embed="rId5">
            <a:alphaModFix/>
          </a:blip>
          <a:srcRect b="0" l="0" r="0" t="0"/>
          <a:stretch/>
        </p:blipFill>
        <p:spPr>
          <a:xfrm>
            <a:off x="2166391" y="3304477"/>
            <a:ext cx="2223933" cy="716701"/>
          </a:xfrm>
          <a:prstGeom prst="rect">
            <a:avLst/>
          </a:prstGeom>
          <a:noFill/>
          <a:ln>
            <a:noFill/>
          </a:ln>
        </p:spPr>
      </p:pic>
      <p:pic>
        <p:nvPicPr>
          <p:cNvPr descr="preencoded.png" id="301" name="Google Shape;301;p30"/>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302" name="Google Shape;302;p30"/>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07" name="Shape 307"/>
        <p:cNvGrpSpPr/>
        <p:nvPr/>
      </p:nvGrpSpPr>
      <p:grpSpPr>
        <a:xfrm>
          <a:off x="0" y="0"/>
          <a:ext cx="0" cy="0"/>
          <a:chOff x="0" y="0"/>
          <a:chExt cx="0" cy="0"/>
        </a:xfrm>
      </p:grpSpPr>
      <p:pic>
        <p:nvPicPr>
          <p:cNvPr descr="preencoded.png" id="308" name="Google Shape;308;p31"/>
          <p:cNvPicPr preferRelativeResize="0"/>
          <p:nvPr/>
        </p:nvPicPr>
        <p:blipFill rotWithShape="1">
          <a:blip r:embed="rId3">
            <a:alphaModFix/>
          </a:blip>
          <a:srcRect b="0" l="0" r="0" t="0"/>
          <a:stretch/>
        </p:blipFill>
        <p:spPr>
          <a:xfrm>
            <a:off x="671778" y="1604977"/>
            <a:ext cx="2647045" cy="1387196"/>
          </a:xfrm>
          <a:prstGeom prst="rect">
            <a:avLst/>
          </a:prstGeom>
          <a:noFill/>
          <a:ln>
            <a:noFill/>
          </a:ln>
        </p:spPr>
      </p:pic>
      <p:pic>
        <p:nvPicPr>
          <p:cNvPr descr="preencoded.png" id="309" name="Google Shape;309;p31"/>
          <p:cNvPicPr preferRelativeResize="0"/>
          <p:nvPr/>
        </p:nvPicPr>
        <p:blipFill rotWithShape="1">
          <a:blip r:embed="rId3">
            <a:alphaModFix/>
          </a:blip>
          <a:srcRect b="0" l="0" r="0" t="0"/>
          <a:stretch/>
        </p:blipFill>
        <p:spPr>
          <a:xfrm>
            <a:off x="3246052" y="1604977"/>
            <a:ext cx="2647045" cy="1387196"/>
          </a:xfrm>
          <a:prstGeom prst="rect">
            <a:avLst/>
          </a:prstGeom>
          <a:noFill/>
          <a:ln>
            <a:noFill/>
          </a:ln>
        </p:spPr>
      </p:pic>
      <p:pic>
        <p:nvPicPr>
          <p:cNvPr descr="preencoded.png" id="310" name="Google Shape;310;p31"/>
          <p:cNvPicPr preferRelativeResize="0"/>
          <p:nvPr/>
        </p:nvPicPr>
        <p:blipFill rotWithShape="1">
          <a:blip r:embed="rId4">
            <a:alphaModFix/>
          </a:blip>
          <a:srcRect b="0" l="0" r="0" t="0"/>
          <a:stretch/>
        </p:blipFill>
        <p:spPr>
          <a:xfrm>
            <a:off x="5820326" y="1604977"/>
            <a:ext cx="2651593" cy="1387196"/>
          </a:xfrm>
          <a:prstGeom prst="rect">
            <a:avLst/>
          </a:prstGeom>
          <a:noFill/>
          <a:ln>
            <a:noFill/>
          </a:ln>
        </p:spPr>
      </p:pic>
      <p:pic>
        <p:nvPicPr>
          <p:cNvPr descr="preencoded.png" id="311" name="Google Shape;311;p31"/>
          <p:cNvPicPr preferRelativeResize="0"/>
          <p:nvPr/>
        </p:nvPicPr>
        <p:blipFill rotWithShape="1">
          <a:blip r:embed="rId3">
            <a:alphaModFix/>
          </a:blip>
          <a:srcRect b="0" l="0" r="0" t="0"/>
          <a:stretch/>
        </p:blipFill>
        <p:spPr>
          <a:xfrm>
            <a:off x="671778" y="3019463"/>
            <a:ext cx="2647045" cy="1387197"/>
          </a:xfrm>
          <a:prstGeom prst="rect">
            <a:avLst/>
          </a:prstGeom>
          <a:noFill/>
          <a:ln>
            <a:noFill/>
          </a:ln>
        </p:spPr>
      </p:pic>
      <p:pic>
        <p:nvPicPr>
          <p:cNvPr descr="preencoded.png" id="312" name="Google Shape;312;p31"/>
          <p:cNvPicPr preferRelativeResize="0"/>
          <p:nvPr/>
        </p:nvPicPr>
        <p:blipFill rotWithShape="1">
          <a:blip r:embed="rId3">
            <a:alphaModFix/>
          </a:blip>
          <a:srcRect b="0" l="0" r="0" t="0"/>
          <a:stretch/>
        </p:blipFill>
        <p:spPr>
          <a:xfrm>
            <a:off x="3246052" y="3019463"/>
            <a:ext cx="2647045" cy="1387197"/>
          </a:xfrm>
          <a:prstGeom prst="rect">
            <a:avLst/>
          </a:prstGeom>
          <a:noFill/>
          <a:ln>
            <a:noFill/>
          </a:ln>
        </p:spPr>
      </p:pic>
      <p:pic>
        <p:nvPicPr>
          <p:cNvPr descr="preencoded.png" id="313" name="Google Shape;313;p31"/>
          <p:cNvPicPr preferRelativeResize="0"/>
          <p:nvPr/>
        </p:nvPicPr>
        <p:blipFill rotWithShape="1">
          <a:blip r:embed="rId4">
            <a:alphaModFix/>
          </a:blip>
          <a:srcRect b="0" l="0" r="0" t="0"/>
          <a:stretch/>
        </p:blipFill>
        <p:spPr>
          <a:xfrm>
            <a:off x="5820326" y="3019463"/>
            <a:ext cx="2651593" cy="1387197"/>
          </a:xfrm>
          <a:prstGeom prst="rect">
            <a:avLst/>
          </a:prstGeom>
          <a:noFill/>
          <a:ln>
            <a:noFill/>
          </a:ln>
        </p:spPr>
      </p:pic>
      <p:sp>
        <p:nvSpPr>
          <p:cNvPr id="314" name="Google Shape;314;p31"/>
          <p:cNvSpPr/>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315" name="Google Shape;315;p31"/>
          <p:cNvSpPr/>
          <p:nvPr/>
        </p:nvSpPr>
        <p:spPr>
          <a:xfrm>
            <a:off x="3619500" y="1016000"/>
            <a:ext cx="4953000" cy="4318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316" name="Google Shape;316;p31"/>
          <p:cNvSpPr/>
          <p:nvPr/>
        </p:nvSpPr>
        <p:spPr>
          <a:xfrm>
            <a:off x="571500" y="850900"/>
            <a:ext cx="2857500" cy="19304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317" name="Google Shape;317;p31"/>
          <p:cNvSpPr/>
          <p:nvPr/>
        </p:nvSpPr>
        <p:spPr>
          <a:xfrm>
            <a:off x="571500" y="1088390"/>
            <a:ext cx="2857500" cy="32893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Clientes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318" name="Google Shape;318;p31"/>
          <p:cNvSpPr/>
          <p:nvPr/>
        </p:nvSpPr>
        <p:spPr>
          <a:xfrm>
            <a:off x="722578" y="1732326"/>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319" name="Google Shape;319;p31"/>
          <p:cNvSpPr/>
          <p:nvPr/>
        </p:nvSpPr>
        <p:spPr>
          <a:xfrm>
            <a:off x="3296852" y="1732326"/>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320" name="Google Shape;320;p31"/>
          <p:cNvSpPr/>
          <p:nvPr/>
        </p:nvSpPr>
        <p:spPr>
          <a:xfrm>
            <a:off x="5871126" y="1732326"/>
            <a:ext cx="2549993"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321" name="Google Shape;321;p31"/>
          <p:cNvSpPr/>
          <p:nvPr/>
        </p:nvSpPr>
        <p:spPr>
          <a:xfrm>
            <a:off x="722578" y="3146812"/>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322" name="Google Shape;322;p31"/>
          <p:cNvSpPr/>
          <p:nvPr/>
        </p:nvSpPr>
        <p:spPr>
          <a:xfrm>
            <a:off x="3296852" y="3146812"/>
            <a:ext cx="2545445" cy="168175"/>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323" name="Google Shape;323;p31"/>
          <p:cNvSpPr/>
          <p:nvPr/>
        </p:nvSpPr>
        <p:spPr>
          <a:xfrm>
            <a:off x="5871126" y="3149175"/>
            <a:ext cx="2549993" cy="138666"/>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324" name="Google Shape;324;p31"/>
          <p:cNvPicPr preferRelativeResize="0"/>
          <p:nvPr/>
        </p:nvPicPr>
        <p:blipFill rotWithShape="1">
          <a:blip r:embed="rId5">
            <a:alphaModFix/>
          </a:blip>
          <a:srcRect b="0" l="0" r="0" t="0"/>
          <a:stretch/>
        </p:blipFill>
        <p:spPr>
          <a:xfrm>
            <a:off x="1029584" y="2023753"/>
            <a:ext cx="511655" cy="130571"/>
          </a:xfrm>
          <a:prstGeom prst="rect">
            <a:avLst/>
          </a:prstGeom>
          <a:noFill/>
          <a:ln>
            <a:noFill/>
          </a:ln>
        </p:spPr>
      </p:pic>
      <p:pic>
        <p:nvPicPr>
          <p:cNvPr id="325" name="Google Shape;325;p31"/>
          <p:cNvPicPr preferRelativeResize="0"/>
          <p:nvPr/>
        </p:nvPicPr>
        <p:blipFill rotWithShape="1">
          <a:blip r:embed="rId6">
            <a:alphaModFix/>
          </a:blip>
          <a:srcRect b="0" l="0" r="0" t="0"/>
          <a:stretch/>
        </p:blipFill>
        <p:spPr>
          <a:xfrm>
            <a:off x="1754258" y="2007721"/>
            <a:ext cx="497137" cy="156369"/>
          </a:xfrm>
          <a:prstGeom prst="rect">
            <a:avLst/>
          </a:prstGeom>
          <a:noFill/>
          <a:ln>
            <a:noFill/>
          </a:ln>
        </p:spPr>
      </p:pic>
      <p:pic>
        <p:nvPicPr>
          <p:cNvPr id="326" name="Google Shape;326;p31"/>
          <p:cNvPicPr preferRelativeResize="0"/>
          <p:nvPr/>
        </p:nvPicPr>
        <p:blipFill rotWithShape="1">
          <a:blip r:embed="rId7">
            <a:alphaModFix/>
          </a:blip>
          <a:srcRect b="0" l="0" r="0" t="0"/>
          <a:stretch/>
        </p:blipFill>
        <p:spPr>
          <a:xfrm>
            <a:off x="2393614" y="1940515"/>
            <a:ext cx="606286" cy="316967"/>
          </a:xfrm>
          <a:prstGeom prst="rect">
            <a:avLst/>
          </a:prstGeom>
          <a:noFill/>
          <a:ln>
            <a:noFill/>
          </a:ln>
        </p:spPr>
      </p:pic>
      <p:pic>
        <p:nvPicPr>
          <p:cNvPr id="327" name="Google Shape;327;p31"/>
          <p:cNvPicPr preferRelativeResize="0"/>
          <p:nvPr/>
        </p:nvPicPr>
        <p:blipFill rotWithShape="1">
          <a:blip r:embed="rId8">
            <a:alphaModFix/>
          </a:blip>
          <a:srcRect b="0" l="0" r="0" t="0"/>
          <a:stretch/>
        </p:blipFill>
        <p:spPr>
          <a:xfrm>
            <a:off x="1799861" y="2271336"/>
            <a:ext cx="405951" cy="216314"/>
          </a:xfrm>
          <a:prstGeom prst="rect">
            <a:avLst/>
          </a:prstGeom>
          <a:noFill/>
          <a:ln>
            <a:noFill/>
          </a:ln>
        </p:spPr>
      </p:pic>
      <p:pic>
        <p:nvPicPr>
          <p:cNvPr id="328" name="Google Shape;328;p31"/>
          <p:cNvPicPr preferRelativeResize="0"/>
          <p:nvPr/>
        </p:nvPicPr>
        <p:blipFill rotWithShape="1">
          <a:blip r:embed="rId9">
            <a:alphaModFix/>
          </a:blip>
          <a:srcRect b="0" l="0" r="0" t="0"/>
          <a:stretch/>
        </p:blipFill>
        <p:spPr>
          <a:xfrm>
            <a:off x="2259116" y="2297494"/>
            <a:ext cx="701916" cy="241971"/>
          </a:xfrm>
          <a:prstGeom prst="rect">
            <a:avLst/>
          </a:prstGeom>
          <a:noFill/>
          <a:ln>
            <a:noFill/>
          </a:ln>
        </p:spPr>
      </p:pic>
      <p:pic>
        <p:nvPicPr>
          <p:cNvPr id="329" name="Google Shape;329;p31"/>
          <p:cNvPicPr preferRelativeResize="0"/>
          <p:nvPr/>
        </p:nvPicPr>
        <p:blipFill rotWithShape="1">
          <a:blip r:embed="rId10">
            <a:alphaModFix/>
          </a:blip>
          <a:srcRect b="37814" l="2268" r="3232" t="40187"/>
          <a:stretch/>
        </p:blipFill>
        <p:spPr>
          <a:xfrm>
            <a:off x="1058064" y="2594791"/>
            <a:ext cx="805661" cy="187544"/>
          </a:xfrm>
          <a:prstGeom prst="rect">
            <a:avLst/>
          </a:prstGeom>
          <a:noFill/>
          <a:ln>
            <a:noFill/>
          </a:ln>
        </p:spPr>
      </p:pic>
      <p:pic>
        <p:nvPicPr>
          <p:cNvPr id="330" name="Google Shape;330;p31"/>
          <p:cNvPicPr preferRelativeResize="0"/>
          <p:nvPr/>
        </p:nvPicPr>
        <p:blipFill rotWithShape="1">
          <a:blip r:embed="rId11">
            <a:alphaModFix/>
          </a:blip>
          <a:srcRect b="0" l="0" r="0" t="0"/>
          <a:stretch/>
        </p:blipFill>
        <p:spPr>
          <a:xfrm>
            <a:off x="2030109" y="2594791"/>
            <a:ext cx="920971" cy="156365"/>
          </a:xfrm>
          <a:prstGeom prst="rect">
            <a:avLst/>
          </a:prstGeom>
          <a:noFill/>
          <a:ln>
            <a:noFill/>
          </a:ln>
        </p:spPr>
      </p:pic>
      <p:pic>
        <p:nvPicPr>
          <p:cNvPr id="331" name="Google Shape;331;p31"/>
          <p:cNvPicPr preferRelativeResize="0"/>
          <p:nvPr/>
        </p:nvPicPr>
        <p:blipFill rotWithShape="1">
          <a:blip r:embed="rId12">
            <a:alphaModFix/>
          </a:blip>
          <a:srcRect b="0" l="0" r="0" t="0"/>
          <a:stretch/>
        </p:blipFill>
        <p:spPr>
          <a:xfrm>
            <a:off x="3521223" y="1984397"/>
            <a:ext cx="682270" cy="266485"/>
          </a:xfrm>
          <a:prstGeom prst="rect">
            <a:avLst/>
          </a:prstGeom>
          <a:noFill/>
          <a:ln>
            <a:noFill/>
          </a:ln>
        </p:spPr>
      </p:pic>
      <p:pic>
        <p:nvPicPr>
          <p:cNvPr id="332" name="Google Shape;332;p31"/>
          <p:cNvPicPr preferRelativeResize="0"/>
          <p:nvPr/>
        </p:nvPicPr>
        <p:blipFill rotWithShape="1">
          <a:blip r:embed="rId13">
            <a:alphaModFix/>
          </a:blip>
          <a:srcRect b="0" l="0" r="0" t="0"/>
          <a:stretch/>
        </p:blipFill>
        <p:spPr>
          <a:xfrm>
            <a:off x="4309704" y="1977082"/>
            <a:ext cx="682270" cy="253838"/>
          </a:xfrm>
          <a:prstGeom prst="rect">
            <a:avLst/>
          </a:prstGeom>
          <a:noFill/>
          <a:ln>
            <a:noFill/>
          </a:ln>
        </p:spPr>
      </p:pic>
      <p:pic>
        <p:nvPicPr>
          <p:cNvPr id="333" name="Google Shape;333;p31"/>
          <p:cNvPicPr preferRelativeResize="0"/>
          <p:nvPr/>
        </p:nvPicPr>
        <p:blipFill rotWithShape="1">
          <a:blip r:embed="rId14">
            <a:alphaModFix/>
          </a:blip>
          <a:srcRect b="0" l="0" r="0" t="0"/>
          <a:stretch/>
        </p:blipFill>
        <p:spPr>
          <a:xfrm>
            <a:off x="5072679" y="1964117"/>
            <a:ext cx="532092" cy="279765"/>
          </a:xfrm>
          <a:prstGeom prst="rect">
            <a:avLst/>
          </a:prstGeom>
          <a:noFill/>
          <a:ln>
            <a:noFill/>
          </a:ln>
        </p:spPr>
      </p:pic>
      <p:pic>
        <p:nvPicPr>
          <p:cNvPr id="334" name="Google Shape;334;p31"/>
          <p:cNvPicPr preferRelativeResize="0"/>
          <p:nvPr/>
        </p:nvPicPr>
        <p:blipFill rotWithShape="1">
          <a:blip r:embed="rId15">
            <a:alphaModFix/>
          </a:blip>
          <a:srcRect b="0" l="0" r="0" t="0"/>
          <a:stretch/>
        </p:blipFill>
        <p:spPr>
          <a:xfrm>
            <a:off x="3538768" y="2313373"/>
            <a:ext cx="1024594" cy="162445"/>
          </a:xfrm>
          <a:prstGeom prst="rect">
            <a:avLst/>
          </a:prstGeom>
          <a:noFill/>
          <a:ln>
            <a:noFill/>
          </a:ln>
        </p:spPr>
      </p:pic>
      <p:pic>
        <p:nvPicPr>
          <p:cNvPr id="335" name="Google Shape;335;p31"/>
          <p:cNvPicPr preferRelativeResize="0"/>
          <p:nvPr/>
        </p:nvPicPr>
        <p:blipFill rotWithShape="1">
          <a:blip r:embed="rId16">
            <a:alphaModFix/>
          </a:blip>
          <a:srcRect b="0" l="0" r="0" t="0"/>
          <a:stretch/>
        </p:blipFill>
        <p:spPr>
          <a:xfrm>
            <a:off x="4689183" y="2287574"/>
            <a:ext cx="928789" cy="214043"/>
          </a:xfrm>
          <a:prstGeom prst="rect">
            <a:avLst/>
          </a:prstGeom>
          <a:noFill/>
          <a:ln>
            <a:noFill/>
          </a:ln>
        </p:spPr>
      </p:pic>
      <p:pic>
        <p:nvPicPr>
          <p:cNvPr id="336" name="Google Shape;336;p31"/>
          <p:cNvPicPr preferRelativeResize="0"/>
          <p:nvPr/>
        </p:nvPicPr>
        <p:blipFill rotWithShape="1">
          <a:blip r:embed="rId17">
            <a:alphaModFix/>
          </a:blip>
          <a:srcRect b="0" l="0" r="0" t="0"/>
          <a:stretch/>
        </p:blipFill>
        <p:spPr>
          <a:xfrm>
            <a:off x="4640656" y="2585301"/>
            <a:ext cx="756782" cy="136554"/>
          </a:xfrm>
          <a:prstGeom prst="rect">
            <a:avLst/>
          </a:prstGeom>
          <a:noFill/>
          <a:ln>
            <a:noFill/>
          </a:ln>
        </p:spPr>
      </p:pic>
      <p:pic>
        <p:nvPicPr>
          <p:cNvPr id="337" name="Google Shape;337;p31"/>
          <p:cNvPicPr preferRelativeResize="0"/>
          <p:nvPr/>
        </p:nvPicPr>
        <p:blipFill rotWithShape="1">
          <a:blip r:embed="rId18">
            <a:alphaModFix/>
          </a:blip>
          <a:srcRect b="0" l="0" r="0" t="0"/>
          <a:stretch/>
        </p:blipFill>
        <p:spPr>
          <a:xfrm>
            <a:off x="3538785" y="2546564"/>
            <a:ext cx="935684" cy="214042"/>
          </a:xfrm>
          <a:prstGeom prst="rect">
            <a:avLst/>
          </a:prstGeom>
          <a:noFill/>
          <a:ln>
            <a:noFill/>
          </a:ln>
        </p:spPr>
      </p:pic>
      <p:pic>
        <p:nvPicPr>
          <p:cNvPr id="338" name="Google Shape;338;p31"/>
          <p:cNvPicPr preferRelativeResize="0"/>
          <p:nvPr/>
        </p:nvPicPr>
        <p:blipFill rotWithShape="1">
          <a:blip r:embed="rId19">
            <a:alphaModFix/>
          </a:blip>
          <a:srcRect b="10" l="23542" r="22953" t="-10"/>
          <a:stretch/>
        </p:blipFill>
        <p:spPr>
          <a:xfrm>
            <a:off x="7678266" y="1977079"/>
            <a:ext cx="443643" cy="466399"/>
          </a:xfrm>
          <a:prstGeom prst="rect">
            <a:avLst/>
          </a:prstGeom>
          <a:noFill/>
          <a:ln>
            <a:noFill/>
          </a:ln>
        </p:spPr>
      </p:pic>
      <p:pic>
        <p:nvPicPr>
          <p:cNvPr id="339" name="Google Shape;339;p31"/>
          <p:cNvPicPr preferRelativeResize="0"/>
          <p:nvPr/>
        </p:nvPicPr>
        <p:blipFill rotWithShape="1">
          <a:blip r:embed="rId20">
            <a:alphaModFix/>
          </a:blip>
          <a:srcRect b="0" l="0" r="0" t="0"/>
          <a:stretch/>
        </p:blipFill>
        <p:spPr>
          <a:xfrm>
            <a:off x="6685894" y="1999230"/>
            <a:ext cx="729079" cy="207901"/>
          </a:xfrm>
          <a:prstGeom prst="rect">
            <a:avLst/>
          </a:prstGeom>
          <a:noFill/>
          <a:ln>
            <a:noFill/>
          </a:ln>
        </p:spPr>
      </p:pic>
      <p:pic>
        <p:nvPicPr>
          <p:cNvPr id="340" name="Google Shape;340;p31"/>
          <p:cNvPicPr preferRelativeResize="0"/>
          <p:nvPr/>
        </p:nvPicPr>
        <p:blipFill rotWithShape="1">
          <a:blip r:embed="rId21">
            <a:alphaModFix/>
          </a:blip>
          <a:srcRect b="0" l="0" r="0" t="0"/>
          <a:stretch/>
        </p:blipFill>
        <p:spPr>
          <a:xfrm>
            <a:off x="7586467" y="2536769"/>
            <a:ext cx="660514" cy="119718"/>
          </a:xfrm>
          <a:prstGeom prst="rect">
            <a:avLst/>
          </a:prstGeom>
          <a:noFill/>
          <a:ln>
            <a:noFill/>
          </a:ln>
        </p:spPr>
      </p:pic>
      <p:pic>
        <p:nvPicPr>
          <p:cNvPr id="341" name="Google Shape;341;p31"/>
          <p:cNvPicPr preferRelativeResize="0"/>
          <p:nvPr/>
        </p:nvPicPr>
        <p:blipFill rotWithShape="1">
          <a:blip r:embed="rId22">
            <a:alphaModFix/>
          </a:blip>
          <a:srcRect b="21388" l="6969" r="7939" t="16018"/>
          <a:stretch/>
        </p:blipFill>
        <p:spPr>
          <a:xfrm>
            <a:off x="6127538" y="2372222"/>
            <a:ext cx="415151" cy="305360"/>
          </a:xfrm>
          <a:prstGeom prst="rect">
            <a:avLst/>
          </a:prstGeom>
          <a:noFill/>
          <a:ln>
            <a:noFill/>
          </a:ln>
        </p:spPr>
      </p:pic>
      <p:pic>
        <p:nvPicPr>
          <p:cNvPr id="342" name="Google Shape;342;p31"/>
          <p:cNvPicPr preferRelativeResize="0"/>
          <p:nvPr/>
        </p:nvPicPr>
        <p:blipFill rotWithShape="1">
          <a:blip r:embed="rId23">
            <a:alphaModFix/>
          </a:blip>
          <a:srcRect b="0" l="0" r="0" t="0"/>
          <a:stretch/>
        </p:blipFill>
        <p:spPr>
          <a:xfrm>
            <a:off x="6691959" y="2257760"/>
            <a:ext cx="716958" cy="135573"/>
          </a:xfrm>
          <a:prstGeom prst="rect">
            <a:avLst/>
          </a:prstGeom>
          <a:noFill/>
          <a:ln>
            <a:noFill/>
          </a:ln>
        </p:spPr>
      </p:pic>
      <p:pic>
        <p:nvPicPr>
          <p:cNvPr id="343" name="Google Shape;343;p31"/>
          <p:cNvPicPr preferRelativeResize="0"/>
          <p:nvPr/>
        </p:nvPicPr>
        <p:blipFill rotWithShape="1">
          <a:blip r:embed="rId24">
            <a:alphaModFix/>
          </a:blip>
          <a:srcRect b="8537" l="3901" r="4515" t="8254"/>
          <a:stretch/>
        </p:blipFill>
        <p:spPr>
          <a:xfrm>
            <a:off x="6151756" y="1977820"/>
            <a:ext cx="366725" cy="333150"/>
          </a:xfrm>
          <a:prstGeom prst="rect">
            <a:avLst/>
          </a:prstGeom>
          <a:noFill/>
          <a:ln>
            <a:noFill/>
          </a:ln>
        </p:spPr>
      </p:pic>
      <p:pic>
        <p:nvPicPr>
          <p:cNvPr id="344" name="Google Shape;344;p31"/>
          <p:cNvPicPr preferRelativeResize="0"/>
          <p:nvPr/>
        </p:nvPicPr>
        <p:blipFill rotWithShape="1">
          <a:blip r:embed="rId25">
            <a:alphaModFix/>
          </a:blip>
          <a:srcRect b="37573" l="0" r="0" t="37834"/>
          <a:stretch/>
        </p:blipFill>
        <p:spPr>
          <a:xfrm>
            <a:off x="6644787" y="2495255"/>
            <a:ext cx="811308" cy="199520"/>
          </a:xfrm>
          <a:prstGeom prst="rect">
            <a:avLst/>
          </a:prstGeom>
          <a:noFill/>
          <a:ln>
            <a:noFill/>
          </a:ln>
        </p:spPr>
      </p:pic>
      <p:pic>
        <p:nvPicPr>
          <p:cNvPr id="345" name="Google Shape;345;p31"/>
          <p:cNvPicPr preferRelativeResize="0"/>
          <p:nvPr/>
        </p:nvPicPr>
        <p:blipFill rotWithShape="1">
          <a:blip r:embed="rId26">
            <a:alphaModFix/>
          </a:blip>
          <a:srcRect b="0" l="0" r="0" t="0"/>
          <a:stretch/>
        </p:blipFill>
        <p:spPr>
          <a:xfrm>
            <a:off x="933030" y="3432237"/>
            <a:ext cx="729247" cy="264241"/>
          </a:xfrm>
          <a:prstGeom prst="rect">
            <a:avLst/>
          </a:prstGeom>
          <a:noFill/>
          <a:ln>
            <a:noFill/>
          </a:ln>
        </p:spPr>
      </p:pic>
      <p:pic>
        <p:nvPicPr>
          <p:cNvPr id="346" name="Google Shape;346;p31"/>
          <p:cNvPicPr preferRelativeResize="0"/>
          <p:nvPr/>
        </p:nvPicPr>
        <p:blipFill rotWithShape="1">
          <a:blip r:embed="rId27">
            <a:alphaModFix/>
          </a:blip>
          <a:srcRect b="0" l="0" r="0" t="0"/>
          <a:stretch/>
        </p:blipFill>
        <p:spPr>
          <a:xfrm>
            <a:off x="1790882" y="3436859"/>
            <a:ext cx="1037831" cy="253233"/>
          </a:xfrm>
          <a:prstGeom prst="rect">
            <a:avLst/>
          </a:prstGeom>
          <a:noFill/>
          <a:ln>
            <a:noFill/>
          </a:ln>
        </p:spPr>
      </p:pic>
      <p:pic>
        <p:nvPicPr>
          <p:cNvPr id="347" name="Google Shape;347;p31"/>
          <p:cNvPicPr preferRelativeResize="0"/>
          <p:nvPr/>
        </p:nvPicPr>
        <p:blipFill rotWithShape="1">
          <a:blip r:embed="rId28">
            <a:alphaModFix/>
          </a:blip>
          <a:srcRect b="0" l="0" r="0" t="0"/>
          <a:stretch/>
        </p:blipFill>
        <p:spPr>
          <a:xfrm>
            <a:off x="933030" y="3799445"/>
            <a:ext cx="1177411" cy="283315"/>
          </a:xfrm>
          <a:prstGeom prst="rect">
            <a:avLst/>
          </a:prstGeom>
          <a:noFill/>
          <a:ln>
            <a:noFill/>
          </a:ln>
        </p:spPr>
      </p:pic>
      <p:pic>
        <p:nvPicPr>
          <p:cNvPr id="348" name="Google Shape;348;p31"/>
          <p:cNvPicPr preferRelativeResize="0"/>
          <p:nvPr/>
        </p:nvPicPr>
        <p:blipFill rotWithShape="1">
          <a:blip r:embed="rId29">
            <a:alphaModFix/>
          </a:blip>
          <a:srcRect b="0" l="0" r="0" t="0"/>
          <a:stretch/>
        </p:blipFill>
        <p:spPr>
          <a:xfrm>
            <a:off x="2201294" y="3856238"/>
            <a:ext cx="801038" cy="169751"/>
          </a:xfrm>
          <a:prstGeom prst="rect">
            <a:avLst/>
          </a:prstGeom>
          <a:noFill/>
          <a:ln>
            <a:noFill/>
          </a:ln>
        </p:spPr>
      </p:pic>
      <p:pic>
        <p:nvPicPr>
          <p:cNvPr id="349" name="Google Shape;349;p31"/>
          <p:cNvPicPr preferRelativeResize="0"/>
          <p:nvPr/>
        </p:nvPicPr>
        <p:blipFill rotWithShape="1">
          <a:blip r:embed="rId30">
            <a:alphaModFix/>
          </a:blip>
          <a:srcRect b="0" l="0" r="0" t="0"/>
          <a:stretch/>
        </p:blipFill>
        <p:spPr>
          <a:xfrm>
            <a:off x="3469343" y="3407103"/>
            <a:ext cx="690912" cy="176649"/>
          </a:xfrm>
          <a:prstGeom prst="rect">
            <a:avLst/>
          </a:prstGeom>
          <a:noFill/>
          <a:ln>
            <a:noFill/>
          </a:ln>
        </p:spPr>
      </p:pic>
      <p:pic>
        <p:nvPicPr>
          <p:cNvPr id="350" name="Google Shape;350;p31"/>
          <p:cNvPicPr preferRelativeResize="0"/>
          <p:nvPr/>
        </p:nvPicPr>
        <p:blipFill rotWithShape="1">
          <a:blip r:embed="rId31">
            <a:alphaModFix/>
          </a:blip>
          <a:srcRect b="0" l="0" r="0" t="0"/>
          <a:stretch/>
        </p:blipFill>
        <p:spPr>
          <a:xfrm>
            <a:off x="4222011" y="3408217"/>
            <a:ext cx="699769" cy="174405"/>
          </a:xfrm>
          <a:prstGeom prst="rect">
            <a:avLst/>
          </a:prstGeom>
          <a:noFill/>
          <a:ln>
            <a:noFill/>
          </a:ln>
        </p:spPr>
      </p:pic>
      <p:pic>
        <p:nvPicPr>
          <p:cNvPr id="351" name="Google Shape;351;p31"/>
          <p:cNvPicPr preferRelativeResize="0"/>
          <p:nvPr/>
        </p:nvPicPr>
        <p:blipFill rotWithShape="1">
          <a:blip r:embed="rId32">
            <a:alphaModFix/>
          </a:blip>
          <a:srcRect b="0" l="0" r="0" t="0"/>
          <a:stretch/>
        </p:blipFill>
        <p:spPr>
          <a:xfrm>
            <a:off x="4990892" y="3378107"/>
            <a:ext cx="694909" cy="212548"/>
          </a:xfrm>
          <a:prstGeom prst="rect">
            <a:avLst/>
          </a:prstGeom>
          <a:noFill/>
          <a:ln>
            <a:noFill/>
          </a:ln>
        </p:spPr>
      </p:pic>
      <p:pic>
        <p:nvPicPr>
          <p:cNvPr id="352" name="Google Shape;352;p31"/>
          <p:cNvPicPr preferRelativeResize="0"/>
          <p:nvPr/>
        </p:nvPicPr>
        <p:blipFill rotWithShape="1">
          <a:blip r:embed="rId33">
            <a:alphaModFix/>
          </a:blip>
          <a:srcRect b="51161" l="-624" r="0" t="-784"/>
          <a:stretch/>
        </p:blipFill>
        <p:spPr>
          <a:xfrm>
            <a:off x="3463642" y="3661158"/>
            <a:ext cx="704302" cy="123469"/>
          </a:xfrm>
          <a:prstGeom prst="rect">
            <a:avLst/>
          </a:prstGeom>
          <a:noFill/>
          <a:ln>
            <a:noFill/>
          </a:ln>
        </p:spPr>
      </p:pic>
      <p:pic>
        <p:nvPicPr>
          <p:cNvPr id="353" name="Google Shape;353;p31"/>
          <p:cNvPicPr preferRelativeResize="0"/>
          <p:nvPr/>
        </p:nvPicPr>
        <p:blipFill rotWithShape="1">
          <a:blip r:embed="rId34">
            <a:alphaModFix/>
          </a:blip>
          <a:srcRect b="14613" l="5819" r="3123" t="19856"/>
          <a:stretch/>
        </p:blipFill>
        <p:spPr>
          <a:xfrm>
            <a:off x="4222002" y="3661146"/>
            <a:ext cx="747742" cy="165358"/>
          </a:xfrm>
          <a:prstGeom prst="rect">
            <a:avLst/>
          </a:prstGeom>
          <a:noFill/>
          <a:ln>
            <a:noFill/>
          </a:ln>
        </p:spPr>
      </p:pic>
      <p:pic>
        <p:nvPicPr>
          <p:cNvPr id="354" name="Google Shape;354;p31"/>
          <p:cNvPicPr preferRelativeResize="0"/>
          <p:nvPr/>
        </p:nvPicPr>
        <p:blipFill rotWithShape="1">
          <a:blip r:embed="rId35">
            <a:alphaModFix/>
          </a:blip>
          <a:srcRect b="20058" l="0" r="0" t="19196"/>
          <a:stretch/>
        </p:blipFill>
        <p:spPr>
          <a:xfrm>
            <a:off x="5068262" y="3644570"/>
            <a:ext cx="580463" cy="184292"/>
          </a:xfrm>
          <a:prstGeom prst="rect">
            <a:avLst/>
          </a:prstGeom>
          <a:noFill/>
          <a:ln>
            <a:noFill/>
          </a:ln>
        </p:spPr>
      </p:pic>
      <p:pic>
        <p:nvPicPr>
          <p:cNvPr id="355" name="Google Shape;355;p31"/>
          <p:cNvPicPr preferRelativeResize="0"/>
          <p:nvPr/>
        </p:nvPicPr>
        <p:blipFill rotWithShape="1">
          <a:blip r:embed="rId36">
            <a:alphaModFix/>
          </a:blip>
          <a:srcRect b="37764" l="0" r="0" t="38972"/>
          <a:stretch/>
        </p:blipFill>
        <p:spPr>
          <a:xfrm>
            <a:off x="3469340" y="3925417"/>
            <a:ext cx="595792" cy="138604"/>
          </a:xfrm>
          <a:prstGeom prst="rect">
            <a:avLst/>
          </a:prstGeom>
          <a:noFill/>
          <a:ln>
            <a:noFill/>
          </a:ln>
        </p:spPr>
      </p:pic>
      <p:pic>
        <p:nvPicPr>
          <p:cNvPr id="356" name="Google Shape;356;p31"/>
          <p:cNvPicPr preferRelativeResize="0"/>
          <p:nvPr/>
        </p:nvPicPr>
        <p:blipFill rotWithShape="1">
          <a:blip r:embed="rId37">
            <a:alphaModFix/>
          </a:blip>
          <a:srcRect b="22704" l="0" r="0" t="23084"/>
          <a:stretch/>
        </p:blipFill>
        <p:spPr>
          <a:xfrm>
            <a:off x="4231234" y="3882792"/>
            <a:ext cx="845011" cy="196070"/>
          </a:xfrm>
          <a:prstGeom prst="rect">
            <a:avLst/>
          </a:prstGeom>
          <a:noFill/>
          <a:ln>
            <a:noFill/>
          </a:ln>
        </p:spPr>
      </p:pic>
      <p:pic>
        <p:nvPicPr>
          <p:cNvPr id="357" name="Google Shape;357;p31"/>
          <p:cNvPicPr preferRelativeResize="0"/>
          <p:nvPr/>
        </p:nvPicPr>
        <p:blipFill rotWithShape="1">
          <a:blip r:embed="rId38">
            <a:alphaModFix/>
          </a:blip>
          <a:srcRect b="30771" l="25863" r="25163" t="30371"/>
          <a:stretch/>
        </p:blipFill>
        <p:spPr>
          <a:xfrm>
            <a:off x="6064601" y="3385017"/>
            <a:ext cx="927728" cy="213137"/>
          </a:xfrm>
          <a:prstGeom prst="rect">
            <a:avLst/>
          </a:prstGeom>
          <a:noFill/>
          <a:ln>
            <a:noFill/>
          </a:ln>
        </p:spPr>
      </p:pic>
      <p:pic>
        <p:nvPicPr>
          <p:cNvPr id="358" name="Google Shape;358;p31"/>
          <p:cNvPicPr preferRelativeResize="0"/>
          <p:nvPr/>
        </p:nvPicPr>
        <p:blipFill rotWithShape="1">
          <a:blip r:embed="rId39">
            <a:alphaModFix/>
          </a:blip>
          <a:srcRect b="20333" l="4272" r="5016" t="20161"/>
          <a:stretch/>
        </p:blipFill>
        <p:spPr>
          <a:xfrm>
            <a:off x="7167859" y="3392678"/>
            <a:ext cx="996366" cy="197824"/>
          </a:xfrm>
          <a:prstGeom prst="rect">
            <a:avLst/>
          </a:prstGeom>
          <a:noFill/>
          <a:ln>
            <a:noFill/>
          </a:ln>
        </p:spPr>
      </p:pic>
      <p:pic>
        <p:nvPicPr>
          <p:cNvPr id="359" name="Google Shape;359;p31"/>
          <p:cNvPicPr preferRelativeResize="0"/>
          <p:nvPr/>
        </p:nvPicPr>
        <p:blipFill rotWithShape="1">
          <a:blip r:embed="rId40">
            <a:alphaModFix/>
          </a:blip>
          <a:srcRect b="18913" l="3908" r="3491" t="15983"/>
          <a:stretch/>
        </p:blipFill>
        <p:spPr>
          <a:xfrm>
            <a:off x="6061666" y="3715264"/>
            <a:ext cx="1090147" cy="231746"/>
          </a:xfrm>
          <a:prstGeom prst="rect">
            <a:avLst/>
          </a:prstGeom>
          <a:noFill/>
          <a:ln>
            <a:noFill/>
          </a:ln>
        </p:spPr>
      </p:pic>
      <p:pic>
        <p:nvPicPr>
          <p:cNvPr id="360" name="Google Shape;360;p31"/>
          <p:cNvPicPr preferRelativeResize="0"/>
          <p:nvPr/>
        </p:nvPicPr>
        <p:blipFill rotWithShape="1">
          <a:blip r:embed="rId41">
            <a:alphaModFix/>
          </a:blip>
          <a:srcRect b="0" l="0" r="0" t="0"/>
          <a:stretch/>
        </p:blipFill>
        <p:spPr>
          <a:xfrm>
            <a:off x="7201588" y="3673886"/>
            <a:ext cx="1028978" cy="314507"/>
          </a:xfrm>
          <a:prstGeom prst="rect">
            <a:avLst/>
          </a:prstGeom>
          <a:noFill/>
          <a:ln>
            <a:noFill/>
          </a:ln>
        </p:spPr>
      </p:pic>
      <p:pic>
        <p:nvPicPr>
          <p:cNvPr id="361" name="Google Shape;361;p31"/>
          <p:cNvPicPr preferRelativeResize="0"/>
          <p:nvPr/>
        </p:nvPicPr>
        <p:blipFill>
          <a:blip r:embed="rId42">
            <a:alphaModFix/>
          </a:blip>
          <a:stretch>
            <a:fillRect/>
          </a:stretch>
        </p:blipFill>
        <p:spPr>
          <a:xfrm>
            <a:off x="1029575" y="2264825"/>
            <a:ext cx="716977" cy="229305"/>
          </a:xfrm>
          <a:prstGeom prst="rect">
            <a:avLst/>
          </a:prstGeom>
          <a:noFill/>
          <a:ln>
            <a:noFill/>
          </a:ln>
        </p:spPr>
      </p:pic>
      <p:pic>
        <p:nvPicPr>
          <p:cNvPr id="362" name="Google Shape;362;p31"/>
          <p:cNvPicPr preferRelativeResize="0"/>
          <p:nvPr/>
        </p:nvPicPr>
        <p:blipFill>
          <a:blip r:embed="rId43">
            <a:alphaModFix/>
          </a:blip>
          <a:stretch>
            <a:fillRect/>
          </a:stretch>
        </p:blipFill>
        <p:spPr>
          <a:xfrm>
            <a:off x="5151579" y="3915918"/>
            <a:ext cx="497150" cy="157605"/>
          </a:xfrm>
          <a:prstGeom prst="rect">
            <a:avLst/>
          </a:prstGeom>
          <a:noFill/>
          <a:ln>
            <a:noFill/>
          </a:ln>
        </p:spPr>
      </p:pic>
      <p:pic>
        <p:nvPicPr>
          <p:cNvPr id="363" name="Google Shape;363;p31"/>
          <p:cNvPicPr preferRelativeResize="0"/>
          <p:nvPr/>
        </p:nvPicPr>
        <p:blipFill rotWithShape="1">
          <a:blip r:embed="rId44">
            <a:alphaModFix/>
          </a:blip>
          <a:srcRect b="32451" l="0" r="0" t="32455"/>
          <a:stretch/>
        </p:blipFill>
        <p:spPr>
          <a:xfrm>
            <a:off x="6522975" y="4026000"/>
            <a:ext cx="1054917" cy="2079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68" name="Shape 368"/>
        <p:cNvGrpSpPr/>
        <p:nvPr/>
      </p:nvGrpSpPr>
      <p:grpSpPr>
        <a:xfrm>
          <a:off x="0" y="0"/>
          <a:ext cx="0" cy="0"/>
          <a:chOff x="0" y="0"/>
          <a:chExt cx="0" cy="0"/>
        </a:xfrm>
      </p:grpSpPr>
      <p:pic>
        <p:nvPicPr>
          <p:cNvPr descr="preencoded.png" id="369" name="Google Shape;369;p32"/>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370" name="Google Shape;370;p32"/>
          <p:cNvPicPr preferRelativeResize="0"/>
          <p:nvPr/>
        </p:nvPicPr>
        <p:blipFill rotWithShape="1">
          <a:blip r:embed="rId4">
            <a:alphaModFix/>
          </a:blip>
          <a:srcRect b="0" l="49741" r="0" t="0"/>
          <a:stretch/>
        </p:blipFill>
        <p:spPr>
          <a:xfrm>
            <a:off x="4521254" y="1941325"/>
            <a:ext cx="4049976" cy="2200275"/>
          </a:xfrm>
          <a:prstGeom prst="rect">
            <a:avLst/>
          </a:prstGeom>
          <a:noFill/>
          <a:ln>
            <a:noFill/>
          </a:ln>
        </p:spPr>
      </p:pic>
      <p:sp>
        <p:nvSpPr>
          <p:cNvPr id="371" name="Google Shape;371;p32"/>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AGENDA UNA REUNIÓN </a:t>
            </a:r>
            <a:endParaRPr b="0" i="0" sz="1100" u="none" cap="none" strike="noStrike">
              <a:solidFill>
                <a:srgbClr val="000000"/>
              </a:solidFill>
              <a:latin typeface="Calibri"/>
              <a:ea typeface="Calibri"/>
              <a:cs typeface="Calibri"/>
              <a:sym typeface="Calibri"/>
            </a:endParaRPr>
          </a:p>
        </p:txBody>
      </p:sp>
      <p:sp>
        <p:nvSpPr>
          <p:cNvPr id="372" name="Google Shape;372;p32"/>
          <p:cNvSpPr/>
          <p:nvPr/>
        </p:nvSpPr>
        <p:spPr>
          <a:xfrm>
            <a:off x="571500" y="1238175"/>
            <a:ext cx="80010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rgbClr val="000000"/>
              </a:solidFill>
              <a:latin typeface="Calibri"/>
              <a:ea typeface="Calibri"/>
              <a:cs typeface="Calibri"/>
              <a:sym typeface="Calibri"/>
            </a:endParaRPr>
          </a:p>
        </p:txBody>
      </p:sp>
      <p:sp>
        <p:nvSpPr>
          <p:cNvPr id="373" name="Google Shape;373;p32"/>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D5BFF"/>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00"/>
              </a:solidFill>
              <a:latin typeface="Calibri"/>
              <a:ea typeface="Calibri"/>
              <a:cs typeface="Calibri"/>
              <a:sym typeface="Calibri"/>
            </a:endParaRPr>
          </a:p>
        </p:txBody>
      </p:sp>
      <p:sp>
        <p:nvSpPr>
          <p:cNvPr id="374" name="Google Shape;374;p32"/>
          <p:cNvSpPr/>
          <p:nvPr/>
        </p:nvSpPr>
        <p:spPr>
          <a:xfrm>
            <a:off x="521843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Escríbenos </a:t>
            </a:r>
            <a:endParaRPr b="0" i="0" sz="1100" u="none" cap="none" strike="noStrike">
              <a:solidFill>
                <a:srgbClr val="000000"/>
              </a:solidFill>
              <a:latin typeface="Calibri"/>
              <a:ea typeface="Calibri"/>
              <a:cs typeface="Calibri"/>
              <a:sym typeface="Calibri"/>
            </a:endParaRPr>
          </a:p>
        </p:txBody>
      </p:sp>
      <p:sp>
        <p:nvSpPr>
          <p:cNvPr id="375" name="Google Shape;375;p32"/>
          <p:cNvSpPr/>
          <p:nvPr/>
        </p:nvSpPr>
        <p:spPr>
          <a:xfrm>
            <a:off x="521843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rgbClr val="000000"/>
              </a:solidFill>
              <a:latin typeface="Calibri"/>
              <a:ea typeface="Calibri"/>
              <a:cs typeface="Calibri"/>
              <a:sym typeface="Calibri"/>
            </a:endParaRPr>
          </a:p>
        </p:txBody>
      </p:sp>
      <p:sp>
        <p:nvSpPr>
          <p:cNvPr id="376" name="Google Shape;376;p32"/>
          <p:cNvSpPr/>
          <p:nvPr/>
        </p:nvSpPr>
        <p:spPr>
          <a:xfrm>
            <a:off x="521843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Visítanos </a:t>
            </a:r>
            <a:endParaRPr b="0" i="0" sz="1100" u="none" cap="none" strike="noStrike">
              <a:solidFill>
                <a:srgbClr val="000000"/>
              </a:solidFill>
              <a:latin typeface="Calibri"/>
              <a:ea typeface="Calibri"/>
              <a:cs typeface="Calibri"/>
              <a:sym typeface="Calibri"/>
            </a:endParaRPr>
          </a:p>
        </p:txBody>
      </p:sp>
      <p:sp>
        <p:nvSpPr>
          <p:cNvPr id="377" name="Google Shape;377;p32"/>
          <p:cNvSpPr/>
          <p:nvPr/>
        </p:nvSpPr>
        <p:spPr>
          <a:xfrm>
            <a:off x="521843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rgbClr val="000000"/>
              </a:solidFill>
              <a:latin typeface="Calibri"/>
              <a:ea typeface="Calibri"/>
              <a:cs typeface="Calibri"/>
              <a:sym typeface="Calibri"/>
            </a:endParaRPr>
          </a:p>
        </p:txBody>
      </p:sp>
      <p:sp>
        <p:nvSpPr>
          <p:cNvPr id="378" name="Google Shape;378;p32"/>
          <p:cNvSpPr/>
          <p:nvPr/>
        </p:nvSpPr>
        <p:spPr>
          <a:xfrm>
            <a:off x="521843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Llámanos </a:t>
            </a:r>
            <a:endParaRPr b="0" i="0" sz="1100" u="none" cap="none" strike="noStrike">
              <a:solidFill>
                <a:srgbClr val="000000"/>
              </a:solidFill>
              <a:latin typeface="Calibri"/>
              <a:ea typeface="Calibri"/>
              <a:cs typeface="Calibri"/>
              <a:sym typeface="Calibri"/>
            </a:endParaRPr>
          </a:p>
        </p:txBody>
      </p:sp>
      <p:sp>
        <p:nvSpPr>
          <p:cNvPr id="379" name="Google Shape;379;p32"/>
          <p:cNvSpPr/>
          <p:nvPr/>
        </p:nvSpPr>
        <p:spPr>
          <a:xfrm>
            <a:off x="521843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rgbClr val="000000"/>
              </a:solidFill>
              <a:latin typeface="Calibri"/>
              <a:ea typeface="Calibri"/>
              <a:cs typeface="Calibri"/>
              <a:sym typeface="Calibri"/>
            </a:endParaRPr>
          </a:p>
        </p:txBody>
      </p:sp>
      <p:pic>
        <p:nvPicPr>
          <p:cNvPr descr="preencoded.png" id="380" name="Google Shape;380;p32"/>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381" name="Google Shape;381;p32"/>
          <p:cNvSpPr txBox="1"/>
          <p:nvPr/>
        </p:nvSpPr>
        <p:spPr>
          <a:xfrm>
            <a:off x="1188425" y="3474364"/>
            <a:ext cx="2962800" cy="5121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1600"/>
              </a:spcAft>
              <a:buClr>
                <a:srgbClr val="000000"/>
              </a:buClr>
              <a:buSzPts val="1200"/>
              <a:buFont typeface="Arial"/>
              <a:buNone/>
            </a:pPr>
            <a:r>
              <a:rPr b="1" i="0" lang="en-US" sz="1200" u="none" cap="none" strike="noStrike">
                <a:solidFill>
                  <a:srgbClr val="000033"/>
                </a:solidFill>
                <a:latin typeface="Montserrat"/>
                <a:ea typeface="Montserrat"/>
                <a:cs typeface="Montserrat"/>
                <a:sym typeface="Montserrat"/>
              </a:rPr>
              <a:t>Agenda una</a:t>
            </a:r>
            <a:r>
              <a:rPr b="1" i="0" lang="en-US" sz="1200" u="none" cap="none" strike="noStrike">
                <a:solidFill>
                  <a:srgbClr val="FFFFFF"/>
                </a:solidFill>
                <a:latin typeface="Montserrat"/>
                <a:ea typeface="Montserrat"/>
                <a:cs typeface="Montserrat"/>
                <a:sym typeface="Montserrat"/>
              </a:rPr>
              <a:t> </a:t>
            </a:r>
            <a:r>
              <a:rPr b="1" i="0" lang="en-US" sz="1200" u="sng" cap="none" strike="noStrike">
                <a:solidFill>
                  <a:srgbClr val="2D5BFF"/>
                </a:solidFill>
                <a:latin typeface="Montserrat"/>
                <a:ea typeface="Montserrat"/>
                <a:cs typeface="Montserrat"/>
                <a:sym typeface="Montserrat"/>
                <a:hlinkClick r:id="rId5">
                  <a:extLst>
                    <a:ext uri="{A12FA001-AC4F-418D-AE19-62706E023703}">
                      <ahyp:hlinkClr val="tx"/>
                    </a:ext>
                  </a:extLst>
                </a:hlinkClick>
              </a:rPr>
              <a:t>reunión</a:t>
            </a:r>
            <a:r>
              <a:rPr b="1" i="0" lang="en-US" sz="1200" u="none" cap="none" strike="noStrike">
                <a:solidFill>
                  <a:srgbClr val="FFFFFF"/>
                </a:solidFill>
                <a:latin typeface="Montserrat"/>
                <a:ea typeface="Montserrat"/>
                <a:cs typeface="Montserrat"/>
                <a:sym typeface="Montserrat"/>
              </a:rPr>
              <a:t> </a:t>
            </a:r>
            <a:r>
              <a:rPr b="1" i="0" lang="en-US" sz="1200" u="none" cap="none" strike="noStrike">
                <a:solidFill>
                  <a:srgbClr val="000033"/>
                </a:solidFill>
                <a:latin typeface="Montserrat"/>
                <a:ea typeface="Montserrat"/>
                <a:cs typeface="Montserrat"/>
                <a:sym typeface="Montserrat"/>
              </a:rPr>
              <a:t>con nosotros</a:t>
            </a:r>
            <a:endParaRPr b="1" i="0" sz="1200" u="none" cap="none" strike="noStrike">
              <a:solidFill>
                <a:srgbClr val="000033"/>
              </a:solidFill>
              <a:latin typeface="Montserrat"/>
              <a:ea typeface="Montserrat"/>
              <a:cs typeface="Montserrat"/>
              <a:sym typeface="Montserrat"/>
            </a:endParaRPr>
          </a:p>
        </p:txBody>
      </p:sp>
      <p:pic>
        <p:nvPicPr>
          <p:cNvPr id="382" name="Google Shape;382;p32" title="Screenshot 2025-10-27 at 12.16.38 PM.png"/>
          <p:cNvPicPr preferRelativeResize="0"/>
          <p:nvPr/>
        </p:nvPicPr>
        <p:blipFill rotWithShape="1">
          <a:blip r:embed="rId6">
            <a:alphaModFix/>
          </a:blip>
          <a:srcRect b="0" l="0" r="0" t="0"/>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