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5143500" cy="9144000"/>
  <p:embeddedFontLst>
    <p:embeddedFont>
      <p:font typeface="Montserrat SemiBold"/>
      <p:regular r:id="rId27"/>
      <p:bold r:id="rId28"/>
      <p:italic r:id="rId29"/>
      <p:boldItalic r:id="rId30"/>
    </p:embeddedFont>
    <p:embeddedFont>
      <p:font typeface="Montserrat"/>
      <p:regular r:id="rId31"/>
      <p:bold r:id="rId32"/>
      <p:italic r:id="rId33"/>
      <p:boldItalic r:id="rId34"/>
    </p:embeddedFont>
    <p:embeddedFont>
      <p:font typeface="Montserrat Black"/>
      <p:bold r:id="rId35"/>
      <p:boldItalic r:id="rId36"/>
    </p:embeddedFont>
    <p:embeddedFont>
      <p:font typeface="Montserrat Medium"/>
      <p:regular r:id="rId37"/>
      <p:bold r:id="rId38"/>
      <p:italic r:id="rId39"/>
      <p:boldItalic r:id="rId40"/>
    </p:embeddedFont>
    <p:embeddedFont>
      <p:font typeface="Montserrat ExtraBold"/>
      <p:bold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ilw0kP/K908LLneGjmi3t8XvVc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A64D60-A4E0-42B9-97FA-79E353F5EF75}">
  <a:tblStyle styleId="{A6A64D60-A4E0-42B9-97FA-79E353F5EF7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MontserratMedium-boldItalic.fntdata"/><Relationship Id="rId20" Type="http://schemas.openxmlformats.org/officeDocument/2006/relationships/slide" Target="slides/slide15.xml"/><Relationship Id="rId42" Type="http://schemas.openxmlformats.org/officeDocument/2006/relationships/font" Target="fonts/MontserratExtraBold-boldItalic.fntdata"/><Relationship Id="rId41" Type="http://schemas.openxmlformats.org/officeDocument/2006/relationships/font" Target="fonts/MontserratExtraBold-bold.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MontserratSemiBold-bold.fntdata"/><Relationship Id="rId27" Type="http://schemas.openxmlformats.org/officeDocument/2006/relationships/font" Target="fonts/MontserratSemiBol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Semi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regular.fntdata"/><Relationship Id="rId30" Type="http://schemas.openxmlformats.org/officeDocument/2006/relationships/font" Target="fonts/MontserratSemiBold-boldItalic.fntdata"/><Relationship Id="rId11" Type="http://schemas.openxmlformats.org/officeDocument/2006/relationships/slide" Target="slides/slide6.xml"/><Relationship Id="rId33" Type="http://schemas.openxmlformats.org/officeDocument/2006/relationships/font" Target="fonts/Montserrat-italic.fntdata"/><Relationship Id="rId10" Type="http://schemas.openxmlformats.org/officeDocument/2006/relationships/slide" Target="slides/slide5.xml"/><Relationship Id="rId32" Type="http://schemas.openxmlformats.org/officeDocument/2006/relationships/font" Target="fonts/Montserrat-bold.fntdata"/><Relationship Id="rId13" Type="http://schemas.openxmlformats.org/officeDocument/2006/relationships/slide" Target="slides/slide8.xml"/><Relationship Id="rId35" Type="http://schemas.openxmlformats.org/officeDocument/2006/relationships/font" Target="fonts/MontserratBlack-bold.fntdata"/><Relationship Id="rId12" Type="http://schemas.openxmlformats.org/officeDocument/2006/relationships/slide" Target="slides/slide7.xml"/><Relationship Id="rId34" Type="http://schemas.openxmlformats.org/officeDocument/2006/relationships/font" Target="fonts/Montserrat-boldItalic.fntdata"/><Relationship Id="rId15" Type="http://schemas.openxmlformats.org/officeDocument/2006/relationships/slide" Target="slides/slide10.xml"/><Relationship Id="rId37" Type="http://schemas.openxmlformats.org/officeDocument/2006/relationships/font" Target="fonts/MontserratMedium-regular.fntdata"/><Relationship Id="rId14" Type="http://schemas.openxmlformats.org/officeDocument/2006/relationships/slide" Target="slides/slide9.xml"/><Relationship Id="rId36" Type="http://schemas.openxmlformats.org/officeDocument/2006/relationships/font" Target="fonts/MontserratBlack-boldItalic.fntdata"/><Relationship Id="rId17" Type="http://schemas.openxmlformats.org/officeDocument/2006/relationships/slide" Target="slides/slide12.xml"/><Relationship Id="rId39" Type="http://schemas.openxmlformats.org/officeDocument/2006/relationships/font" Target="fonts/MontserratMedium-italic.fntdata"/><Relationship Id="rId16" Type="http://schemas.openxmlformats.org/officeDocument/2006/relationships/slide" Target="slides/slide11.xml"/><Relationship Id="rId38" Type="http://schemas.openxmlformats.org/officeDocument/2006/relationships/font" Target="fonts/MontserratMedium-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g3fb8e08d9d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 name="Google Shape;16;g3fb8e08d9d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L01 · PORTADA DE MARCA — Primera slide de credenciales. No lleva nombre de cliente. - PLANTILLA FIJA</a:t>
            </a:r>
            <a:endParaRPr/>
          </a:p>
        </p:txBody>
      </p:sp>
      <p:sp>
        <p:nvSpPr>
          <p:cNvPr id="17" name="Google Shape;17;g3fb8e08d9d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g3fb8e08d9db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g3fb8e08d9db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L02 · PORTADA DE PROPUESTA — Reemplazar servicio, área, cliente y mes. El mes se escribe con inicial mayúscula. - PLANTILLA FIJA</a:t>
            </a:r>
            <a:endParaRPr/>
          </a:p>
        </p:txBody>
      </p:sp>
      <p:sp>
        <p:nvSpPr>
          <p:cNvPr id="27" name="Google Shape;27;g3fb8e08d9db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3fb8e08d9db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g3fb8e08d9db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 name="Google Shape;38;g3fb8e08d9db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fb8e08d9db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g3fb8e08d9db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 name="Google Shape;58;g3fb8e08d9db_0_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fb8e08d9db_0_8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g3fb8e08d9db_0_8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g3fb8e08d9db_0_8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b8e08d9db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g3fb8e08d9db_0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 name="Google Shape;78;g3fb8e08d9db_0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b8e08d9db_0_8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g3fb8e08d9db_0_8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g3fb8e08d9db_0_8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b8e08d9db_0_7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fb8e08d9db_0_7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g3fb8e08d9db_0_7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b8e08d9db_0_5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fb8e08d9db_0_5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fb8e08d9db_0_5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b8e08d9db_0_7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fb8e08d9db_0_7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fb8e08d9db_0_7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b8e08d9db_0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fb8e08d9db_0_1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g3fb8e08d9db_0_1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b8e08d9db_0_906: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fb8e08d9db_0_906: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193" name="Google Shape;193;g3fb8e08d9db_0_906: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b8e08d9db_0_145: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3fb8e08d9db_0_145: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205" name="Google Shape;205;g3fb8e08d9db_0_145: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b8e08d9db_0_167: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fb8e08d9db_0_167: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227" name="Google Shape;227;g3fb8e08d9db_0_167: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b8e08d9db_0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fb8e08d9db_0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g3fb8e08d9db_0_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b8e08d9db_0_194: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3fb8e08d9db_0_194: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256" name="Google Shape;256;g3fb8e08d9db_0_194: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b8e08d9db_0_207: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3fb8e08d9db_0_207: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fb8e08d9db_0_218: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g3fb8e08d9db_0_218: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281" name="Google Shape;281;g3fb8e08d9db_0_218: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b8e08d9db_0_237: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g3fb8e08d9db_0_237: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298" name="Google Shape;298;g3fb8e08d9db_0_237: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fb8e08d9db_0_256: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g3fb8e08d9db_0_256: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315" name="Google Shape;315;g3fb8e08d9db_0_256: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b8e08d9db_0_317: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g3fb8e08d9db_0_317: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374" name="Google Shape;374;g3fb8e08d9db_0_317: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gradFill>
          <a:gsLst>
            <a:gs pos="0">
              <a:schemeClr val="lt1"/>
            </a:gs>
            <a:gs pos="100000">
              <a:srgbClr val="EEF3FF"/>
            </a:gs>
          </a:gsLst>
          <a:lin ang="16198662" scaled="0"/>
        </a:gradFill>
      </p:bgPr>
    </p:bg>
    <p:spTree>
      <p:nvGrpSpPr>
        <p:cNvPr id="10" name="Shape 10"/>
        <p:cNvGrpSpPr/>
        <p:nvPr/>
      </p:nvGrpSpPr>
      <p:grpSpPr>
        <a:xfrm>
          <a:off x="0" y="0"/>
          <a:ext cx="0" cy="0"/>
          <a:chOff x="0" y="0"/>
          <a:chExt cx="0" cy="0"/>
        </a:xfrm>
      </p:grpSpPr>
      <p:sp>
        <p:nvSpPr>
          <p:cNvPr id="11" name="Google Shape;11;p35"/>
          <p:cNvSpPr/>
          <p:nvPr/>
        </p:nvSpPr>
        <p:spPr>
          <a:xfrm>
            <a:off x="1728269" y="505621"/>
            <a:ext cx="162000" cy="52500"/>
          </a:xfrm>
          <a:prstGeom prst="rect">
            <a:avLst/>
          </a:prstGeom>
          <a:noFill/>
          <a:ln>
            <a:noFill/>
          </a:ln>
        </p:spPr>
        <p:txBody>
          <a:bodyPr anchorCtr="0" anchor="t" bIns="0" lIns="0" spcFirstLastPara="1" rIns="0" wrap="square" tIns="0">
            <a:noAutofit/>
          </a:bodyPr>
          <a:lstStyle/>
          <a:p>
            <a:pPr indent="0" lvl="0" marL="0" marR="0" rtl="0" algn="l">
              <a:lnSpc>
                <a:spcPct val="88449"/>
              </a:lnSpc>
              <a:spcBef>
                <a:spcPts val="0"/>
              </a:spcBef>
              <a:spcAft>
                <a:spcPts val="0"/>
              </a:spcAft>
              <a:buClr>
                <a:srgbClr val="000033"/>
              </a:buClr>
              <a:buSzPts val="300"/>
              <a:buFont typeface="Montserrat SemiBold"/>
              <a:buNone/>
            </a:pPr>
            <a:r>
              <a:rPr b="1" i="0" lang="en-US" sz="300" u="none" cap="none" strike="noStrike">
                <a:solidFill>
                  <a:srgbClr val="000033"/>
                </a:solidFill>
                <a:latin typeface="Montserrat"/>
                <a:ea typeface="Montserrat"/>
                <a:cs typeface="Montserrat"/>
                <a:sym typeface="Montserrat"/>
              </a:rPr>
              <a:t>AÑOS </a:t>
            </a:r>
            <a:endParaRPr b="0" i="0" sz="300" u="none" cap="none" strike="noStrike">
              <a:solidFill>
                <a:srgbClr val="000000"/>
              </a:solidFill>
              <a:latin typeface="Montserrat"/>
              <a:ea typeface="Montserrat"/>
              <a:cs typeface="Montserrat"/>
              <a:sym typeface="Montserrat"/>
            </a:endParaRPr>
          </a:p>
        </p:txBody>
      </p:sp>
      <p:pic>
        <p:nvPicPr>
          <p:cNvPr descr="logo_navy.png" id="12" name="Google Shape;12;p35"/>
          <p:cNvPicPr preferRelativeResize="0"/>
          <p:nvPr/>
        </p:nvPicPr>
        <p:blipFill rotWithShape="1">
          <a:blip r:embed="rId2">
            <a:alphaModFix/>
          </a:blip>
          <a:srcRect b="0" l="0" r="0" t="0"/>
          <a:stretch/>
        </p:blipFill>
        <p:spPr>
          <a:xfrm>
            <a:off x="569671" y="389534"/>
            <a:ext cx="1228039" cy="24505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hyperlink" Target="https://drive.google.com/file/d/1MVORiIC4Gprw2QDZSfgB-XOQ6L9SAd6v/view" TargetMode="External"/><Relationship Id="rId5"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9.png"/><Relationship Id="rId6" Type="http://schemas.openxmlformats.org/officeDocument/2006/relationships/image" Target="../media/image17.png"/><Relationship Id="rId7" Type="http://schemas.openxmlformats.org/officeDocument/2006/relationships/image" Target="../media/image15.png"/></Relationships>
</file>

<file path=ppt/slides/_rels/slide20.xml.rels><?xml version="1.0" encoding="UTF-8" standalone="yes"?><Relationships xmlns="http://schemas.openxmlformats.org/package/2006/relationships"><Relationship Id="rId40" Type="http://schemas.openxmlformats.org/officeDocument/2006/relationships/image" Target="../media/image60.png"/><Relationship Id="rId20" Type="http://schemas.openxmlformats.org/officeDocument/2006/relationships/image" Target="../media/image41.png"/><Relationship Id="rId42" Type="http://schemas.openxmlformats.org/officeDocument/2006/relationships/image" Target="../media/image59.png"/><Relationship Id="rId41" Type="http://schemas.openxmlformats.org/officeDocument/2006/relationships/image" Target="../media/image58.png"/><Relationship Id="rId22" Type="http://schemas.openxmlformats.org/officeDocument/2006/relationships/image" Target="../media/image43.png"/><Relationship Id="rId21" Type="http://schemas.openxmlformats.org/officeDocument/2006/relationships/image" Target="../media/image33.png"/><Relationship Id="rId24" Type="http://schemas.openxmlformats.org/officeDocument/2006/relationships/image" Target="../media/image40.png"/><Relationship Id="rId23" Type="http://schemas.openxmlformats.org/officeDocument/2006/relationships/image" Target="../media/image42.png"/><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31.png"/><Relationship Id="rId9" Type="http://schemas.openxmlformats.org/officeDocument/2006/relationships/image" Target="../media/image24.png"/><Relationship Id="rId26" Type="http://schemas.openxmlformats.org/officeDocument/2006/relationships/image" Target="../media/image56.png"/><Relationship Id="rId25" Type="http://schemas.openxmlformats.org/officeDocument/2006/relationships/image" Target="../media/image39.png"/><Relationship Id="rId28" Type="http://schemas.openxmlformats.org/officeDocument/2006/relationships/image" Target="../media/image45.png"/><Relationship Id="rId27" Type="http://schemas.openxmlformats.org/officeDocument/2006/relationships/image" Target="../media/image53.png"/><Relationship Id="rId5" Type="http://schemas.openxmlformats.org/officeDocument/2006/relationships/image" Target="../media/image21.png"/><Relationship Id="rId6" Type="http://schemas.openxmlformats.org/officeDocument/2006/relationships/image" Target="../media/image26.png"/><Relationship Id="rId29" Type="http://schemas.openxmlformats.org/officeDocument/2006/relationships/image" Target="../media/image48.png"/><Relationship Id="rId7" Type="http://schemas.openxmlformats.org/officeDocument/2006/relationships/image" Target="../media/image23.png"/><Relationship Id="rId8" Type="http://schemas.openxmlformats.org/officeDocument/2006/relationships/image" Target="../media/image29.png"/><Relationship Id="rId31" Type="http://schemas.openxmlformats.org/officeDocument/2006/relationships/image" Target="../media/image46.png"/><Relationship Id="rId30" Type="http://schemas.openxmlformats.org/officeDocument/2006/relationships/image" Target="../media/image44.png"/><Relationship Id="rId11" Type="http://schemas.openxmlformats.org/officeDocument/2006/relationships/image" Target="../media/image22.png"/><Relationship Id="rId33" Type="http://schemas.openxmlformats.org/officeDocument/2006/relationships/image" Target="../media/image49.png"/><Relationship Id="rId10" Type="http://schemas.openxmlformats.org/officeDocument/2006/relationships/image" Target="../media/image27.png"/><Relationship Id="rId32" Type="http://schemas.openxmlformats.org/officeDocument/2006/relationships/image" Target="../media/image50.png"/><Relationship Id="rId13" Type="http://schemas.openxmlformats.org/officeDocument/2006/relationships/image" Target="../media/image32.png"/><Relationship Id="rId35" Type="http://schemas.openxmlformats.org/officeDocument/2006/relationships/image" Target="../media/image54.png"/><Relationship Id="rId12" Type="http://schemas.openxmlformats.org/officeDocument/2006/relationships/image" Target="../media/image25.png"/><Relationship Id="rId34" Type="http://schemas.openxmlformats.org/officeDocument/2006/relationships/image" Target="../media/image55.png"/><Relationship Id="rId15" Type="http://schemas.openxmlformats.org/officeDocument/2006/relationships/image" Target="../media/image36.png"/><Relationship Id="rId37" Type="http://schemas.openxmlformats.org/officeDocument/2006/relationships/image" Target="../media/image51.png"/><Relationship Id="rId14" Type="http://schemas.openxmlformats.org/officeDocument/2006/relationships/image" Target="../media/image30.png"/><Relationship Id="rId36" Type="http://schemas.openxmlformats.org/officeDocument/2006/relationships/image" Target="../media/image52.png"/><Relationship Id="rId17" Type="http://schemas.openxmlformats.org/officeDocument/2006/relationships/image" Target="../media/image37.png"/><Relationship Id="rId39" Type="http://schemas.openxmlformats.org/officeDocument/2006/relationships/image" Target="../media/image57.png"/><Relationship Id="rId16" Type="http://schemas.openxmlformats.org/officeDocument/2006/relationships/image" Target="../media/image35.png"/><Relationship Id="rId38" Type="http://schemas.openxmlformats.org/officeDocument/2006/relationships/image" Target="../media/image47.png"/><Relationship Id="rId19" Type="http://schemas.openxmlformats.org/officeDocument/2006/relationships/image" Target="../media/image34.png"/><Relationship Id="rId18"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4.png"/><Relationship Id="rId4" Type="http://schemas.openxmlformats.org/officeDocument/2006/relationships/image" Target="../media/image66.png"/><Relationship Id="rId9" Type="http://schemas.openxmlformats.org/officeDocument/2006/relationships/image" Target="../media/image62.png"/><Relationship Id="rId5" Type="http://schemas.openxmlformats.org/officeDocument/2006/relationships/image" Target="../media/image69.png"/><Relationship Id="rId6" Type="http://schemas.openxmlformats.org/officeDocument/2006/relationships/image" Target="../media/image68.png"/><Relationship Id="rId7" Type="http://schemas.openxmlformats.org/officeDocument/2006/relationships/image" Target="../media/image61.png"/><Relationship Id="rId8" Type="http://schemas.openxmlformats.org/officeDocument/2006/relationships/hyperlink" Target="https://www.linkedin.com/company/neo-consulting/" TargetMode="External"/><Relationship Id="rId11" Type="http://schemas.openxmlformats.org/officeDocument/2006/relationships/image" Target="../media/image67.png"/><Relationship Id="rId10" Type="http://schemas.openxmlformats.org/officeDocument/2006/relationships/hyperlink" Target="https://www.youtube.com/c/neoconsulting" TargetMode="External"/><Relationship Id="rId13" Type="http://schemas.openxmlformats.org/officeDocument/2006/relationships/image" Target="../media/image65.png"/><Relationship Id="rId12" Type="http://schemas.openxmlformats.org/officeDocument/2006/relationships/hyperlink" Target="https://www.facebook.com/neoconsulting/" TargetMode="External"/><Relationship Id="rId15" Type="http://schemas.openxmlformats.org/officeDocument/2006/relationships/image" Target="../media/image63.png"/><Relationship Id="rId14" Type="http://schemas.openxmlformats.org/officeDocument/2006/relationships/hyperlink" Target="https://www.instagram.com/neo_digita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18" name="Shape 18"/>
        <p:cNvGrpSpPr/>
        <p:nvPr/>
      </p:nvGrpSpPr>
      <p:grpSpPr>
        <a:xfrm>
          <a:off x="0" y="0"/>
          <a:ext cx="0" cy="0"/>
          <a:chOff x="0" y="0"/>
          <a:chExt cx="0" cy="0"/>
        </a:xfrm>
      </p:grpSpPr>
      <p:pic>
        <p:nvPicPr>
          <p:cNvPr descr="bg_cover.png" id="19" name="Google Shape;19;g3fb8e08d9db_0_0"/>
          <p:cNvPicPr preferRelativeResize="0"/>
          <p:nvPr/>
        </p:nvPicPr>
        <p:blipFill rotWithShape="1">
          <a:blip r:embed="rId3">
            <a:alphaModFix/>
          </a:blip>
          <a:srcRect b="0" l="0" r="0" t="0"/>
          <a:stretch/>
        </p:blipFill>
        <p:spPr>
          <a:xfrm>
            <a:off x="0" y="0"/>
            <a:ext cx="9143998" cy="5143501"/>
          </a:xfrm>
          <a:prstGeom prst="rect">
            <a:avLst/>
          </a:prstGeom>
          <a:noFill/>
          <a:ln>
            <a:noFill/>
          </a:ln>
        </p:spPr>
      </p:pic>
      <p:pic>
        <p:nvPicPr>
          <p:cNvPr descr="logo_blanco.png" id="20" name="Google Shape;20;g3fb8e08d9db_0_0"/>
          <p:cNvPicPr preferRelativeResize="0"/>
          <p:nvPr/>
        </p:nvPicPr>
        <p:blipFill rotWithShape="1">
          <a:blip r:embed="rId4">
            <a:alphaModFix/>
          </a:blip>
          <a:srcRect b="0" l="0" r="0" t="0"/>
          <a:stretch/>
        </p:blipFill>
        <p:spPr>
          <a:xfrm>
            <a:off x="569671" y="389534"/>
            <a:ext cx="1228039" cy="245059"/>
          </a:xfrm>
          <a:prstGeom prst="rect">
            <a:avLst/>
          </a:prstGeom>
          <a:noFill/>
          <a:ln>
            <a:noFill/>
          </a:ln>
        </p:spPr>
      </p:pic>
      <p:sp>
        <p:nvSpPr>
          <p:cNvPr id="21" name="Google Shape;21;g3fb8e08d9db_0_0"/>
          <p:cNvSpPr txBox="1"/>
          <p:nvPr/>
        </p:nvSpPr>
        <p:spPr>
          <a:xfrm>
            <a:off x="0" y="1975104"/>
            <a:ext cx="91440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4100"/>
              <a:buFont typeface="Montserrat Black"/>
              <a:buNone/>
            </a:pPr>
            <a:r>
              <a:rPr b="1" i="0" lang="en-US" sz="4100" u="none" cap="none" strike="noStrike">
                <a:solidFill>
                  <a:srgbClr val="FFFFFF"/>
                </a:solidFill>
                <a:latin typeface="Montserrat Black"/>
                <a:ea typeface="Montserrat Black"/>
                <a:cs typeface="Montserrat Black"/>
                <a:sym typeface="Montserrat Black"/>
              </a:rPr>
              <a:t>Neo Consulting</a:t>
            </a:r>
            <a:endParaRPr b="0" i="0" sz="4100" u="none" cap="none" strike="noStrike">
              <a:solidFill>
                <a:schemeClr val="dk1"/>
              </a:solidFill>
              <a:latin typeface="Calibri"/>
              <a:ea typeface="Calibri"/>
              <a:cs typeface="Calibri"/>
              <a:sym typeface="Calibri"/>
            </a:endParaRPr>
          </a:p>
        </p:txBody>
      </p:sp>
      <p:sp>
        <p:nvSpPr>
          <p:cNvPr id="22" name="Google Shape;22;g3fb8e08d9db_0_0"/>
          <p:cNvSpPr txBox="1"/>
          <p:nvPr/>
        </p:nvSpPr>
        <p:spPr>
          <a:xfrm>
            <a:off x="1289304" y="2971800"/>
            <a:ext cx="6565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E99FE"/>
              </a:buClr>
              <a:buSzPts val="1400"/>
              <a:buFont typeface="Montserrat Medium"/>
              <a:buNone/>
            </a:pPr>
            <a:r>
              <a:rPr b="0" i="0" lang="en-US" sz="1400" u="none" cap="none" strike="noStrike">
                <a:solidFill>
                  <a:srgbClr val="7E99FE"/>
                </a:solidFill>
                <a:latin typeface="Montserrat Medium"/>
                <a:ea typeface="Montserrat Medium"/>
                <a:cs typeface="Montserrat Medium"/>
                <a:sym typeface="Montserrat Medium"/>
              </a:rPr>
              <a:t>Logra tus objetivos de negocio utilizando data e inteligencia artificial</a:t>
            </a:r>
            <a:endParaRPr b="0" i="0" sz="1400" u="none" cap="none" strike="noStrike">
              <a:solidFill>
                <a:schemeClr val="dk1"/>
              </a:solidFill>
              <a:latin typeface="Calibri"/>
              <a:ea typeface="Calibri"/>
              <a:cs typeface="Calibri"/>
              <a:sym typeface="Calibri"/>
            </a:endParaRPr>
          </a:p>
        </p:txBody>
      </p:sp>
      <p:sp>
        <p:nvSpPr>
          <p:cNvPr id="23" name="Google Shape;23;g3fb8e08d9db_0_0"/>
          <p:cNvSpPr txBox="1"/>
          <p:nvPr/>
        </p:nvSpPr>
        <p:spPr>
          <a:xfrm>
            <a:off x="0" y="4599432"/>
            <a:ext cx="91440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5D5F7"/>
              </a:buClr>
              <a:buSzPts val="1100"/>
              <a:buFont typeface="Montserrat SemiBold"/>
              <a:buNone/>
            </a:pPr>
            <a:r>
              <a:rPr b="1" i="0" lang="en-US" sz="1100" u="none" cap="none" strike="noStrike">
                <a:solidFill>
                  <a:srgbClr val="C5D5F7"/>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28" name="Shape 28"/>
        <p:cNvGrpSpPr/>
        <p:nvPr/>
      </p:nvGrpSpPr>
      <p:grpSpPr>
        <a:xfrm>
          <a:off x="0" y="0"/>
          <a:ext cx="0" cy="0"/>
          <a:chOff x="0" y="0"/>
          <a:chExt cx="0" cy="0"/>
        </a:xfrm>
      </p:grpSpPr>
      <p:pic>
        <p:nvPicPr>
          <p:cNvPr descr="bg_cover.png" id="29" name="Google Shape;29;g3fb8e08d9db_0_9"/>
          <p:cNvPicPr preferRelativeResize="0"/>
          <p:nvPr/>
        </p:nvPicPr>
        <p:blipFill rotWithShape="1">
          <a:blip r:embed="rId3">
            <a:alphaModFix/>
          </a:blip>
          <a:srcRect b="0" l="0" r="0" t="0"/>
          <a:stretch/>
        </p:blipFill>
        <p:spPr>
          <a:xfrm>
            <a:off x="0" y="0"/>
            <a:ext cx="9143998" cy="5143501"/>
          </a:xfrm>
          <a:prstGeom prst="rect">
            <a:avLst/>
          </a:prstGeom>
          <a:noFill/>
          <a:ln>
            <a:noFill/>
          </a:ln>
        </p:spPr>
      </p:pic>
      <p:pic>
        <p:nvPicPr>
          <p:cNvPr descr="logo_blanco.png" id="30" name="Google Shape;30;g3fb8e08d9db_0_9"/>
          <p:cNvPicPr preferRelativeResize="0"/>
          <p:nvPr/>
        </p:nvPicPr>
        <p:blipFill rotWithShape="1">
          <a:blip r:embed="rId4">
            <a:alphaModFix/>
          </a:blip>
          <a:srcRect b="0" l="0" r="0" t="0"/>
          <a:stretch/>
        </p:blipFill>
        <p:spPr>
          <a:xfrm>
            <a:off x="569671" y="389534"/>
            <a:ext cx="1228039" cy="245059"/>
          </a:xfrm>
          <a:prstGeom prst="rect">
            <a:avLst/>
          </a:prstGeom>
          <a:noFill/>
          <a:ln>
            <a:noFill/>
          </a:ln>
        </p:spPr>
      </p:pic>
      <p:sp>
        <p:nvSpPr>
          <p:cNvPr id="31" name="Google Shape;31;g3fb8e08d9db_0_9"/>
          <p:cNvSpPr txBox="1"/>
          <p:nvPr/>
        </p:nvSpPr>
        <p:spPr>
          <a:xfrm>
            <a:off x="571500" y="1810512"/>
            <a:ext cx="36576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D5F7"/>
              </a:buClr>
              <a:buSzPts val="1200"/>
              <a:buFont typeface="Montserrat SemiBold"/>
              <a:buNone/>
            </a:pPr>
            <a:r>
              <a:rPr b="1" i="0" lang="en-US" sz="1200" u="none" cap="none" strike="noStrike">
                <a:solidFill>
                  <a:srgbClr val="C5D5F7"/>
                </a:solidFill>
                <a:latin typeface="Montserrat SemiBold"/>
                <a:ea typeface="Montserrat SemiBold"/>
                <a:cs typeface="Montserrat SemiBold"/>
                <a:sym typeface="Montserrat SemiBold"/>
              </a:rPr>
              <a:t>PROPUESTA</a:t>
            </a:r>
            <a:endParaRPr b="0" i="0" sz="1200" u="none" cap="none" strike="noStrike">
              <a:solidFill>
                <a:schemeClr val="dk1"/>
              </a:solidFill>
              <a:latin typeface="Calibri"/>
              <a:ea typeface="Calibri"/>
              <a:cs typeface="Calibri"/>
              <a:sym typeface="Calibri"/>
            </a:endParaRPr>
          </a:p>
        </p:txBody>
      </p:sp>
      <p:sp>
        <p:nvSpPr>
          <p:cNvPr id="32" name="Google Shape;32;g3fb8e08d9db_0_9"/>
          <p:cNvSpPr txBox="1"/>
          <p:nvPr/>
        </p:nvSpPr>
        <p:spPr>
          <a:xfrm>
            <a:off x="571500" y="2157984"/>
            <a:ext cx="8001000" cy="118860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FFFFFF"/>
              </a:buClr>
              <a:buSzPts val="3600"/>
              <a:buFont typeface="Montserrat ExtraBold"/>
              <a:buNone/>
            </a:pPr>
            <a:r>
              <a:rPr b="1" i="0" lang="en-US" sz="3600" u="none" cap="none" strike="noStrike">
                <a:solidFill>
                  <a:srgbClr val="FFFFFF"/>
                </a:solidFill>
                <a:latin typeface="Montserrat ExtraBold"/>
                <a:ea typeface="Montserrat ExtraBold"/>
                <a:cs typeface="Montserrat ExtraBold"/>
                <a:sym typeface="Montserrat ExtraBold"/>
              </a:rPr>
              <a:t>Nombre del servicio</a:t>
            </a:r>
            <a:endParaRPr b="0" i="0" sz="3600" u="none" cap="none" strike="noStrike">
              <a:solidFill>
                <a:schemeClr val="dk1"/>
              </a:solidFill>
              <a:latin typeface="Calibri"/>
              <a:ea typeface="Calibri"/>
              <a:cs typeface="Calibri"/>
              <a:sym typeface="Calibri"/>
            </a:endParaRPr>
          </a:p>
          <a:p>
            <a:pPr indent="0" lvl="0" marL="0" marR="0" rtl="0" algn="l">
              <a:lnSpc>
                <a:spcPct val="106000"/>
              </a:lnSpc>
              <a:spcBef>
                <a:spcPts val="0"/>
              </a:spcBef>
              <a:spcAft>
                <a:spcPts val="0"/>
              </a:spcAft>
              <a:buClr>
                <a:srgbClr val="7E99FE"/>
              </a:buClr>
              <a:buSzPts val="3600"/>
              <a:buFont typeface="Montserrat Black"/>
              <a:buNone/>
            </a:pPr>
            <a:r>
              <a:rPr b="1" i="1" lang="en-US" sz="3600" u="none" cap="none" strike="noStrike">
                <a:solidFill>
                  <a:srgbClr val="7E99FE"/>
                </a:solidFill>
                <a:latin typeface="Montserrat Black"/>
                <a:ea typeface="Montserrat Black"/>
                <a:cs typeface="Montserrat Black"/>
                <a:sym typeface="Montserrat Black"/>
              </a:rPr>
              <a:t>Área o alcance</a:t>
            </a:r>
            <a:endParaRPr b="0" i="0" sz="3600" u="none" cap="none" strike="noStrike">
              <a:solidFill>
                <a:schemeClr val="dk1"/>
              </a:solidFill>
              <a:latin typeface="Calibri"/>
              <a:ea typeface="Calibri"/>
              <a:cs typeface="Calibri"/>
              <a:sym typeface="Calibri"/>
            </a:endParaRPr>
          </a:p>
        </p:txBody>
      </p:sp>
      <p:sp>
        <p:nvSpPr>
          <p:cNvPr id="33" name="Google Shape;33;g3fb8e08d9db_0_9"/>
          <p:cNvSpPr txBox="1"/>
          <p:nvPr/>
        </p:nvSpPr>
        <p:spPr>
          <a:xfrm>
            <a:off x="571500" y="3675888"/>
            <a:ext cx="54864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D5F7"/>
              </a:buClr>
              <a:buSzPts val="1300"/>
              <a:buFont typeface="Montserrat Medium"/>
              <a:buNone/>
            </a:pPr>
            <a:r>
              <a:rPr b="0" i="0" lang="en-US" sz="1300" u="none" cap="none" strike="noStrike">
                <a:solidFill>
                  <a:srgbClr val="C5D5F7"/>
                </a:solidFill>
                <a:latin typeface="Montserrat Medium"/>
                <a:ea typeface="Montserrat Medium"/>
                <a:cs typeface="Montserrat Medium"/>
                <a:sym typeface="Montserrat Medium"/>
              </a:rPr>
              <a:t>Nombre del Cliente  ·  Mes 20XX</a:t>
            </a:r>
            <a:endParaRPr b="0" i="0" sz="1300" u="none" cap="none" strike="noStrike">
              <a:solidFill>
                <a:schemeClr val="dk1"/>
              </a:solidFill>
              <a:latin typeface="Calibri"/>
              <a:ea typeface="Calibri"/>
              <a:cs typeface="Calibri"/>
              <a:sym typeface="Calibri"/>
            </a:endParaRPr>
          </a:p>
        </p:txBody>
      </p:sp>
      <p:sp>
        <p:nvSpPr>
          <p:cNvPr id="34" name="Google Shape;34;g3fb8e08d9db_0_9"/>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D5F7"/>
              </a:buClr>
              <a:buSzPts val="1100"/>
              <a:buFont typeface="Montserrat SemiBold"/>
              <a:buNone/>
            </a:pPr>
            <a:r>
              <a:rPr b="1" i="0" lang="en-US" sz="1100" u="none" cap="none" strike="noStrike">
                <a:solidFill>
                  <a:srgbClr val="C5D5F7"/>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39" name="Shape 39"/>
        <p:cNvGrpSpPr/>
        <p:nvPr/>
      </p:nvGrpSpPr>
      <p:grpSpPr>
        <a:xfrm>
          <a:off x="0" y="0"/>
          <a:ext cx="0" cy="0"/>
          <a:chOff x="0" y="0"/>
          <a:chExt cx="0" cy="0"/>
        </a:xfrm>
      </p:grpSpPr>
      <p:sp>
        <p:nvSpPr>
          <p:cNvPr id="40" name="Google Shape;40;g3fb8e08d9db_0_19"/>
          <p:cNvSpPr txBox="1"/>
          <p:nvPr/>
        </p:nvSpPr>
        <p:spPr>
          <a:xfrm>
            <a:off x="571500" y="890625"/>
            <a:ext cx="3210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CONTENIDO</a:t>
            </a:r>
            <a:endParaRPr b="0" i="0" sz="1100" u="none" cap="none" strike="noStrike">
              <a:solidFill>
                <a:schemeClr val="dk1"/>
              </a:solidFill>
              <a:latin typeface="Calibri"/>
              <a:ea typeface="Calibri"/>
              <a:cs typeface="Calibri"/>
              <a:sym typeface="Calibri"/>
            </a:endParaRPr>
          </a:p>
        </p:txBody>
      </p:sp>
      <p:sp>
        <p:nvSpPr>
          <p:cNvPr id="41" name="Google Shape;41;g3fb8e08d9db_0_19"/>
          <p:cNvSpPr txBox="1"/>
          <p:nvPr/>
        </p:nvSpPr>
        <p:spPr>
          <a:xfrm>
            <a:off x="571500" y="1165651"/>
            <a:ext cx="3210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Agenda</a:t>
            </a:r>
            <a:endParaRPr b="0" i="0" sz="2100" u="none" cap="none" strike="noStrike">
              <a:solidFill>
                <a:schemeClr val="dk1"/>
              </a:solidFill>
              <a:latin typeface="Calibri"/>
              <a:ea typeface="Calibri"/>
              <a:cs typeface="Calibri"/>
              <a:sym typeface="Calibri"/>
            </a:endParaRPr>
          </a:p>
        </p:txBody>
      </p:sp>
      <p:sp>
        <p:nvSpPr>
          <p:cNvPr id="42" name="Google Shape;42;g3fb8e08d9db_0_19"/>
          <p:cNvSpPr/>
          <p:nvPr/>
        </p:nvSpPr>
        <p:spPr>
          <a:xfrm>
            <a:off x="571500" y="2113952"/>
            <a:ext cx="3766200" cy="7968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
        <p:nvSpPr>
          <p:cNvPr id="43" name="Google Shape;43;g3fb8e08d9db_0_19"/>
          <p:cNvSpPr txBox="1"/>
          <p:nvPr/>
        </p:nvSpPr>
        <p:spPr>
          <a:xfrm>
            <a:off x="840835" y="2256228"/>
            <a:ext cx="5385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600" u="none" cap="none" strike="noStrike">
                <a:solidFill>
                  <a:srgbClr val="2B5BFC"/>
                </a:solidFill>
                <a:latin typeface="Montserrat SemiBold"/>
                <a:ea typeface="Montserrat SemiBold"/>
                <a:cs typeface="Montserrat SemiBold"/>
                <a:sym typeface="Montserrat SemiBold"/>
              </a:rPr>
              <a:t>01</a:t>
            </a:r>
            <a:endParaRPr b="0" i="0" sz="1600" u="none" cap="none" strike="noStrike">
              <a:solidFill>
                <a:schemeClr val="dk1"/>
              </a:solidFill>
              <a:latin typeface="Calibri"/>
              <a:ea typeface="Calibri"/>
              <a:cs typeface="Calibri"/>
              <a:sym typeface="Calibri"/>
            </a:endParaRPr>
          </a:p>
        </p:txBody>
      </p:sp>
      <p:sp>
        <p:nvSpPr>
          <p:cNvPr id="44" name="Google Shape;44;g3fb8e08d9db_0_19"/>
          <p:cNvSpPr txBox="1"/>
          <p:nvPr/>
        </p:nvSpPr>
        <p:spPr>
          <a:xfrm>
            <a:off x="1460307" y="2256228"/>
            <a:ext cx="2608200" cy="512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lang="en-US" sz="1600">
                <a:solidFill>
                  <a:srgbClr val="000033"/>
                </a:solidFill>
                <a:latin typeface="Montserrat SemiBold"/>
                <a:ea typeface="Montserrat SemiBold"/>
                <a:cs typeface="Montserrat SemiBold"/>
                <a:sym typeface="Montserrat SemiBold"/>
              </a:rPr>
              <a:t>La necesidad</a:t>
            </a:r>
            <a:endParaRPr b="0" i="0" sz="1600" u="none" cap="none" strike="noStrike">
              <a:solidFill>
                <a:schemeClr val="dk1"/>
              </a:solidFill>
              <a:latin typeface="Calibri"/>
              <a:ea typeface="Calibri"/>
              <a:cs typeface="Calibri"/>
              <a:sym typeface="Calibri"/>
            </a:endParaRPr>
          </a:p>
        </p:txBody>
      </p:sp>
      <p:sp>
        <p:nvSpPr>
          <p:cNvPr id="45" name="Google Shape;45;g3fb8e08d9db_0_19"/>
          <p:cNvSpPr/>
          <p:nvPr/>
        </p:nvSpPr>
        <p:spPr>
          <a:xfrm>
            <a:off x="571594" y="3061347"/>
            <a:ext cx="3766200" cy="7968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
        <p:nvSpPr>
          <p:cNvPr id="46" name="Google Shape;46;g3fb8e08d9db_0_19"/>
          <p:cNvSpPr txBox="1"/>
          <p:nvPr/>
        </p:nvSpPr>
        <p:spPr>
          <a:xfrm>
            <a:off x="840930" y="3203608"/>
            <a:ext cx="5385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600" u="none" cap="none" strike="noStrike">
                <a:solidFill>
                  <a:srgbClr val="2B5BFC"/>
                </a:solidFill>
                <a:latin typeface="Montserrat SemiBold"/>
                <a:ea typeface="Montserrat SemiBold"/>
                <a:cs typeface="Montserrat SemiBold"/>
                <a:sym typeface="Montserrat SemiBold"/>
              </a:rPr>
              <a:t>02</a:t>
            </a:r>
            <a:endParaRPr b="0" i="0" sz="1600" u="none" cap="none" strike="noStrike">
              <a:solidFill>
                <a:schemeClr val="dk1"/>
              </a:solidFill>
              <a:latin typeface="Calibri"/>
              <a:ea typeface="Calibri"/>
              <a:cs typeface="Calibri"/>
              <a:sym typeface="Calibri"/>
            </a:endParaRPr>
          </a:p>
        </p:txBody>
      </p:sp>
      <p:sp>
        <p:nvSpPr>
          <p:cNvPr id="47" name="Google Shape;47;g3fb8e08d9db_0_19"/>
          <p:cNvSpPr txBox="1"/>
          <p:nvPr/>
        </p:nvSpPr>
        <p:spPr>
          <a:xfrm>
            <a:off x="1460401" y="3203608"/>
            <a:ext cx="2608200" cy="512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lang="en-US" sz="1600">
                <a:solidFill>
                  <a:srgbClr val="000033"/>
                </a:solidFill>
                <a:latin typeface="Montserrat SemiBold"/>
                <a:ea typeface="Montserrat SemiBold"/>
                <a:cs typeface="Montserrat SemiBold"/>
                <a:sym typeface="Montserrat SemiBold"/>
              </a:rPr>
              <a:t>Nuestra propuesta</a:t>
            </a:r>
            <a:endParaRPr b="0" i="0" sz="1600" u="none" cap="none" strike="noStrike">
              <a:solidFill>
                <a:schemeClr val="dk1"/>
              </a:solidFill>
              <a:latin typeface="Calibri"/>
              <a:ea typeface="Calibri"/>
              <a:cs typeface="Calibri"/>
              <a:sym typeface="Calibri"/>
            </a:endParaRPr>
          </a:p>
        </p:txBody>
      </p:sp>
      <p:sp>
        <p:nvSpPr>
          <p:cNvPr id="48" name="Google Shape;48;g3fb8e08d9db_0_19"/>
          <p:cNvSpPr/>
          <p:nvPr/>
        </p:nvSpPr>
        <p:spPr>
          <a:xfrm>
            <a:off x="4606050" y="2113827"/>
            <a:ext cx="3766200" cy="7968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
        <p:nvSpPr>
          <p:cNvPr id="49" name="Google Shape;49;g3fb8e08d9db_0_19"/>
          <p:cNvSpPr txBox="1"/>
          <p:nvPr/>
        </p:nvSpPr>
        <p:spPr>
          <a:xfrm>
            <a:off x="4875385" y="2256104"/>
            <a:ext cx="5385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600" u="none" cap="none" strike="noStrike">
                <a:solidFill>
                  <a:srgbClr val="2B5BFC"/>
                </a:solidFill>
                <a:latin typeface="Montserrat SemiBold"/>
                <a:ea typeface="Montserrat SemiBold"/>
                <a:cs typeface="Montserrat SemiBold"/>
                <a:sym typeface="Montserrat SemiBold"/>
              </a:rPr>
              <a:t>03</a:t>
            </a:r>
            <a:endParaRPr b="0" i="0" sz="1600" u="none" cap="none" strike="noStrike">
              <a:solidFill>
                <a:schemeClr val="dk1"/>
              </a:solidFill>
              <a:latin typeface="Calibri"/>
              <a:ea typeface="Calibri"/>
              <a:cs typeface="Calibri"/>
              <a:sym typeface="Calibri"/>
            </a:endParaRPr>
          </a:p>
        </p:txBody>
      </p:sp>
      <p:sp>
        <p:nvSpPr>
          <p:cNvPr id="50" name="Google Shape;50;g3fb8e08d9db_0_19"/>
          <p:cNvSpPr txBox="1"/>
          <p:nvPr/>
        </p:nvSpPr>
        <p:spPr>
          <a:xfrm>
            <a:off x="5494857" y="2256104"/>
            <a:ext cx="2608200" cy="512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lang="en-US" sz="1600">
                <a:solidFill>
                  <a:srgbClr val="000033"/>
                </a:solidFill>
                <a:latin typeface="Montserrat SemiBold"/>
                <a:ea typeface="Montserrat SemiBold"/>
                <a:cs typeface="Montserrat SemiBold"/>
                <a:sym typeface="Montserrat SemiBold"/>
              </a:rPr>
              <a:t>Cronograma e inversión</a:t>
            </a:r>
            <a:endParaRPr b="0" i="0" sz="1600" u="none" cap="none" strike="noStrike">
              <a:solidFill>
                <a:schemeClr val="dk1"/>
              </a:solidFill>
              <a:latin typeface="Calibri"/>
              <a:ea typeface="Calibri"/>
              <a:cs typeface="Calibri"/>
              <a:sym typeface="Calibri"/>
            </a:endParaRPr>
          </a:p>
        </p:txBody>
      </p:sp>
      <p:sp>
        <p:nvSpPr>
          <p:cNvPr id="51" name="Google Shape;51;g3fb8e08d9db_0_19"/>
          <p:cNvSpPr/>
          <p:nvPr/>
        </p:nvSpPr>
        <p:spPr>
          <a:xfrm>
            <a:off x="4606046" y="3061349"/>
            <a:ext cx="3766200" cy="7968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
        <p:nvSpPr>
          <p:cNvPr id="52" name="Google Shape;52;g3fb8e08d9db_0_19"/>
          <p:cNvSpPr txBox="1"/>
          <p:nvPr/>
        </p:nvSpPr>
        <p:spPr>
          <a:xfrm>
            <a:off x="4875381" y="3203610"/>
            <a:ext cx="5385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600" u="none" cap="none" strike="noStrike">
                <a:solidFill>
                  <a:srgbClr val="2B5BFC"/>
                </a:solidFill>
                <a:latin typeface="Montserrat SemiBold"/>
                <a:ea typeface="Montserrat SemiBold"/>
                <a:cs typeface="Montserrat SemiBold"/>
                <a:sym typeface="Montserrat SemiBold"/>
              </a:rPr>
              <a:t>04</a:t>
            </a:r>
            <a:endParaRPr b="0" i="0" sz="1600" u="none" cap="none" strike="noStrike">
              <a:solidFill>
                <a:schemeClr val="dk1"/>
              </a:solidFill>
              <a:latin typeface="Calibri"/>
              <a:ea typeface="Calibri"/>
              <a:cs typeface="Calibri"/>
              <a:sym typeface="Calibri"/>
            </a:endParaRPr>
          </a:p>
        </p:txBody>
      </p:sp>
      <p:sp>
        <p:nvSpPr>
          <p:cNvPr id="53" name="Google Shape;53;g3fb8e08d9db_0_19"/>
          <p:cNvSpPr txBox="1"/>
          <p:nvPr/>
        </p:nvSpPr>
        <p:spPr>
          <a:xfrm>
            <a:off x="5494846" y="3203614"/>
            <a:ext cx="2907600" cy="512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lang="en-US" sz="1600">
                <a:solidFill>
                  <a:srgbClr val="000033"/>
                </a:solidFill>
                <a:latin typeface="Montserrat SemiBold"/>
                <a:ea typeface="Montserrat SemiBold"/>
                <a:cs typeface="Montserrat SemiBold"/>
                <a:sym typeface="Montserrat SemiBold"/>
              </a:rPr>
              <a:t>¿Por qué NEO?</a:t>
            </a:r>
            <a:endParaRPr b="0" i="0" sz="1600" u="none" cap="none" strike="noStrike">
              <a:solidFill>
                <a:schemeClr val="dk1"/>
              </a:solidFill>
              <a:latin typeface="Calibri"/>
              <a:ea typeface="Calibri"/>
              <a:cs typeface="Calibri"/>
              <a:sym typeface="Calibri"/>
            </a:endParaRPr>
          </a:p>
        </p:txBody>
      </p:sp>
      <p:sp>
        <p:nvSpPr>
          <p:cNvPr id="54" name="Google Shape;54;g3fb8e08d9db_0_19"/>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59" name="Shape 59"/>
        <p:cNvGrpSpPr/>
        <p:nvPr/>
      </p:nvGrpSpPr>
      <p:grpSpPr>
        <a:xfrm>
          <a:off x="0" y="0"/>
          <a:ext cx="0" cy="0"/>
          <a:chOff x="0" y="0"/>
          <a:chExt cx="0" cy="0"/>
        </a:xfrm>
      </p:grpSpPr>
      <p:pic>
        <p:nvPicPr>
          <p:cNvPr descr="bg_divider.png" id="60" name="Google Shape;60;g3fb8e08d9db_0_38"/>
          <p:cNvPicPr preferRelativeResize="0"/>
          <p:nvPr/>
        </p:nvPicPr>
        <p:blipFill rotWithShape="1">
          <a:blip r:embed="rId3">
            <a:alphaModFix/>
          </a:blip>
          <a:srcRect b="0" l="0" r="0" t="0"/>
          <a:stretch/>
        </p:blipFill>
        <p:spPr>
          <a:xfrm>
            <a:off x="0" y="0"/>
            <a:ext cx="9143998" cy="5143501"/>
          </a:xfrm>
          <a:prstGeom prst="rect">
            <a:avLst/>
          </a:prstGeom>
          <a:noFill/>
          <a:ln>
            <a:noFill/>
          </a:ln>
        </p:spPr>
      </p:pic>
      <p:pic>
        <p:nvPicPr>
          <p:cNvPr descr="logo_blanco.png" id="61" name="Google Shape;61;g3fb8e08d9db_0_38"/>
          <p:cNvPicPr preferRelativeResize="0"/>
          <p:nvPr/>
        </p:nvPicPr>
        <p:blipFill rotWithShape="1">
          <a:blip r:embed="rId4">
            <a:alphaModFix/>
          </a:blip>
          <a:srcRect b="0" l="0" r="0" t="0"/>
          <a:stretch/>
        </p:blipFill>
        <p:spPr>
          <a:xfrm>
            <a:off x="569671" y="389534"/>
            <a:ext cx="1228039" cy="245059"/>
          </a:xfrm>
          <a:prstGeom prst="rect">
            <a:avLst/>
          </a:prstGeom>
          <a:noFill/>
          <a:ln>
            <a:noFill/>
          </a:ln>
        </p:spPr>
      </p:pic>
      <p:sp>
        <p:nvSpPr>
          <p:cNvPr id="62" name="Google Shape;62;g3fb8e08d9db_0_38"/>
          <p:cNvSpPr txBox="1"/>
          <p:nvPr/>
        </p:nvSpPr>
        <p:spPr>
          <a:xfrm>
            <a:off x="571500" y="1773936"/>
            <a:ext cx="27432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D5F7"/>
              </a:buClr>
              <a:buSzPts val="1200"/>
              <a:buFont typeface="Montserrat SemiBold"/>
              <a:buNone/>
            </a:pPr>
            <a:r>
              <a:rPr b="1" i="0" lang="en-US" sz="1200" u="none" cap="none" strike="noStrike">
                <a:solidFill>
                  <a:srgbClr val="C5D5F7"/>
                </a:solidFill>
                <a:latin typeface="Montserrat SemiBold"/>
                <a:ea typeface="Montserrat SemiBold"/>
                <a:cs typeface="Montserrat SemiBold"/>
                <a:sym typeface="Montserrat SemiBold"/>
              </a:rPr>
              <a:t>SECCIÓN 0</a:t>
            </a:r>
            <a:r>
              <a:rPr b="1" lang="en-US" sz="1200">
                <a:solidFill>
                  <a:srgbClr val="C5D5F7"/>
                </a:solidFill>
                <a:latin typeface="Montserrat SemiBold"/>
                <a:ea typeface="Montserrat SemiBold"/>
                <a:cs typeface="Montserrat SemiBold"/>
                <a:sym typeface="Montserrat SemiBold"/>
              </a:rPr>
              <a:t>1</a:t>
            </a:r>
            <a:endParaRPr b="0" i="0" sz="1200" u="none" cap="none" strike="noStrike">
              <a:solidFill>
                <a:schemeClr val="dk1"/>
              </a:solidFill>
              <a:latin typeface="Calibri"/>
              <a:ea typeface="Calibri"/>
              <a:cs typeface="Calibri"/>
              <a:sym typeface="Calibri"/>
            </a:endParaRPr>
          </a:p>
        </p:txBody>
      </p:sp>
      <p:sp>
        <p:nvSpPr>
          <p:cNvPr id="63" name="Google Shape;63;g3fb8e08d9db_0_38"/>
          <p:cNvSpPr txBox="1"/>
          <p:nvPr/>
        </p:nvSpPr>
        <p:spPr>
          <a:xfrm>
            <a:off x="571500" y="2157984"/>
            <a:ext cx="7863900" cy="73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500"/>
              <a:buFont typeface="Montserrat ExtraBold"/>
              <a:buNone/>
            </a:pPr>
            <a:r>
              <a:rPr b="1" lang="en-US" sz="4500">
                <a:solidFill>
                  <a:srgbClr val="FFFFFF"/>
                </a:solidFill>
                <a:latin typeface="Montserrat ExtraBold"/>
                <a:ea typeface="Montserrat ExtraBold"/>
                <a:cs typeface="Montserrat ExtraBold"/>
                <a:sym typeface="Montserrat ExtraBold"/>
              </a:rPr>
              <a:t>La Necesidad</a:t>
            </a:r>
            <a:endParaRPr b="0" i="0" sz="4500" u="none" cap="none" strike="noStrike">
              <a:solidFill>
                <a:schemeClr val="dk1"/>
              </a:solidFill>
              <a:latin typeface="Calibri"/>
              <a:ea typeface="Calibri"/>
              <a:cs typeface="Calibri"/>
              <a:sym typeface="Calibri"/>
            </a:endParaRPr>
          </a:p>
        </p:txBody>
      </p:sp>
      <p:sp>
        <p:nvSpPr>
          <p:cNvPr id="64" name="Google Shape;64;g3fb8e08d9db_0_38"/>
          <p:cNvSpPr txBox="1"/>
          <p:nvPr/>
        </p:nvSpPr>
        <p:spPr>
          <a:xfrm>
            <a:off x="571500" y="3054096"/>
            <a:ext cx="4937700" cy="493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C5D5F7"/>
              </a:buClr>
              <a:buSzPts val="1300"/>
              <a:buFont typeface="Montserrat Medium"/>
              <a:buNone/>
            </a:pPr>
            <a:r>
              <a:rPr b="0" i="0" lang="en-US" sz="1300" u="none" cap="none" strike="noStrike">
                <a:solidFill>
                  <a:srgbClr val="C5D5F7"/>
                </a:solidFill>
                <a:latin typeface="Montserrat Medium"/>
                <a:ea typeface="Montserrat Medium"/>
                <a:cs typeface="Montserrat Medium"/>
                <a:sym typeface="Montserrat Medium"/>
              </a:rPr>
              <a:t>Una línea que anticipa qué se resuelve en esta sección.</a:t>
            </a:r>
            <a:endParaRPr b="0" i="0" sz="1300" u="none" cap="none" strike="noStrike">
              <a:solidFill>
                <a:schemeClr val="dk1"/>
              </a:solidFill>
              <a:latin typeface="Calibri"/>
              <a:ea typeface="Calibri"/>
              <a:cs typeface="Calibri"/>
              <a:sym typeface="Calibri"/>
            </a:endParaRPr>
          </a:p>
        </p:txBody>
      </p:sp>
      <p:sp>
        <p:nvSpPr>
          <p:cNvPr id="65" name="Google Shape;65;g3fb8e08d9db_0_38"/>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D5F7"/>
              </a:buClr>
              <a:buSzPts val="1100"/>
              <a:buFont typeface="Montserrat SemiBold"/>
              <a:buNone/>
            </a:pPr>
            <a:r>
              <a:rPr b="1" i="0" lang="en-US" sz="1100" u="none" cap="none" strike="noStrike">
                <a:solidFill>
                  <a:srgbClr val="C5D5F7"/>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70" name="Shape 70"/>
        <p:cNvGrpSpPr/>
        <p:nvPr/>
      </p:nvGrpSpPr>
      <p:grpSpPr>
        <a:xfrm>
          <a:off x="0" y="0"/>
          <a:ext cx="0" cy="0"/>
          <a:chOff x="0" y="0"/>
          <a:chExt cx="0" cy="0"/>
        </a:xfrm>
      </p:grpSpPr>
      <p:sp>
        <p:nvSpPr>
          <p:cNvPr id="71" name="Google Shape;71;g3fb8e08d9db_0_861"/>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
        <p:nvSpPr>
          <p:cNvPr id="72" name="Google Shape;72;g3fb8e08d9db_0_861"/>
          <p:cNvSpPr txBox="1"/>
          <p:nvPr/>
        </p:nvSpPr>
        <p:spPr>
          <a:xfrm>
            <a:off x="571500" y="1330650"/>
            <a:ext cx="8054100" cy="71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500"/>
              <a:buFont typeface="Montserrat ExtraBold"/>
              <a:buNone/>
            </a:pPr>
            <a:r>
              <a:rPr b="1" i="0" lang="en-US" sz="3600" u="none" cap="none" strike="noStrike">
                <a:solidFill>
                  <a:srgbClr val="000033"/>
                </a:solidFill>
                <a:latin typeface="Montserrat ExtraBold"/>
                <a:ea typeface="Montserrat ExtraBold"/>
                <a:cs typeface="Montserrat ExtraBold"/>
                <a:sym typeface="Montserrat ExtraBold"/>
              </a:rPr>
              <a:t>El</a:t>
            </a:r>
            <a:r>
              <a:rPr b="1" i="1" lang="en-US" sz="3600" u="none" cap="none" strike="noStrike">
                <a:solidFill>
                  <a:srgbClr val="000033"/>
                </a:solidFill>
                <a:latin typeface="Montserrat Black"/>
                <a:ea typeface="Montserrat Black"/>
                <a:cs typeface="Montserrat Black"/>
                <a:sym typeface="Montserrat Black"/>
              </a:rPr>
              <a:t> </a:t>
            </a:r>
            <a:r>
              <a:rPr b="1" i="1" lang="en-US" sz="3600" u="none" cap="none" strike="noStrike">
                <a:solidFill>
                  <a:srgbClr val="2B5BFC"/>
                </a:solidFill>
                <a:latin typeface="Montserrat Black"/>
                <a:ea typeface="Montserrat Black"/>
                <a:cs typeface="Montserrat Black"/>
                <a:sym typeface="Montserrat Black"/>
              </a:rPr>
              <a:t>Reto</a:t>
            </a:r>
            <a:endParaRPr b="0" i="0" sz="3600" u="none" cap="none" strike="noStrike">
              <a:solidFill>
                <a:srgbClr val="2B5BFC"/>
              </a:solidFill>
              <a:latin typeface="Calibri"/>
              <a:ea typeface="Calibri"/>
              <a:cs typeface="Calibri"/>
              <a:sym typeface="Calibri"/>
            </a:endParaRPr>
          </a:p>
        </p:txBody>
      </p:sp>
      <p:sp>
        <p:nvSpPr>
          <p:cNvPr id="73" name="Google Shape;73;g3fb8e08d9db_0_861"/>
          <p:cNvSpPr/>
          <p:nvPr/>
        </p:nvSpPr>
        <p:spPr>
          <a:xfrm>
            <a:off x="2908025" y="2102750"/>
            <a:ext cx="3465000" cy="9300"/>
          </a:xfrm>
          <a:prstGeom prst="rect">
            <a:avLst/>
          </a:prstGeom>
          <a:solidFill>
            <a:srgbClr val="2B5BFC"/>
          </a:solidFill>
          <a:ln cap="flat" cmpd="sng" w="12700">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33"/>
              </a:solidFill>
            </a:endParaRPr>
          </a:p>
        </p:txBody>
      </p:sp>
      <p:sp>
        <p:nvSpPr>
          <p:cNvPr id="74" name="Google Shape;74;g3fb8e08d9db_0_861"/>
          <p:cNvSpPr txBox="1"/>
          <p:nvPr/>
        </p:nvSpPr>
        <p:spPr>
          <a:xfrm>
            <a:off x="571500" y="2278825"/>
            <a:ext cx="8054100" cy="1051500"/>
          </a:xfrm>
          <a:prstGeom prst="rect">
            <a:avLst/>
          </a:prstGeom>
          <a:noFill/>
          <a:ln>
            <a:noFill/>
          </a:ln>
        </p:spPr>
        <p:txBody>
          <a:bodyPr anchorCtr="0" anchor="t" bIns="0" lIns="0" spcFirstLastPara="1" rIns="0" wrap="square" tIns="0">
            <a:noAutofit/>
          </a:bodyPr>
          <a:lstStyle/>
          <a:p>
            <a:pPr indent="0" lvl="0" marL="0" marR="0" rtl="0" algn="ctr">
              <a:lnSpc>
                <a:spcPct val="128000"/>
              </a:lnSpc>
              <a:spcBef>
                <a:spcPts val="0"/>
              </a:spcBef>
              <a:spcAft>
                <a:spcPts val="0"/>
              </a:spcAft>
              <a:buClr>
                <a:srgbClr val="C5D5F7"/>
              </a:buClr>
              <a:buSzPts val="1250"/>
              <a:buFont typeface="Montserrat Medium"/>
              <a:buNone/>
            </a:pPr>
            <a:r>
              <a:rPr lang="en-US" sz="1250">
                <a:solidFill>
                  <a:srgbClr val="000033"/>
                </a:solidFill>
                <a:latin typeface="Montserrat Medium"/>
                <a:ea typeface="Montserrat Medium"/>
                <a:cs typeface="Montserrat Medium"/>
                <a:sym typeface="Montserrat Medium"/>
              </a:rPr>
              <a:t>*</a:t>
            </a:r>
            <a:r>
              <a:rPr lang="en-US" sz="1250">
                <a:solidFill>
                  <a:srgbClr val="000033"/>
                </a:solidFill>
                <a:latin typeface="Montserrat Medium"/>
                <a:ea typeface="Montserrat Medium"/>
                <a:cs typeface="Montserrat Medium"/>
                <a:sym typeface="Montserrat Medium"/>
              </a:rPr>
              <a:t>Resumen del</a:t>
            </a:r>
            <a:r>
              <a:rPr lang="en-US" sz="1250">
                <a:solidFill>
                  <a:srgbClr val="000033"/>
                </a:solidFill>
                <a:latin typeface="Montserrat Medium"/>
                <a:ea typeface="Montserrat Medium"/>
                <a:cs typeface="Montserrat Medium"/>
                <a:sym typeface="Montserrat Medium"/>
              </a:rPr>
              <a:t> reto del cliente. Resumen del objetivo del cliente*</a:t>
            </a:r>
            <a:endParaRPr b="0" i="0" sz="1250" u="none" cap="none" strike="noStrike">
              <a:solidFill>
                <a:srgbClr val="000033"/>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79" name="Shape 79"/>
        <p:cNvGrpSpPr/>
        <p:nvPr/>
      </p:nvGrpSpPr>
      <p:grpSpPr>
        <a:xfrm>
          <a:off x="0" y="0"/>
          <a:ext cx="0" cy="0"/>
          <a:chOff x="0" y="0"/>
          <a:chExt cx="0" cy="0"/>
        </a:xfrm>
      </p:grpSpPr>
      <p:pic>
        <p:nvPicPr>
          <p:cNvPr descr="bg_divider.png" id="80" name="Google Shape;80;g3fb8e08d9db_0_53"/>
          <p:cNvPicPr preferRelativeResize="0"/>
          <p:nvPr/>
        </p:nvPicPr>
        <p:blipFill rotWithShape="1">
          <a:blip r:embed="rId3">
            <a:alphaModFix/>
          </a:blip>
          <a:srcRect b="0" l="0" r="0" t="0"/>
          <a:stretch/>
        </p:blipFill>
        <p:spPr>
          <a:xfrm>
            <a:off x="0" y="0"/>
            <a:ext cx="9143998" cy="5143501"/>
          </a:xfrm>
          <a:prstGeom prst="rect">
            <a:avLst/>
          </a:prstGeom>
          <a:noFill/>
          <a:ln>
            <a:noFill/>
          </a:ln>
        </p:spPr>
      </p:pic>
      <p:pic>
        <p:nvPicPr>
          <p:cNvPr descr="logo_blanco.png" id="81" name="Google Shape;81;g3fb8e08d9db_0_53"/>
          <p:cNvPicPr preferRelativeResize="0"/>
          <p:nvPr/>
        </p:nvPicPr>
        <p:blipFill rotWithShape="1">
          <a:blip r:embed="rId4">
            <a:alphaModFix/>
          </a:blip>
          <a:srcRect b="0" l="0" r="0" t="0"/>
          <a:stretch/>
        </p:blipFill>
        <p:spPr>
          <a:xfrm>
            <a:off x="569671" y="389534"/>
            <a:ext cx="1228039" cy="245059"/>
          </a:xfrm>
          <a:prstGeom prst="rect">
            <a:avLst/>
          </a:prstGeom>
          <a:noFill/>
          <a:ln>
            <a:noFill/>
          </a:ln>
        </p:spPr>
      </p:pic>
      <p:sp>
        <p:nvSpPr>
          <p:cNvPr id="82" name="Google Shape;82;g3fb8e08d9db_0_53"/>
          <p:cNvSpPr txBox="1"/>
          <p:nvPr/>
        </p:nvSpPr>
        <p:spPr>
          <a:xfrm>
            <a:off x="571500" y="1773936"/>
            <a:ext cx="27432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D5F7"/>
              </a:buClr>
              <a:buSzPts val="1200"/>
              <a:buFont typeface="Montserrat SemiBold"/>
              <a:buNone/>
            </a:pPr>
            <a:r>
              <a:rPr b="1" i="0" lang="en-US" sz="1200" u="none" cap="none" strike="noStrike">
                <a:solidFill>
                  <a:srgbClr val="C5D5F7"/>
                </a:solidFill>
                <a:latin typeface="Montserrat SemiBold"/>
                <a:ea typeface="Montserrat SemiBold"/>
                <a:cs typeface="Montserrat SemiBold"/>
                <a:sym typeface="Montserrat SemiBold"/>
              </a:rPr>
              <a:t>SECCIÓN 0</a:t>
            </a:r>
            <a:r>
              <a:rPr b="1" lang="en-US" sz="1200">
                <a:solidFill>
                  <a:srgbClr val="C5D5F7"/>
                </a:solidFill>
                <a:latin typeface="Montserrat SemiBold"/>
                <a:ea typeface="Montserrat SemiBold"/>
                <a:cs typeface="Montserrat SemiBold"/>
                <a:sym typeface="Montserrat SemiBold"/>
              </a:rPr>
              <a:t>2</a:t>
            </a:r>
            <a:endParaRPr b="0" i="0" sz="1200" u="none" cap="none" strike="noStrike">
              <a:solidFill>
                <a:schemeClr val="dk1"/>
              </a:solidFill>
              <a:latin typeface="Calibri"/>
              <a:ea typeface="Calibri"/>
              <a:cs typeface="Calibri"/>
              <a:sym typeface="Calibri"/>
            </a:endParaRPr>
          </a:p>
        </p:txBody>
      </p:sp>
      <p:sp>
        <p:nvSpPr>
          <p:cNvPr id="83" name="Google Shape;83;g3fb8e08d9db_0_53"/>
          <p:cNvSpPr txBox="1"/>
          <p:nvPr/>
        </p:nvSpPr>
        <p:spPr>
          <a:xfrm>
            <a:off x="571500" y="2157984"/>
            <a:ext cx="7863900" cy="73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500"/>
              <a:buFont typeface="Montserrat ExtraBold"/>
              <a:buNone/>
            </a:pPr>
            <a:r>
              <a:rPr b="1" lang="en-US" sz="4500">
                <a:solidFill>
                  <a:srgbClr val="FFFFFF"/>
                </a:solidFill>
                <a:latin typeface="Montserrat ExtraBold"/>
                <a:ea typeface="Montserrat ExtraBold"/>
                <a:cs typeface="Montserrat ExtraBold"/>
                <a:sym typeface="Montserrat ExtraBold"/>
              </a:rPr>
              <a:t>Nuestra </a:t>
            </a:r>
            <a:r>
              <a:rPr b="1" i="1" lang="en-US" sz="4500">
                <a:solidFill>
                  <a:srgbClr val="7E99FE"/>
                </a:solidFill>
                <a:latin typeface="Montserrat ExtraBold"/>
                <a:ea typeface="Montserrat ExtraBold"/>
                <a:cs typeface="Montserrat ExtraBold"/>
                <a:sym typeface="Montserrat ExtraBold"/>
              </a:rPr>
              <a:t>Propuesta</a:t>
            </a:r>
            <a:endParaRPr b="0" i="1" sz="4500" u="none" cap="none" strike="noStrike">
              <a:solidFill>
                <a:srgbClr val="7E99FE"/>
              </a:solidFill>
              <a:latin typeface="Calibri"/>
              <a:ea typeface="Calibri"/>
              <a:cs typeface="Calibri"/>
              <a:sym typeface="Calibri"/>
            </a:endParaRPr>
          </a:p>
        </p:txBody>
      </p:sp>
      <p:sp>
        <p:nvSpPr>
          <p:cNvPr id="84" name="Google Shape;84;g3fb8e08d9db_0_53"/>
          <p:cNvSpPr txBox="1"/>
          <p:nvPr/>
        </p:nvSpPr>
        <p:spPr>
          <a:xfrm>
            <a:off x="571500" y="3054096"/>
            <a:ext cx="4937700" cy="493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C5D5F7"/>
              </a:buClr>
              <a:buSzPts val="1300"/>
              <a:buFont typeface="Montserrat Medium"/>
              <a:buNone/>
            </a:pPr>
            <a:r>
              <a:rPr b="0" i="0" lang="en-US" sz="1300" u="none" cap="none" strike="noStrike">
                <a:solidFill>
                  <a:srgbClr val="C5D5F7"/>
                </a:solidFill>
                <a:latin typeface="Montserrat Medium"/>
                <a:ea typeface="Montserrat Medium"/>
                <a:cs typeface="Montserrat Medium"/>
                <a:sym typeface="Montserrat Medium"/>
              </a:rPr>
              <a:t>Una línea que anticipa qué se resuelve en esta sección.</a:t>
            </a:r>
            <a:endParaRPr b="0" i="0" sz="1300" u="none" cap="none" strike="noStrike">
              <a:solidFill>
                <a:schemeClr val="dk1"/>
              </a:solidFill>
              <a:latin typeface="Calibri"/>
              <a:ea typeface="Calibri"/>
              <a:cs typeface="Calibri"/>
              <a:sym typeface="Calibri"/>
            </a:endParaRPr>
          </a:p>
        </p:txBody>
      </p:sp>
      <p:sp>
        <p:nvSpPr>
          <p:cNvPr id="85" name="Google Shape;85;g3fb8e08d9db_0_53"/>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D5F7"/>
              </a:buClr>
              <a:buSzPts val="1100"/>
              <a:buFont typeface="Montserrat SemiBold"/>
              <a:buNone/>
            </a:pPr>
            <a:r>
              <a:rPr b="1" i="0" lang="en-US" sz="1100" u="none" cap="none" strike="noStrike">
                <a:solidFill>
                  <a:srgbClr val="C5D5F7"/>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90" name="Shape 90"/>
        <p:cNvGrpSpPr/>
        <p:nvPr/>
      </p:nvGrpSpPr>
      <p:grpSpPr>
        <a:xfrm>
          <a:off x="0" y="0"/>
          <a:ext cx="0" cy="0"/>
          <a:chOff x="0" y="0"/>
          <a:chExt cx="0" cy="0"/>
        </a:xfrm>
      </p:grpSpPr>
      <p:sp>
        <p:nvSpPr>
          <p:cNvPr id="91" name="Google Shape;91;g3fb8e08d9db_0_893"/>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
        <p:nvSpPr>
          <p:cNvPr id="92" name="Google Shape;92;g3fb8e08d9db_0_893"/>
          <p:cNvSpPr txBox="1"/>
          <p:nvPr/>
        </p:nvSpPr>
        <p:spPr>
          <a:xfrm>
            <a:off x="571500" y="1810512"/>
            <a:ext cx="5486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5D5F7"/>
              </a:buClr>
              <a:buSzPts val="1100"/>
              <a:buFont typeface="Montserrat SemiBold"/>
              <a:buNone/>
            </a:pPr>
            <a:r>
              <a:rPr b="1" i="0" lang="en-US" sz="1100" u="none" cap="none" strike="noStrike">
                <a:solidFill>
                  <a:srgbClr val="2D5BFF"/>
                </a:solidFill>
                <a:latin typeface="Montserrat SemiBold"/>
                <a:ea typeface="Montserrat SemiBold"/>
                <a:cs typeface="Montserrat SemiBold"/>
                <a:sym typeface="Montserrat SemiBold"/>
              </a:rPr>
              <a:t>NEO TALENT SOLUTIONS</a:t>
            </a:r>
            <a:endParaRPr b="0" i="0" sz="1100" u="none" cap="none" strike="noStrike">
              <a:solidFill>
                <a:srgbClr val="2D5BFF"/>
              </a:solidFill>
              <a:latin typeface="Calibri"/>
              <a:ea typeface="Calibri"/>
              <a:cs typeface="Calibri"/>
              <a:sym typeface="Calibri"/>
            </a:endParaRPr>
          </a:p>
        </p:txBody>
      </p:sp>
      <p:sp>
        <p:nvSpPr>
          <p:cNvPr id="93" name="Google Shape;93;g3fb8e08d9db_0_893"/>
          <p:cNvSpPr txBox="1"/>
          <p:nvPr/>
        </p:nvSpPr>
        <p:spPr>
          <a:xfrm>
            <a:off x="571500" y="2176272"/>
            <a:ext cx="7223700" cy="14172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3400"/>
              <a:buFont typeface="Montserrat ExtraBold"/>
              <a:buNone/>
            </a:pPr>
            <a:r>
              <a:rPr b="1" i="0" lang="en-US" sz="3400" u="none" cap="none" strike="noStrike">
                <a:solidFill>
                  <a:srgbClr val="000033"/>
                </a:solidFill>
                <a:latin typeface="Montserrat ExtraBold"/>
                <a:ea typeface="Montserrat ExtraBold"/>
                <a:cs typeface="Montserrat ExtraBold"/>
                <a:sym typeface="Montserrat ExtraBold"/>
              </a:rPr>
              <a:t>Encontramos al </a:t>
            </a:r>
            <a:r>
              <a:rPr i="1" lang="en-US" sz="3400" u="none" cap="none" strike="noStrike">
                <a:solidFill>
                  <a:srgbClr val="2D5BFF"/>
                </a:solidFill>
                <a:latin typeface="Montserrat Black"/>
                <a:ea typeface="Montserrat Black"/>
                <a:cs typeface="Montserrat Black"/>
                <a:sym typeface="Montserrat Black"/>
              </a:rPr>
              <a:t>mejor talento digital</a:t>
            </a:r>
            <a:r>
              <a:rPr b="1" i="0" lang="en-US" sz="3400" u="none" cap="none" strike="noStrike">
                <a:solidFill>
                  <a:srgbClr val="FFFFFF"/>
                </a:solidFill>
                <a:latin typeface="Montserrat ExtraBold"/>
                <a:ea typeface="Montserrat ExtraBold"/>
                <a:cs typeface="Montserrat ExtraBold"/>
                <a:sym typeface="Montserrat ExtraBold"/>
              </a:rPr>
              <a:t> </a:t>
            </a:r>
            <a:r>
              <a:rPr b="1" i="0" lang="en-US" sz="3400" u="none" cap="none" strike="noStrike">
                <a:solidFill>
                  <a:srgbClr val="000033"/>
                </a:solidFill>
                <a:latin typeface="Montserrat ExtraBold"/>
                <a:ea typeface="Montserrat ExtraBold"/>
                <a:cs typeface="Montserrat ExtraBold"/>
                <a:sym typeface="Montserrat ExtraBold"/>
              </a:rPr>
              <a:t>que estabas buscando</a:t>
            </a:r>
            <a:endParaRPr b="0" i="0" sz="3400" u="none" cap="none" strike="noStrike">
              <a:solidFill>
                <a:srgbClr val="000033"/>
              </a:solidFill>
              <a:latin typeface="Calibri"/>
              <a:ea typeface="Calibri"/>
              <a:cs typeface="Calibri"/>
              <a:sym typeface="Calibri"/>
            </a:endParaRPr>
          </a:p>
        </p:txBody>
      </p:sp>
      <p:sp>
        <p:nvSpPr>
          <p:cNvPr id="94" name="Google Shape;94;g3fb8e08d9db_0_893"/>
          <p:cNvSpPr/>
          <p:nvPr/>
        </p:nvSpPr>
        <p:spPr>
          <a:xfrm>
            <a:off x="571500" y="3803904"/>
            <a:ext cx="822900" cy="7200"/>
          </a:xfrm>
          <a:prstGeom prst="rect">
            <a:avLst/>
          </a:prstGeom>
          <a:solidFill>
            <a:srgbClr val="2B5BFC"/>
          </a:solidFill>
          <a:ln cap="flat" cmpd="sng" w="12700">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99" name="Shape 99"/>
        <p:cNvGrpSpPr/>
        <p:nvPr/>
      </p:nvGrpSpPr>
      <p:grpSpPr>
        <a:xfrm>
          <a:off x="0" y="0"/>
          <a:ext cx="0" cy="0"/>
          <a:chOff x="0" y="0"/>
          <a:chExt cx="0" cy="0"/>
        </a:xfrm>
      </p:grpSpPr>
      <p:sp>
        <p:nvSpPr>
          <p:cNvPr id="100" name="Google Shape;100;g3fb8e08d9db_0_738"/>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¿POR QUÉ NEO?</a:t>
            </a:r>
            <a:endParaRPr b="0" i="0" sz="1100" u="none" cap="none" strike="noStrike">
              <a:solidFill>
                <a:schemeClr val="dk1"/>
              </a:solidFill>
              <a:latin typeface="Calibri"/>
              <a:ea typeface="Calibri"/>
              <a:cs typeface="Calibri"/>
              <a:sym typeface="Calibri"/>
            </a:endParaRPr>
          </a:p>
        </p:txBody>
      </p:sp>
      <p:sp>
        <p:nvSpPr>
          <p:cNvPr id="101" name="Google Shape;101;g3fb8e08d9db_0_738"/>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Nuestros</a:t>
            </a:r>
            <a:r>
              <a:rPr b="1" i="1" lang="en-US" sz="2100" u="none" cap="none" strike="noStrike">
                <a:solidFill>
                  <a:srgbClr val="2B5BFC"/>
                </a:solidFill>
                <a:latin typeface="Montserrat Black"/>
                <a:ea typeface="Montserrat Black"/>
                <a:cs typeface="Montserrat Black"/>
                <a:sym typeface="Montserrat Black"/>
              </a:rPr>
              <a:t> pilares</a:t>
            </a:r>
            <a:endParaRPr b="0" i="0" sz="2100" u="none" cap="none" strike="noStrike">
              <a:solidFill>
                <a:schemeClr val="dk1"/>
              </a:solidFill>
              <a:latin typeface="Calibri"/>
              <a:ea typeface="Calibri"/>
              <a:cs typeface="Calibri"/>
              <a:sym typeface="Calibri"/>
            </a:endParaRPr>
          </a:p>
        </p:txBody>
      </p:sp>
      <p:sp>
        <p:nvSpPr>
          <p:cNvPr id="102" name="Google Shape;102;g3fb8e08d9db_0_738"/>
          <p:cNvSpPr txBox="1"/>
          <p:nvPr/>
        </p:nvSpPr>
        <p:spPr>
          <a:xfrm>
            <a:off x="571500" y="1539850"/>
            <a:ext cx="8001000" cy="310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33"/>
              </a:buClr>
              <a:buSzPts val="1050"/>
              <a:buFont typeface="Montserrat"/>
              <a:buNone/>
            </a:pPr>
            <a:r>
              <a:rPr b="0" i="0" lang="en-US" sz="1050" u="none" cap="none" strike="noStrike">
                <a:solidFill>
                  <a:srgbClr val="000033"/>
                </a:solidFill>
                <a:latin typeface="Montserrat"/>
                <a:ea typeface="Montserrat"/>
                <a:cs typeface="Montserrat"/>
                <a:sym typeface="Montserrat"/>
              </a:rPr>
              <a:t>Tres principios que sostienen cada incorporación de talento Neo.</a:t>
            </a:r>
            <a:endParaRPr b="0" i="0" sz="1050" u="none" cap="none" strike="noStrike">
              <a:solidFill>
                <a:schemeClr val="dk1"/>
              </a:solidFill>
              <a:latin typeface="Calibri"/>
              <a:ea typeface="Calibri"/>
              <a:cs typeface="Calibri"/>
              <a:sym typeface="Calibri"/>
            </a:endParaRPr>
          </a:p>
        </p:txBody>
      </p:sp>
      <p:sp>
        <p:nvSpPr>
          <p:cNvPr id="103" name="Google Shape;103;g3fb8e08d9db_0_738"/>
          <p:cNvSpPr/>
          <p:nvPr/>
        </p:nvSpPr>
        <p:spPr>
          <a:xfrm>
            <a:off x="571500" y="1883664"/>
            <a:ext cx="2590500" cy="24873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3fb8e08d9db_0_738"/>
          <p:cNvSpPr/>
          <p:nvPr/>
        </p:nvSpPr>
        <p:spPr>
          <a:xfrm>
            <a:off x="754380" y="2084832"/>
            <a:ext cx="731400" cy="255900"/>
          </a:xfrm>
          <a:prstGeom prst="roundRect">
            <a:avLst>
              <a:gd fmla="val 50000" name="adj"/>
            </a:avLst>
          </a:prstGeom>
          <a:solidFill>
            <a:srgbClr val="2B5BFC"/>
          </a:solidFill>
          <a:ln cap="flat" cmpd="sng" w="12700">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3fb8e08d9db_0_738"/>
          <p:cNvSpPr txBox="1"/>
          <p:nvPr/>
        </p:nvSpPr>
        <p:spPr>
          <a:xfrm>
            <a:off x="754380" y="2139696"/>
            <a:ext cx="7314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Montserrat SemiBold"/>
              <a:buNone/>
            </a:pPr>
            <a:r>
              <a:rPr b="1" i="0" lang="en-US" sz="850" u="none" cap="none" strike="noStrike">
                <a:solidFill>
                  <a:srgbClr val="FFFFFF"/>
                </a:solidFill>
                <a:latin typeface="Montserrat SemiBold"/>
                <a:ea typeface="Montserrat SemiBold"/>
                <a:cs typeface="Montserrat SemiBold"/>
                <a:sym typeface="Montserrat SemiBold"/>
              </a:rPr>
              <a:t>PILAR 01</a:t>
            </a:r>
            <a:endParaRPr b="0" i="0" sz="850" u="none" cap="none" strike="noStrike">
              <a:solidFill>
                <a:schemeClr val="dk1"/>
              </a:solidFill>
              <a:latin typeface="Calibri"/>
              <a:ea typeface="Calibri"/>
              <a:cs typeface="Calibri"/>
              <a:sym typeface="Calibri"/>
            </a:endParaRPr>
          </a:p>
        </p:txBody>
      </p:sp>
      <p:pic>
        <p:nvPicPr>
          <p:cNvPr descr="icon_pilar1.png" id="106" name="Google Shape;106;g3fb8e08d9db_0_738"/>
          <p:cNvPicPr preferRelativeResize="0"/>
          <p:nvPr/>
        </p:nvPicPr>
        <p:blipFill rotWithShape="1">
          <a:blip r:embed="rId3">
            <a:alphaModFix/>
          </a:blip>
          <a:srcRect b="0" l="0" r="0" t="0"/>
          <a:stretch/>
        </p:blipFill>
        <p:spPr>
          <a:xfrm>
            <a:off x="1555852" y="2505456"/>
            <a:ext cx="621792" cy="621792"/>
          </a:xfrm>
          <a:prstGeom prst="rect">
            <a:avLst/>
          </a:prstGeom>
          <a:noFill/>
          <a:ln>
            <a:noFill/>
          </a:ln>
        </p:spPr>
      </p:pic>
      <p:sp>
        <p:nvSpPr>
          <p:cNvPr id="107" name="Google Shape;107;g3fb8e08d9db_0_738"/>
          <p:cNvSpPr txBox="1"/>
          <p:nvPr/>
        </p:nvSpPr>
        <p:spPr>
          <a:xfrm>
            <a:off x="754380" y="3273552"/>
            <a:ext cx="2224800" cy="420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400"/>
              <a:buFont typeface="Montserrat ExtraBold"/>
              <a:buNone/>
            </a:pPr>
            <a:r>
              <a:rPr b="1" i="0" lang="en-US" sz="1400" u="none" cap="none" strike="noStrike">
                <a:solidFill>
                  <a:srgbClr val="000033"/>
                </a:solidFill>
                <a:latin typeface="Montserrat ExtraBold"/>
                <a:ea typeface="Montserrat ExtraBold"/>
                <a:cs typeface="Montserrat ExtraBold"/>
                <a:sym typeface="Montserrat ExtraBold"/>
              </a:rPr>
              <a:t>Calidad de talento</a:t>
            </a:r>
            <a:endParaRPr b="0" i="0" sz="1400" u="none" cap="none" strike="noStrike">
              <a:solidFill>
                <a:schemeClr val="dk1"/>
              </a:solidFill>
              <a:latin typeface="Calibri"/>
              <a:ea typeface="Calibri"/>
              <a:cs typeface="Calibri"/>
              <a:sym typeface="Calibri"/>
            </a:endParaRPr>
          </a:p>
        </p:txBody>
      </p:sp>
      <p:sp>
        <p:nvSpPr>
          <p:cNvPr id="108" name="Google Shape;108;g3fb8e08d9db_0_738"/>
          <p:cNvSpPr/>
          <p:nvPr/>
        </p:nvSpPr>
        <p:spPr>
          <a:xfrm>
            <a:off x="754380" y="3758184"/>
            <a:ext cx="502800" cy="7200"/>
          </a:xfrm>
          <a:prstGeom prst="rect">
            <a:avLst/>
          </a:prstGeom>
          <a:solidFill>
            <a:srgbClr val="2B5BFC"/>
          </a:solidFill>
          <a:ln cap="flat" cmpd="sng" w="12700">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3fb8e08d9db_0_738"/>
          <p:cNvSpPr txBox="1"/>
          <p:nvPr/>
        </p:nvSpPr>
        <p:spPr>
          <a:xfrm>
            <a:off x="754380" y="3858768"/>
            <a:ext cx="2224800" cy="438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33"/>
              </a:buClr>
              <a:buSzPts val="850"/>
              <a:buFont typeface="Montserrat"/>
              <a:buNone/>
            </a:pPr>
            <a:r>
              <a:rPr b="0" i="0" lang="en-US" sz="850" u="none" cap="none" strike="noStrike">
                <a:solidFill>
                  <a:srgbClr val="000033"/>
                </a:solidFill>
                <a:latin typeface="Montserrat"/>
                <a:ea typeface="Montserrat"/>
                <a:cs typeface="Montserrat"/>
                <a:sym typeface="Montserrat"/>
              </a:rPr>
              <a:t>25 años de experiencia en digital </a:t>
            </a:r>
            <a:endParaRPr b="0" i="0" sz="850" u="none" cap="none" strike="noStrike">
              <a:solidFill>
                <a:schemeClr val="dk1"/>
              </a:solidFill>
              <a:latin typeface="Calibri"/>
              <a:ea typeface="Calibri"/>
              <a:cs typeface="Calibri"/>
              <a:sym typeface="Calibri"/>
            </a:endParaRPr>
          </a:p>
        </p:txBody>
      </p:sp>
      <p:sp>
        <p:nvSpPr>
          <p:cNvPr id="110" name="Google Shape;110;g3fb8e08d9db_0_738"/>
          <p:cNvSpPr/>
          <p:nvPr/>
        </p:nvSpPr>
        <p:spPr>
          <a:xfrm>
            <a:off x="3276752" y="1883664"/>
            <a:ext cx="2590500" cy="24873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3fb8e08d9db_0_738"/>
          <p:cNvSpPr/>
          <p:nvPr/>
        </p:nvSpPr>
        <p:spPr>
          <a:xfrm>
            <a:off x="3459632" y="2084832"/>
            <a:ext cx="731400" cy="255900"/>
          </a:xfrm>
          <a:prstGeom prst="roundRect">
            <a:avLst>
              <a:gd fmla="val 50000" name="adj"/>
            </a:avLst>
          </a:prstGeom>
          <a:solidFill>
            <a:srgbClr val="2B5BFC"/>
          </a:solidFill>
          <a:ln cap="flat" cmpd="sng" w="12700">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3fb8e08d9db_0_738"/>
          <p:cNvSpPr txBox="1"/>
          <p:nvPr/>
        </p:nvSpPr>
        <p:spPr>
          <a:xfrm>
            <a:off x="3459632" y="2139696"/>
            <a:ext cx="7314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Montserrat SemiBold"/>
              <a:buNone/>
            </a:pPr>
            <a:r>
              <a:rPr b="1" i="0" lang="en-US" sz="850" u="none" cap="none" strike="noStrike">
                <a:solidFill>
                  <a:srgbClr val="FFFFFF"/>
                </a:solidFill>
                <a:latin typeface="Montserrat SemiBold"/>
                <a:ea typeface="Montserrat SemiBold"/>
                <a:cs typeface="Montserrat SemiBold"/>
                <a:sym typeface="Montserrat SemiBold"/>
              </a:rPr>
              <a:t>PILAR 02</a:t>
            </a:r>
            <a:endParaRPr b="0" i="0" sz="850" u="none" cap="none" strike="noStrike">
              <a:solidFill>
                <a:schemeClr val="dk1"/>
              </a:solidFill>
              <a:latin typeface="Calibri"/>
              <a:ea typeface="Calibri"/>
              <a:cs typeface="Calibri"/>
              <a:sym typeface="Calibri"/>
            </a:endParaRPr>
          </a:p>
        </p:txBody>
      </p:sp>
      <p:pic>
        <p:nvPicPr>
          <p:cNvPr descr="icon_pilar2.png" id="113" name="Google Shape;113;g3fb8e08d9db_0_738"/>
          <p:cNvPicPr preferRelativeResize="0"/>
          <p:nvPr/>
        </p:nvPicPr>
        <p:blipFill rotWithShape="1">
          <a:blip r:embed="rId4">
            <a:alphaModFix/>
          </a:blip>
          <a:srcRect b="0" l="0" r="0" t="0"/>
          <a:stretch/>
        </p:blipFill>
        <p:spPr>
          <a:xfrm>
            <a:off x="4261104" y="2505456"/>
            <a:ext cx="621792" cy="621792"/>
          </a:xfrm>
          <a:prstGeom prst="rect">
            <a:avLst/>
          </a:prstGeom>
          <a:noFill/>
          <a:ln>
            <a:noFill/>
          </a:ln>
        </p:spPr>
      </p:pic>
      <p:sp>
        <p:nvSpPr>
          <p:cNvPr id="114" name="Google Shape;114;g3fb8e08d9db_0_738"/>
          <p:cNvSpPr txBox="1"/>
          <p:nvPr/>
        </p:nvSpPr>
        <p:spPr>
          <a:xfrm>
            <a:off x="3459632" y="3273552"/>
            <a:ext cx="2224800" cy="420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400"/>
              <a:buFont typeface="Montserrat ExtraBold"/>
              <a:buNone/>
            </a:pPr>
            <a:r>
              <a:rPr b="1" i="0" lang="en-US" sz="1400" u="none" cap="none" strike="noStrike">
                <a:solidFill>
                  <a:srgbClr val="000033"/>
                </a:solidFill>
                <a:latin typeface="Montserrat ExtraBold"/>
                <a:ea typeface="Montserrat ExtraBold"/>
                <a:cs typeface="Montserrat ExtraBold"/>
                <a:sym typeface="Montserrat ExtraBold"/>
              </a:rPr>
              <a:t>Rapidez</a:t>
            </a:r>
            <a:endParaRPr b="0" i="0" sz="1400" u="none" cap="none" strike="noStrike">
              <a:solidFill>
                <a:schemeClr val="dk1"/>
              </a:solidFill>
              <a:latin typeface="Calibri"/>
              <a:ea typeface="Calibri"/>
              <a:cs typeface="Calibri"/>
              <a:sym typeface="Calibri"/>
            </a:endParaRPr>
          </a:p>
        </p:txBody>
      </p:sp>
      <p:sp>
        <p:nvSpPr>
          <p:cNvPr id="115" name="Google Shape;115;g3fb8e08d9db_0_738"/>
          <p:cNvSpPr/>
          <p:nvPr/>
        </p:nvSpPr>
        <p:spPr>
          <a:xfrm>
            <a:off x="3459632" y="3758184"/>
            <a:ext cx="502800" cy="7200"/>
          </a:xfrm>
          <a:prstGeom prst="rect">
            <a:avLst/>
          </a:prstGeom>
          <a:solidFill>
            <a:srgbClr val="2B5BFC"/>
          </a:solidFill>
          <a:ln cap="flat" cmpd="sng" w="12700">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g3fb8e08d9db_0_738"/>
          <p:cNvSpPr txBox="1"/>
          <p:nvPr/>
        </p:nvSpPr>
        <p:spPr>
          <a:xfrm>
            <a:off x="3459632" y="3858768"/>
            <a:ext cx="2224800" cy="438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33"/>
              </a:buClr>
              <a:buSzPts val="850"/>
              <a:buFont typeface="Montserrat"/>
              <a:buNone/>
            </a:pPr>
            <a:r>
              <a:rPr b="0" i="0" lang="en-US" sz="850" u="none" cap="none" strike="noStrike">
                <a:solidFill>
                  <a:srgbClr val="000033"/>
                </a:solidFill>
                <a:latin typeface="Montserrat"/>
                <a:ea typeface="Montserrat"/>
                <a:cs typeface="Montserrat"/>
                <a:sym typeface="Montserrat"/>
              </a:rPr>
              <a:t>Metodología integrada de selección + machine learning para predecir el performance </a:t>
            </a:r>
            <a:endParaRPr b="0" i="0" sz="850" u="none" cap="none" strike="noStrike">
              <a:solidFill>
                <a:schemeClr val="dk1"/>
              </a:solidFill>
              <a:latin typeface="Calibri"/>
              <a:ea typeface="Calibri"/>
              <a:cs typeface="Calibri"/>
              <a:sym typeface="Calibri"/>
            </a:endParaRPr>
          </a:p>
        </p:txBody>
      </p:sp>
      <p:sp>
        <p:nvSpPr>
          <p:cNvPr id="117" name="Google Shape;117;g3fb8e08d9db_0_738"/>
          <p:cNvSpPr/>
          <p:nvPr/>
        </p:nvSpPr>
        <p:spPr>
          <a:xfrm>
            <a:off x="5982005" y="1883664"/>
            <a:ext cx="2590500" cy="24873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fb8e08d9db_0_738"/>
          <p:cNvSpPr/>
          <p:nvPr/>
        </p:nvSpPr>
        <p:spPr>
          <a:xfrm>
            <a:off x="6164885" y="2084832"/>
            <a:ext cx="731400" cy="255900"/>
          </a:xfrm>
          <a:prstGeom prst="roundRect">
            <a:avLst>
              <a:gd fmla="val 50000" name="adj"/>
            </a:avLst>
          </a:prstGeom>
          <a:solidFill>
            <a:srgbClr val="2B5BFC"/>
          </a:solidFill>
          <a:ln cap="flat" cmpd="sng" w="12700">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fb8e08d9db_0_738"/>
          <p:cNvSpPr txBox="1"/>
          <p:nvPr/>
        </p:nvSpPr>
        <p:spPr>
          <a:xfrm>
            <a:off x="6164885" y="2139696"/>
            <a:ext cx="7314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Montserrat SemiBold"/>
              <a:buNone/>
            </a:pPr>
            <a:r>
              <a:rPr b="1" i="0" lang="en-US" sz="850" u="none" cap="none" strike="noStrike">
                <a:solidFill>
                  <a:srgbClr val="FFFFFF"/>
                </a:solidFill>
                <a:latin typeface="Montserrat SemiBold"/>
                <a:ea typeface="Montserrat SemiBold"/>
                <a:cs typeface="Montserrat SemiBold"/>
                <a:sym typeface="Montserrat SemiBold"/>
              </a:rPr>
              <a:t>PILAR 03</a:t>
            </a:r>
            <a:endParaRPr b="0" i="0" sz="850" u="none" cap="none" strike="noStrike">
              <a:solidFill>
                <a:schemeClr val="dk1"/>
              </a:solidFill>
              <a:latin typeface="Calibri"/>
              <a:ea typeface="Calibri"/>
              <a:cs typeface="Calibri"/>
              <a:sym typeface="Calibri"/>
            </a:endParaRPr>
          </a:p>
        </p:txBody>
      </p:sp>
      <p:pic>
        <p:nvPicPr>
          <p:cNvPr descr="icon_pilar3.png" id="120" name="Google Shape;120;g3fb8e08d9db_0_738"/>
          <p:cNvPicPr preferRelativeResize="0"/>
          <p:nvPr/>
        </p:nvPicPr>
        <p:blipFill rotWithShape="1">
          <a:blip r:embed="rId5">
            <a:alphaModFix/>
          </a:blip>
          <a:srcRect b="0" l="0" r="0" t="0"/>
          <a:stretch/>
        </p:blipFill>
        <p:spPr>
          <a:xfrm>
            <a:off x="6966356" y="2505456"/>
            <a:ext cx="621792" cy="621792"/>
          </a:xfrm>
          <a:prstGeom prst="rect">
            <a:avLst/>
          </a:prstGeom>
          <a:noFill/>
          <a:ln>
            <a:noFill/>
          </a:ln>
        </p:spPr>
      </p:pic>
      <p:sp>
        <p:nvSpPr>
          <p:cNvPr id="121" name="Google Shape;121;g3fb8e08d9db_0_738"/>
          <p:cNvSpPr txBox="1"/>
          <p:nvPr/>
        </p:nvSpPr>
        <p:spPr>
          <a:xfrm>
            <a:off x="6164885" y="3273552"/>
            <a:ext cx="2224800" cy="420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400"/>
              <a:buFont typeface="Montserrat ExtraBold"/>
              <a:buNone/>
            </a:pPr>
            <a:r>
              <a:rPr b="1" i="0" lang="en-US" sz="1400" u="none" cap="none" strike="noStrike">
                <a:solidFill>
                  <a:srgbClr val="000033"/>
                </a:solidFill>
                <a:latin typeface="Montserrat ExtraBold"/>
                <a:ea typeface="Montserrat ExtraBold"/>
                <a:cs typeface="Montserrat ExtraBold"/>
                <a:sym typeface="Montserrat ExtraBold"/>
              </a:rPr>
              <a:t>Personalización</a:t>
            </a:r>
            <a:endParaRPr b="0" i="0" sz="1400" u="none" cap="none" strike="noStrike">
              <a:solidFill>
                <a:schemeClr val="dk1"/>
              </a:solidFill>
              <a:latin typeface="Calibri"/>
              <a:ea typeface="Calibri"/>
              <a:cs typeface="Calibri"/>
              <a:sym typeface="Calibri"/>
            </a:endParaRPr>
          </a:p>
        </p:txBody>
      </p:sp>
      <p:sp>
        <p:nvSpPr>
          <p:cNvPr id="122" name="Google Shape;122;g3fb8e08d9db_0_738"/>
          <p:cNvSpPr/>
          <p:nvPr/>
        </p:nvSpPr>
        <p:spPr>
          <a:xfrm>
            <a:off x="6164885" y="3758184"/>
            <a:ext cx="502800" cy="7200"/>
          </a:xfrm>
          <a:prstGeom prst="rect">
            <a:avLst/>
          </a:prstGeom>
          <a:solidFill>
            <a:srgbClr val="2B5BFC"/>
          </a:solidFill>
          <a:ln cap="flat" cmpd="sng" w="12700">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3fb8e08d9db_0_738"/>
          <p:cNvSpPr txBox="1"/>
          <p:nvPr/>
        </p:nvSpPr>
        <p:spPr>
          <a:xfrm>
            <a:off x="6164885" y="3858768"/>
            <a:ext cx="2224800" cy="438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33"/>
              </a:buClr>
              <a:buSzPts val="850"/>
              <a:buFont typeface="Montserrat"/>
              <a:buNone/>
            </a:pPr>
            <a:r>
              <a:rPr b="0" i="0" lang="en-US" sz="850" u="none" cap="none" strike="noStrike">
                <a:solidFill>
                  <a:srgbClr val="000033"/>
                </a:solidFill>
                <a:latin typeface="Montserrat"/>
                <a:ea typeface="Montserrat"/>
                <a:cs typeface="Montserrat"/>
                <a:sym typeface="Montserrat"/>
              </a:rPr>
              <a:t>Servicio ad hoc y acompañamiento continuo, </a:t>
            </a:r>
            <a:endParaRPr b="0" i="0" sz="850" u="none" cap="none" strike="noStrike">
              <a:solidFill>
                <a:schemeClr val="dk1"/>
              </a:solidFill>
              <a:latin typeface="Calibri"/>
              <a:ea typeface="Calibri"/>
              <a:cs typeface="Calibri"/>
              <a:sym typeface="Calibri"/>
            </a:endParaRPr>
          </a:p>
        </p:txBody>
      </p:sp>
      <p:sp>
        <p:nvSpPr>
          <p:cNvPr id="124" name="Google Shape;124;g3fb8e08d9db_0_738"/>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129" name="Shape 129"/>
        <p:cNvGrpSpPr/>
        <p:nvPr/>
      </p:nvGrpSpPr>
      <p:grpSpPr>
        <a:xfrm>
          <a:off x="0" y="0"/>
          <a:ext cx="0" cy="0"/>
          <a:chOff x="0" y="0"/>
          <a:chExt cx="0" cy="0"/>
        </a:xfrm>
      </p:grpSpPr>
      <p:sp>
        <p:nvSpPr>
          <p:cNvPr id="130" name="Google Shape;130;g3fb8e08d9db_0_590"/>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NUESTRA PROPUESTA</a:t>
            </a:r>
            <a:endParaRPr b="0" i="0" sz="1100" u="none" cap="none" strike="noStrike">
              <a:solidFill>
                <a:schemeClr val="dk1"/>
              </a:solidFill>
              <a:latin typeface="Calibri"/>
              <a:ea typeface="Calibri"/>
              <a:cs typeface="Calibri"/>
              <a:sym typeface="Calibri"/>
            </a:endParaRPr>
          </a:p>
        </p:txBody>
      </p:sp>
      <p:sp>
        <p:nvSpPr>
          <p:cNvPr id="131" name="Google Shape;131;g3fb8e08d9db_0_590"/>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Lo que</a:t>
            </a:r>
            <a:r>
              <a:rPr b="1" i="1" lang="en-US" sz="2100" u="none" cap="none" strike="noStrike">
                <a:solidFill>
                  <a:srgbClr val="2B5BFC"/>
                </a:solidFill>
                <a:latin typeface="Montserrat Black"/>
                <a:ea typeface="Montserrat Black"/>
                <a:cs typeface="Montserrat Black"/>
                <a:sym typeface="Montserrat Black"/>
              </a:rPr>
              <a:t> ofrecemos</a:t>
            </a:r>
            <a:endParaRPr b="0" i="0" sz="2100" u="none" cap="none" strike="noStrike">
              <a:solidFill>
                <a:schemeClr val="dk1"/>
              </a:solidFill>
              <a:latin typeface="Calibri"/>
              <a:ea typeface="Calibri"/>
              <a:cs typeface="Calibri"/>
              <a:sym typeface="Calibri"/>
            </a:endParaRPr>
          </a:p>
        </p:txBody>
      </p:sp>
      <p:sp>
        <p:nvSpPr>
          <p:cNvPr id="132" name="Google Shape;132;g3fb8e08d9db_0_590"/>
          <p:cNvSpPr txBox="1"/>
          <p:nvPr/>
        </p:nvSpPr>
        <p:spPr>
          <a:xfrm>
            <a:off x="571500" y="1539850"/>
            <a:ext cx="8001000" cy="310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33"/>
              </a:buClr>
              <a:buSzPts val="1050"/>
              <a:buFont typeface="Montserrat"/>
              <a:buNone/>
            </a:pPr>
            <a:r>
              <a:rPr b="0" i="0" lang="en-US" sz="1050" u="none" cap="none" strike="noStrike">
                <a:solidFill>
                  <a:srgbClr val="000033"/>
                </a:solidFill>
                <a:latin typeface="Montserrat"/>
                <a:ea typeface="Montserrat"/>
                <a:cs typeface="Montserrat"/>
                <a:sym typeface="Montserrat"/>
              </a:rPr>
              <a:t>Un servicio integral de principio a fin:  del reclutamiento al desarrollo del talento.</a:t>
            </a:r>
            <a:endParaRPr b="0" i="0" sz="1050" u="none" cap="none" strike="noStrike">
              <a:solidFill>
                <a:schemeClr val="dk1"/>
              </a:solidFill>
              <a:latin typeface="Calibri"/>
              <a:ea typeface="Calibri"/>
              <a:cs typeface="Calibri"/>
              <a:sym typeface="Calibri"/>
            </a:endParaRPr>
          </a:p>
        </p:txBody>
      </p:sp>
      <p:sp>
        <p:nvSpPr>
          <p:cNvPr id="133" name="Google Shape;133;g3fb8e08d9db_0_590"/>
          <p:cNvSpPr/>
          <p:nvPr/>
        </p:nvSpPr>
        <p:spPr>
          <a:xfrm>
            <a:off x="571500" y="1883664"/>
            <a:ext cx="2590500" cy="24873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fb8e08d9db_0_590"/>
          <p:cNvSpPr txBox="1"/>
          <p:nvPr/>
        </p:nvSpPr>
        <p:spPr>
          <a:xfrm>
            <a:off x="754380" y="2084832"/>
            <a:ext cx="2224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750"/>
              <a:buFont typeface="Montserrat SemiBold"/>
              <a:buNone/>
            </a:pPr>
            <a:r>
              <a:rPr b="1" i="0" lang="en-US" sz="750" u="none" cap="none" strike="noStrike">
                <a:solidFill>
                  <a:srgbClr val="2B5BFC"/>
                </a:solidFill>
                <a:latin typeface="Montserrat SemiBold"/>
                <a:ea typeface="Montserrat SemiBold"/>
                <a:cs typeface="Montserrat SemiBold"/>
                <a:sym typeface="Montserrat SemiBold"/>
              </a:rPr>
              <a:t>#1 · SELECCIÓN DEL TALENTO</a:t>
            </a:r>
            <a:endParaRPr b="0" i="0" sz="750" u="none" cap="none" strike="noStrike">
              <a:solidFill>
                <a:schemeClr val="dk1"/>
              </a:solidFill>
              <a:latin typeface="Calibri"/>
              <a:ea typeface="Calibri"/>
              <a:cs typeface="Calibri"/>
              <a:sym typeface="Calibri"/>
            </a:endParaRPr>
          </a:p>
        </p:txBody>
      </p:sp>
      <p:sp>
        <p:nvSpPr>
          <p:cNvPr id="135" name="Google Shape;135;g3fb8e08d9db_0_590"/>
          <p:cNvSpPr txBox="1"/>
          <p:nvPr/>
        </p:nvSpPr>
        <p:spPr>
          <a:xfrm>
            <a:off x="754380" y="2359152"/>
            <a:ext cx="2224800" cy="420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400"/>
              <a:buFont typeface="Montserrat ExtraBold"/>
              <a:buNone/>
            </a:pPr>
            <a:r>
              <a:rPr b="1" i="0" lang="en-US" sz="1400" u="none" cap="none" strike="noStrike">
                <a:solidFill>
                  <a:srgbClr val="000033"/>
                </a:solidFill>
                <a:latin typeface="Montserrat ExtraBold"/>
                <a:ea typeface="Montserrat ExtraBold"/>
                <a:cs typeface="Montserrat ExtraBold"/>
                <a:sym typeface="Montserrat ExtraBold"/>
              </a:rPr>
              <a:t>Selección del talento</a:t>
            </a:r>
            <a:endParaRPr b="0" i="0" sz="1400" u="none" cap="none" strike="noStrike">
              <a:solidFill>
                <a:schemeClr val="dk1"/>
              </a:solidFill>
              <a:latin typeface="Calibri"/>
              <a:ea typeface="Calibri"/>
              <a:cs typeface="Calibri"/>
              <a:sym typeface="Calibri"/>
            </a:endParaRPr>
          </a:p>
        </p:txBody>
      </p:sp>
      <p:sp>
        <p:nvSpPr>
          <p:cNvPr id="136" name="Google Shape;136;g3fb8e08d9db_0_590"/>
          <p:cNvSpPr/>
          <p:nvPr/>
        </p:nvSpPr>
        <p:spPr>
          <a:xfrm>
            <a:off x="754380" y="2852928"/>
            <a:ext cx="502800" cy="7200"/>
          </a:xfrm>
          <a:prstGeom prst="rect">
            <a:avLst/>
          </a:prstGeom>
          <a:solidFill>
            <a:srgbClr val="2B5BFC"/>
          </a:solidFill>
          <a:ln cap="flat" cmpd="sng" w="12700">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fb8e08d9db_0_590"/>
          <p:cNvSpPr txBox="1"/>
          <p:nvPr/>
        </p:nvSpPr>
        <p:spPr>
          <a:xfrm>
            <a:off x="754380" y="2980944"/>
            <a:ext cx="222480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33"/>
              </a:buClr>
              <a:buSzPts val="900"/>
              <a:buFont typeface="Montserrat"/>
              <a:buNone/>
            </a:pPr>
            <a:r>
              <a:rPr b="0" i="0" lang="en-US" sz="900" u="none" cap="none" strike="noStrike">
                <a:solidFill>
                  <a:srgbClr val="000033"/>
                </a:solidFill>
                <a:latin typeface="Montserrat"/>
                <a:ea typeface="Montserrat"/>
                <a:cs typeface="Montserrat"/>
                <a:sym typeface="Montserrat"/>
              </a:rPr>
              <a:t>Encontramos a los especialistas digitales que necesitas, con el perfil exacto para el reto.</a:t>
            </a:r>
            <a:endParaRPr b="0" i="0" sz="900" u="none" cap="none" strike="noStrike">
              <a:solidFill>
                <a:schemeClr val="dk1"/>
              </a:solidFill>
              <a:latin typeface="Calibri"/>
              <a:ea typeface="Calibri"/>
              <a:cs typeface="Calibri"/>
              <a:sym typeface="Calibri"/>
            </a:endParaRPr>
          </a:p>
        </p:txBody>
      </p:sp>
      <p:sp>
        <p:nvSpPr>
          <p:cNvPr id="138" name="Google Shape;138;g3fb8e08d9db_0_590"/>
          <p:cNvSpPr/>
          <p:nvPr/>
        </p:nvSpPr>
        <p:spPr>
          <a:xfrm>
            <a:off x="754380" y="3895344"/>
            <a:ext cx="1024200" cy="255900"/>
          </a:xfrm>
          <a:prstGeom prst="roundRect">
            <a:avLst>
              <a:gd fmla="val 50000"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fb8e08d9db_0_590"/>
          <p:cNvSpPr txBox="1"/>
          <p:nvPr/>
        </p:nvSpPr>
        <p:spPr>
          <a:xfrm>
            <a:off x="754380" y="3950208"/>
            <a:ext cx="10242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RECRUITING</a:t>
            </a:r>
            <a:endParaRPr b="0" i="0" sz="850" u="none" cap="none" strike="noStrike">
              <a:solidFill>
                <a:schemeClr val="dk1"/>
              </a:solidFill>
              <a:latin typeface="Calibri"/>
              <a:ea typeface="Calibri"/>
              <a:cs typeface="Calibri"/>
              <a:sym typeface="Calibri"/>
            </a:endParaRPr>
          </a:p>
        </p:txBody>
      </p:sp>
      <p:sp>
        <p:nvSpPr>
          <p:cNvPr id="140" name="Google Shape;140;g3fb8e08d9db_0_590"/>
          <p:cNvSpPr/>
          <p:nvPr/>
        </p:nvSpPr>
        <p:spPr>
          <a:xfrm>
            <a:off x="3276752" y="1883664"/>
            <a:ext cx="2590500" cy="24873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g3fb8e08d9db_0_590"/>
          <p:cNvSpPr txBox="1"/>
          <p:nvPr/>
        </p:nvSpPr>
        <p:spPr>
          <a:xfrm>
            <a:off x="3459632" y="2084832"/>
            <a:ext cx="2224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750"/>
              <a:buFont typeface="Montserrat SemiBold"/>
              <a:buNone/>
            </a:pPr>
            <a:r>
              <a:rPr b="1" i="0" lang="en-US" sz="750" u="none" cap="none" strike="noStrike">
                <a:solidFill>
                  <a:srgbClr val="2B5BFC"/>
                </a:solidFill>
                <a:latin typeface="Montserrat SemiBold"/>
                <a:ea typeface="Montserrat SemiBold"/>
                <a:cs typeface="Montserrat SemiBold"/>
                <a:sym typeface="Montserrat SemiBold"/>
              </a:rPr>
              <a:t>#2 · GESTIÓN DEL TALENTO</a:t>
            </a:r>
            <a:endParaRPr b="0" i="0" sz="750" u="none" cap="none" strike="noStrike">
              <a:solidFill>
                <a:schemeClr val="dk1"/>
              </a:solidFill>
              <a:latin typeface="Calibri"/>
              <a:ea typeface="Calibri"/>
              <a:cs typeface="Calibri"/>
              <a:sym typeface="Calibri"/>
            </a:endParaRPr>
          </a:p>
        </p:txBody>
      </p:sp>
      <p:sp>
        <p:nvSpPr>
          <p:cNvPr id="142" name="Google Shape;142;g3fb8e08d9db_0_590"/>
          <p:cNvSpPr txBox="1"/>
          <p:nvPr/>
        </p:nvSpPr>
        <p:spPr>
          <a:xfrm>
            <a:off x="3459632" y="2359152"/>
            <a:ext cx="2224800" cy="420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400"/>
              <a:buFont typeface="Montserrat ExtraBold"/>
              <a:buNone/>
            </a:pPr>
            <a:r>
              <a:rPr b="1" i="0" lang="en-US" sz="1400" u="none" cap="none" strike="noStrike">
                <a:solidFill>
                  <a:srgbClr val="000033"/>
                </a:solidFill>
                <a:latin typeface="Montserrat ExtraBold"/>
                <a:ea typeface="Montserrat ExtraBold"/>
                <a:cs typeface="Montserrat ExtraBold"/>
                <a:sym typeface="Montserrat ExtraBold"/>
              </a:rPr>
              <a:t>Gestión del talento</a:t>
            </a:r>
            <a:endParaRPr b="0" i="0" sz="1400" u="none" cap="none" strike="noStrike">
              <a:solidFill>
                <a:schemeClr val="dk1"/>
              </a:solidFill>
              <a:latin typeface="Calibri"/>
              <a:ea typeface="Calibri"/>
              <a:cs typeface="Calibri"/>
              <a:sym typeface="Calibri"/>
            </a:endParaRPr>
          </a:p>
        </p:txBody>
      </p:sp>
      <p:sp>
        <p:nvSpPr>
          <p:cNvPr id="143" name="Google Shape;143;g3fb8e08d9db_0_590"/>
          <p:cNvSpPr/>
          <p:nvPr/>
        </p:nvSpPr>
        <p:spPr>
          <a:xfrm>
            <a:off x="3459632" y="2852928"/>
            <a:ext cx="502800" cy="7200"/>
          </a:xfrm>
          <a:prstGeom prst="rect">
            <a:avLst/>
          </a:prstGeom>
          <a:solidFill>
            <a:srgbClr val="2B5BFC"/>
          </a:solidFill>
          <a:ln cap="flat" cmpd="sng" w="12700">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fb8e08d9db_0_590"/>
          <p:cNvSpPr txBox="1"/>
          <p:nvPr/>
        </p:nvSpPr>
        <p:spPr>
          <a:xfrm>
            <a:off x="3459632" y="2980944"/>
            <a:ext cx="222480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33"/>
              </a:buClr>
              <a:buSzPts val="900"/>
              <a:buFont typeface="Montserrat"/>
              <a:buNone/>
            </a:pPr>
            <a:r>
              <a:rPr b="0" i="0" lang="en-US" sz="900" u="none" cap="none" strike="noStrike">
                <a:solidFill>
                  <a:srgbClr val="000033"/>
                </a:solidFill>
                <a:latin typeface="Montserrat"/>
                <a:ea typeface="Montserrat"/>
                <a:cs typeface="Montserrat"/>
                <a:sym typeface="Montserrat"/>
              </a:rPr>
              <a:t>Administramos la planilla, los beneficios y los costos sociales del talento incorporado.</a:t>
            </a:r>
            <a:endParaRPr b="0" i="0" sz="900" u="none" cap="none" strike="noStrike">
              <a:solidFill>
                <a:schemeClr val="dk1"/>
              </a:solidFill>
              <a:latin typeface="Calibri"/>
              <a:ea typeface="Calibri"/>
              <a:cs typeface="Calibri"/>
              <a:sym typeface="Calibri"/>
            </a:endParaRPr>
          </a:p>
        </p:txBody>
      </p:sp>
      <p:sp>
        <p:nvSpPr>
          <p:cNvPr id="145" name="Google Shape;145;g3fb8e08d9db_0_590"/>
          <p:cNvSpPr/>
          <p:nvPr/>
        </p:nvSpPr>
        <p:spPr>
          <a:xfrm>
            <a:off x="3459632" y="3895344"/>
            <a:ext cx="1206900" cy="255900"/>
          </a:xfrm>
          <a:prstGeom prst="roundRect">
            <a:avLst>
              <a:gd fmla="val 50000"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fb8e08d9db_0_590"/>
          <p:cNvSpPr txBox="1"/>
          <p:nvPr/>
        </p:nvSpPr>
        <p:spPr>
          <a:xfrm>
            <a:off x="3459632" y="3950208"/>
            <a:ext cx="12069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PAYROLL &amp; OPS</a:t>
            </a:r>
            <a:endParaRPr b="0" i="0" sz="850" u="none" cap="none" strike="noStrike">
              <a:solidFill>
                <a:schemeClr val="dk1"/>
              </a:solidFill>
              <a:latin typeface="Calibri"/>
              <a:ea typeface="Calibri"/>
              <a:cs typeface="Calibri"/>
              <a:sym typeface="Calibri"/>
            </a:endParaRPr>
          </a:p>
        </p:txBody>
      </p:sp>
      <p:sp>
        <p:nvSpPr>
          <p:cNvPr id="147" name="Google Shape;147;g3fb8e08d9db_0_590"/>
          <p:cNvSpPr/>
          <p:nvPr/>
        </p:nvSpPr>
        <p:spPr>
          <a:xfrm>
            <a:off x="5982005" y="1883664"/>
            <a:ext cx="2590500" cy="24873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fb8e08d9db_0_590"/>
          <p:cNvSpPr txBox="1"/>
          <p:nvPr/>
        </p:nvSpPr>
        <p:spPr>
          <a:xfrm>
            <a:off x="6164885" y="2084832"/>
            <a:ext cx="2224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750"/>
              <a:buFont typeface="Montserrat SemiBold"/>
              <a:buNone/>
            </a:pPr>
            <a:r>
              <a:rPr b="1" i="0" lang="en-US" sz="750" u="none" cap="none" strike="noStrike">
                <a:solidFill>
                  <a:srgbClr val="2B5BFC"/>
                </a:solidFill>
                <a:latin typeface="Montserrat SemiBold"/>
                <a:ea typeface="Montserrat SemiBold"/>
                <a:cs typeface="Montserrat SemiBold"/>
                <a:sym typeface="Montserrat SemiBold"/>
              </a:rPr>
              <a:t>#3 · TRAINING</a:t>
            </a:r>
            <a:endParaRPr b="0" i="0" sz="750" u="none" cap="none" strike="noStrike">
              <a:solidFill>
                <a:schemeClr val="dk1"/>
              </a:solidFill>
              <a:latin typeface="Calibri"/>
              <a:ea typeface="Calibri"/>
              <a:cs typeface="Calibri"/>
              <a:sym typeface="Calibri"/>
            </a:endParaRPr>
          </a:p>
        </p:txBody>
      </p:sp>
      <p:sp>
        <p:nvSpPr>
          <p:cNvPr id="149" name="Google Shape;149;g3fb8e08d9db_0_590"/>
          <p:cNvSpPr txBox="1"/>
          <p:nvPr/>
        </p:nvSpPr>
        <p:spPr>
          <a:xfrm>
            <a:off x="6164885" y="2359152"/>
            <a:ext cx="2224800" cy="420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400"/>
              <a:buFont typeface="Montserrat ExtraBold"/>
              <a:buNone/>
            </a:pPr>
            <a:r>
              <a:rPr b="1" i="0" lang="en-US" sz="1400" u="none" cap="none" strike="noStrike">
                <a:solidFill>
                  <a:srgbClr val="000033"/>
                </a:solidFill>
                <a:latin typeface="Montserrat ExtraBold"/>
                <a:ea typeface="Montserrat ExtraBold"/>
                <a:cs typeface="Montserrat ExtraBold"/>
                <a:sym typeface="Montserrat ExtraBold"/>
              </a:rPr>
              <a:t>Training</a:t>
            </a:r>
            <a:endParaRPr b="0" i="0" sz="1400" u="none" cap="none" strike="noStrike">
              <a:solidFill>
                <a:schemeClr val="dk1"/>
              </a:solidFill>
              <a:latin typeface="Calibri"/>
              <a:ea typeface="Calibri"/>
              <a:cs typeface="Calibri"/>
              <a:sym typeface="Calibri"/>
            </a:endParaRPr>
          </a:p>
        </p:txBody>
      </p:sp>
      <p:sp>
        <p:nvSpPr>
          <p:cNvPr id="150" name="Google Shape;150;g3fb8e08d9db_0_590"/>
          <p:cNvSpPr/>
          <p:nvPr/>
        </p:nvSpPr>
        <p:spPr>
          <a:xfrm>
            <a:off x="6164885" y="2852928"/>
            <a:ext cx="502800" cy="7200"/>
          </a:xfrm>
          <a:prstGeom prst="rect">
            <a:avLst/>
          </a:prstGeom>
          <a:solidFill>
            <a:srgbClr val="2B5BFC"/>
          </a:solidFill>
          <a:ln cap="flat" cmpd="sng" w="12700">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fb8e08d9db_0_590"/>
          <p:cNvSpPr txBox="1"/>
          <p:nvPr/>
        </p:nvSpPr>
        <p:spPr>
          <a:xfrm>
            <a:off x="6164885" y="2980944"/>
            <a:ext cx="222480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33"/>
              </a:buClr>
              <a:buSzPts val="900"/>
              <a:buFont typeface="Montserrat"/>
              <a:buNone/>
            </a:pPr>
            <a:r>
              <a:rPr b="0" i="0" lang="en-US" sz="900" u="none" cap="none" strike="noStrike">
                <a:solidFill>
                  <a:srgbClr val="000033"/>
                </a:solidFill>
                <a:latin typeface="Montserrat"/>
                <a:ea typeface="Montserrat"/>
                <a:cs typeface="Montserrat"/>
                <a:sym typeface="Montserrat"/>
              </a:rPr>
              <a:t>Participación en las capacitaciones NEO para sostener el rendimiento esperado en el tiempo.</a:t>
            </a:r>
            <a:endParaRPr b="0" i="0" sz="900" u="none" cap="none" strike="noStrike">
              <a:solidFill>
                <a:schemeClr val="dk1"/>
              </a:solidFill>
              <a:latin typeface="Calibri"/>
              <a:ea typeface="Calibri"/>
              <a:cs typeface="Calibri"/>
              <a:sym typeface="Calibri"/>
            </a:endParaRPr>
          </a:p>
        </p:txBody>
      </p:sp>
      <p:sp>
        <p:nvSpPr>
          <p:cNvPr id="152" name="Google Shape;152;g3fb8e08d9db_0_590"/>
          <p:cNvSpPr/>
          <p:nvPr/>
        </p:nvSpPr>
        <p:spPr>
          <a:xfrm>
            <a:off x="6164885" y="3895344"/>
            <a:ext cx="1079100" cy="255900"/>
          </a:xfrm>
          <a:prstGeom prst="roundRect">
            <a:avLst>
              <a:gd fmla="val 50000"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fb8e08d9db_0_590"/>
          <p:cNvSpPr txBox="1"/>
          <p:nvPr/>
        </p:nvSpPr>
        <p:spPr>
          <a:xfrm>
            <a:off x="6164885" y="3950208"/>
            <a:ext cx="10791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DESARROLLO</a:t>
            </a:r>
            <a:endParaRPr b="0" i="0" sz="850" u="none" cap="none" strike="noStrike">
              <a:solidFill>
                <a:schemeClr val="dk1"/>
              </a:solidFill>
              <a:latin typeface="Calibri"/>
              <a:ea typeface="Calibri"/>
              <a:cs typeface="Calibri"/>
              <a:sym typeface="Calibri"/>
            </a:endParaRPr>
          </a:p>
        </p:txBody>
      </p:sp>
      <p:sp>
        <p:nvSpPr>
          <p:cNvPr id="154" name="Google Shape;154;g3fb8e08d9db_0_590"/>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159" name="Shape 159"/>
        <p:cNvGrpSpPr/>
        <p:nvPr/>
      </p:nvGrpSpPr>
      <p:grpSpPr>
        <a:xfrm>
          <a:off x="0" y="0"/>
          <a:ext cx="0" cy="0"/>
          <a:chOff x="0" y="0"/>
          <a:chExt cx="0" cy="0"/>
        </a:xfrm>
      </p:grpSpPr>
      <p:sp>
        <p:nvSpPr>
          <p:cNvPr id="160" name="Google Shape;160;g3fb8e08d9db_0_786"/>
          <p:cNvSpPr txBox="1"/>
          <p:nvPr/>
        </p:nvSpPr>
        <p:spPr>
          <a:xfrm>
            <a:off x="571500" y="890626"/>
            <a:ext cx="4572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EL EQUIPO ASIGNADO</a:t>
            </a:r>
            <a:endParaRPr b="0" i="0" sz="1100" u="none" cap="none" strike="noStrike">
              <a:solidFill>
                <a:schemeClr val="dk1"/>
              </a:solidFill>
              <a:latin typeface="Calibri"/>
              <a:ea typeface="Calibri"/>
              <a:cs typeface="Calibri"/>
              <a:sym typeface="Calibri"/>
            </a:endParaRPr>
          </a:p>
        </p:txBody>
      </p:sp>
      <p:sp>
        <p:nvSpPr>
          <p:cNvPr id="161" name="Google Shape;161;g3fb8e08d9db_0_786"/>
          <p:cNvSpPr txBox="1"/>
          <p:nvPr/>
        </p:nvSpPr>
        <p:spPr>
          <a:xfrm>
            <a:off x="571550" y="1222640"/>
            <a:ext cx="5669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Perfil NEO:</a:t>
            </a:r>
            <a:r>
              <a:rPr b="1" i="1" lang="en-US" sz="2100" u="none" cap="none" strike="noStrike">
                <a:solidFill>
                  <a:srgbClr val="2B5BFC"/>
                </a:solidFill>
                <a:latin typeface="Montserrat Black"/>
                <a:ea typeface="Montserrat Black"/>
                <a:cs typeface="Montserrat Black"/>
                <a:sym typeface="Montserrat Black"/>
              </a:rPr>
              <a:t> *nombre del perfil*</a:t>
            </a:r>
            <a:endParaRPr b="0" i="0" sz="2100" u="none" cap="none" strike="noStrike">
              <a:solidFill>
                <a:schemeClr val="dk1"/>
              </a:solidFill>
              <a:latin typeface="Calibri"/>
              <a:ea typeface="Calibri"/>
              <a:cs typeface="Calibri"/>
              <a:sym typeface="Calibri"/>
            </a:endParaRPr>
          </a:p>
        </p:txBody>
      </p:sp>
      <p:sp>
        <p:nvSpPr>
          <p:cNvPr id="162" name="Google Shape;162;g3fb8e08d9db_0_786"/>
          <p:cNvSpPr/>
          <p:nvPr/>
        </p:nvSpPr>
        <p:spPr>
          <a:xfrm>
            <a:off x="5692190" y="1228126"/>
            <a:ext cx="2880300" cy="310800"/>
          </a:xfrm>
          <a:prstGeom prst="roundRect">
            <a:avLst>
              <a:gd fmla="val 50000" name="adj"/>
            </a:avLst>
          </a:prstGeom>
          <a:solidFill>
            <a:srgbClr val="2B5BFC"/>
          </a:solidFill>
          <a:ln cap="flat" cmpd="sng" w="12700">
            <a:solidFill>
              <a:srgbClr val="2B5BFC"/>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g3fb8e08d9db_0_786"/>
          <p:cNvSpPr txBox="1"/>
          <p:nvPr/>
        </p:nvSpPr>
        <p:spPr>
          <a:xfrm>
            <a:off x="5692190" y="1305850"/>
            <a:ext cx="28803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ontserrat SemiBold"/>
              <a:buNone/>
            </a:pPr>
            <a:r>
              <a:rPr b="1" i="0" lang="en-US" sz="900" u="none" cap="none" strike="noStrike">
                <a:solidFill>
                  <a:srgbClr val="FFFFFF"/>
                </a:solidFill>
                <a:latin typeface="Montserrat SemiBold"/>
                <a:ea typeface="Montserrat SemiBold"/>
                <a:cs typeface="Montserrat SemiBold"/>
                <a:sym typeface="Montserrat SemiBold"/>
              </a:rPr>
              <a:t>*Tipo de Perfil*: Senior, Pleno, Junior</a:t>
            </a:r>
            <a:endParaRPr b="0" i="0" sz="900" u="none" cap="none" strike="noStrike">
              <a:solidFill>
                <a:schemeClr val="dk1"/>
              </a:solidFill>
              <a:latin typeface="Calibri"/>
              <a:ea typeface="Calibri"/>
              <a:cs typeface="Calibri"/>
              <a:sym typeface="Calibri"/>
            </a:endParaRPr>
          </a:p>
        </p:txBody>
      </p:sp>
      <p:sp>
        <p:nvSpPr>
          <p:cNvPr id="164" name="Google Shape;164;g3fb8e08d9db_0_786"/>
          <p:cNvSpPr/>
          <p:nvPr/>
        </p:nvSpPr>
        <p:spPr>
          <a:xfrm>
            <a:off x="571500" y="1700784"/>
            <a:ext cx="8001000" cy="658500"/>
          </a:xfrm>
          <a:prstGeom prst="roundRect">
            <a:avLst>
              <a:gd fmla="val 1111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3fb8e08d9db_0_786"/>
          <p:cNvSpPr txBox="1"/>
          <p:nvPr/>
        </p:nvSpPr>
        <p:spPr>
          <a:xfrm>
            <a:off x="702600" y="1803800"/>
            <a:ext cx="7738800" cy="418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0033"/>
              </a:buClr>
              <a:buSzPts val="950"/>
              <a:buFont typeface="Montserrat SemiBold"/>
              <a:buNone/>
            </a:pPr>
            <a:r>
              <a:rPr b="1" i="0" lang="en-US" sz="850" u="none" cap="none" strike="noStrike">
                <a:solidFill>
                  <a:srgbClr val="000033"/>
                </a:solidFill>
                <a:latin typeface="Montserrat SemiBold"/>
                <a:ea typeface="Montserrat SemiBold"/>
                <a:cs typeface="Montserrat SemiBold"/>
                <a:sym typeface="Montserrat SemiBold"/>
              </a:rPr>
              <a:t>Objetivo del puesto: </a:t>
            </a:r>
            <a:r>
              <a:rPr b="0" i="0" lang="en-US" sz="850" u="none" cap="none" strike="noStrike">
                <a:solidFill>
                  <a:srgbClr val="000033"/>
                </a:solidFill>
                <a:latin typeface="Montserrat"/>
                <a:ea typeface="Montserrat"/>
                <a:cs typeface="Montserrat"/>
                <a:sym typeface="Montserrat"/>
              </a:rPr>
              <a:t>xxxxxxxx (resumen del objetivo de la posición según el caso)</a:t>
            </a:r>
            <a:endParaRPr b="0" i="0" sz="8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000033"/>
              </a:buClr>
              <a:buSzPts val="950"/>
              <a:buFont typeface="Montserrat SemiBold"/>
              <a:buNone/>
            </a:pPr>
            <a:r>
              <a:rPr b="1" i="0" lang="en-US" sz="850" u="none" cap="none" strike="noStrike">
                <a:solidFill>
                  <a:srgbClr val="000033"/>
                </a:solidFill>
                <a:latin typeface="Montserrat SemiBold"/>
                <a:ea typeface="Montserrat SemiBold"/>
                <a:cs typeface="Montserrat SemiBold"/>
                <a:sym typeface="Montserrat SemiBold"/>
              </a:rPr>
              <a:t>Tiempo de experiencia: </a:t>
            </a:r>
            <a:r>
              <a:rPr b="0" i="0" lang="en-US" sz="850" u="none" cap="none" strike="noStrike">
                <a:solidFill>
                  <a:srgbClr val="000033"/>
                </a:solidFill>
                <a:latin typeface="Montserrat"/>
                <a:ea typeface="Montserrat"/>
                <a:cs typeface="Montserrat"/>
                <a:sym typeface="Montserrat"/>
              </a:rPr>
              <a:t>xxxxxxx (incluir el mínimo de años de experiencia)</a:t>
            </a:r>
            <a:endParaRPr b="0" i="0" sz="850" u="none" cap="none" strike="noStrike">
              <a:solidFill>
                <a:schemeClr val="dk1"/>
              </a:solidFill>
              <a:latin typeface="Calibri"/>
              <a:ea typeface="Calibri"/>
              <a:cs typeface="Calibri"/>
              <a:sym typeface="Calibri"/>
            </a:endParaRPr>
          </a:p>
        </p:txBody>
      </p:sp>
      <p:sp>
        <p:nvSpPr>
          <p:cNvPr id="166" name="Google Shape;166;g3fb8e08d9db_0_786"/>
          <p:cNvSpPr/>
          <p:nvPr/>
        </p:nvSpPr>
        <p:spPr>
          <a:xfrm>
            <a:off x="571500" y="2523744"/>
            <a:ext cx="2590500" cy="1847100"/>
          </a:xfrm>
          <a:prstGeom prst="roundRect">
            <a:avLst>
              <a:gd fmla="val 396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fb8e08d9db_0_786"/>
          <p:cNvSpPr txBox="1"/>
          <p:nvPr/>
        </p:nvSpPr>
        <p:spPr>
          <a:xfrm>
            <a:off x="754380" y="2706624"/>
            <a:ext cx="2224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FUNCIONES</a:t>
            </a:r>
            <a:endParaRPr b="0" i="0" sz="850" u="none" cap="none" strike="noStrike">
              <a:solidFill>
                <a:schemeClr val="dk1"/>
              </a:solidFill>
              <a:latin typeface="Calibri"/>
              <a:ea typeface="Calibri"/>
              <a:cs typeface="Calibri"/>
              <a:sym typeface="Calibri"/>
            </a:endParaRPr>
          </a:p>
        </p:txBody>
      </p:sp>
      <p:sp>
        <p:nvSpPr>
          <p:cNvPr id="168" name="Google Shape;168;g3fb8e08d9db_0_786"/>
          <p:cNvSpPr/>
          <p:nvPr/>
        </p:nvSpPr>
        <p:spPr>
          <a:xfrm>
            <a:off x="754380" y="2926080"/>
            <a:ext cx="2224800" cy="7200"/>
          </a:xfrm>
          <a:prstGeom prst="rect">
            <a:avLst/>
          </a:prstGeom>
          <a:solidFill>
            <a:srgbClr val="D8E0F5"/>
          </a:solidFill>
          <a:ln cap="flat" cmpd="sng" w="12700">
            <a:solidFill>
              <a:srgbClr val="D8E0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3fb8e08d9db_0_786"/>
          <p:cNvSpPr/>
          <p:nvPr/>
        </p:nvSpPr>
        <p:spPr>
          <a:xfrm>
            <a:off x="3276752" y="2523744"/>
            <a:ext cx="2590500" cy="1847100"/>
          </a:xfrm>
          <a:prstGeom prst="roundRect">
            <a:avLst>
              <a:gd fmla="val 396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fb8e08d9db_0_786"/>
          <p:cNvSpPr txBox="1"/>
          <p:nvPr/>
        </p:nvSpPr>
        <p:spPr>
          <a:xfrm>
            <a:off x="3459632" y="2706624"/>
            <a:ext cx="2224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CONOCIMIENTOS ESENCIALES</a:t>
            </a:r>
            <a:endParaRPr b="0" i="0" sz="850" u="none" cap="none" strike="noStrike">
              <a:solidFill>
                <a:schemeClr val="dk1"/>
              </a:solidFill>
              <a:latin typeface="Calibri"/>
              <a:ea typeface="Calibri"/>
              <a:cs typeface="Calibri"/>
              <a:sym typeface="Calibri"/>
            </a:endParaRPr>
          </a:p>
        </p:txBody>
      </p:sp>
      <p:sp>
        <p:nvSpPr>
          <p:cNvPr id="171" name="Google Shape;171;g3fb8e08d9db_0_786"/>
          <p:cNvSpPr/>
          <p:nvPr/>
        </p:nvSpPr>
        <p:spPr>
          <a:xfrm>
            <a:off x="3459632" y="2926080"/>
            <a:ext cx="2224800" cy="7200"/>
          </a:xfrm>
          <a:prstGeom prst="rect">
            <a:avLst/>
          </a:prstGeom>
          <a:solidFill>
            <a:srgbClr val="D8E0F5"/>
          </a:solidFill>
          <a:ln cap="flat" cmpd="sng" w="12700">
            <a:solidFill>
              <a:srgbClr val="D8E0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fb8e08d9db_0_786"/>
          <p:cNvSpPr/>
          <p:nvPr/>
        </p:nvSpPr>
        <p:spPr>
          <a:xfrm>
            <a:off x="5982005" y="2523744"/>
            <a:ext cx="2590500" cy="1847100"/>
          </a:xfrm>
          <a:prstGeom prst="roundRect">
            <a:avLst>
              <a:gd fmla="val 396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fb8e08d9db_0_786"/>
          <p:cNvSpPr txBox="1"/>
          <p:nvPr/>
        </p:nvSpPr>
        <p:spPr>
          <a:xfrm>
            <a:off x="6164885" y="2706624"/>
            <a:ext cx="2224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COMPETENCIAS</a:t>
            </a:r>
            <a:endParaRPr b="0" i="0" sz="850" u="none" cap="none" strike="noStrike">
              <a:solidFill>
                <a:schemeClr val="dk1"/>
              </a:solidFill>
              <a:latin typeface="Calibri"/>
              <a:ea typeface="Calibri"/>
              <a:cs typeface="Calibri"/>
              <a:sym typeface="Calibri"/>
            </a:endParaRPr>
          </a:p>
        </p:txBody>
      </p:sp>
      <p:sp>
        <p:nvSpPr>
          <p:cNvPr id="174" name="Google Shape;174;g3fb8e08d9db_0_786"/>
          <p:cNvSpPr/>
          <p:nvPr/>
        </p:nvSpPr>
        <p:spPr>
          <a:xfrm>
            <a:off x="6164885" y="2926080"/>
            <a:ext cx="2224800" cy="7200"/>
          </a:xfrm>
          <a:prstGeom prst="rect">
            <a:avLst/>
          </a:prstGeom>
          <a:solidFill>
            <a:srgbClr val="D8E0F5"/>
          </a:solidFill>
          <a:ln cap="flat" cmpd="sng" w="12700">
            <a:solidFill>
              <a:srgbClr val="D8E0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fb8e08d9db_0_786"/>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
        <p:nvSpPr>
          <p:cNvPr id="176" name="Google Shape;176;g3fb8e08d9db_0_786"/>
          <p:cNvSpPr txBox="1"/>
          <p:nvPr/>
        </p:nvSpPr>
        <p:spPr>
          <a:xfrm>
            <a:off x="754375" y="3006325"/>
            <a:ext cx="2224800" cy="1233900"/>
          </a:xfrm>
          <a:prstGeom prst="rect">
            <a:avLst/>
          </a:prstGeom>
          <a:noFill/>
          <a:ln>
            <a:noFill/>
          </a:ln>
        </p:spPr>
        <p:txBody>
          <a:bodyPr anchorCtr="0" anchor="t" bIns="91425" lIns="91425" spcFirstLastPara="1" rIns="91425" wrap="square" tIns="91425">
            <a:noAutofit/>
          </a:bodyPr>
          <a:lstStyle/>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p:txBody>
      </p:sp>
      <p:sp>
        <p:nvSpPr>
          <p:cNvPr id="177" name="Google Shape;177;g3fb8e08d9db_0_786"/>
          <p:cNvSpPr txBox="1"/>
          <p:nvPr/>
        </p:nvSpPr>
        <p:spPr>
          <a:xfrm>
            <a:off x="3459600" y="3006325"/>
            <a:ext cx="2224800" cy="1233900"/>
          </a:xfrm>
          <a:prstGeom prst="rect">
            <a:avLst/>
          </a:prstGeom>
          <a:noFill/>
          <a:ln>
            <a:noFill/>
          </a:ln>
        </p:spPr>
        <p:txBody>
          <a:bodyPr anchorCtr="0" anchor="t" bIns="91425" lIns="91425" spcFirstLastPara="1" rIns="91425" wrap="square" tIns="91425">
            <a:noAutofit/>
          </a:bodyPr>
          <a:lstStyle/>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p:txBody>
      </p:sp>
      <p:sp>
        <p:nvSpPr>
          <p:cNvPr id="178" name="Google Shape;178;g3fb8e08d9db_0_786"/>
          <p:cNvSpPr txBox="1"/>
          <p:nvPr/>
        </p:nvSpPr>
        <p:spPr>
          <a:xfrm>
            <a:off x="6164825" y="3006325"/>
            <a:ext cx="2224800" cy="1233900"/>
          </a:xfrm>
          <a:prstGeom prst="rect">
            <a:avLst/>
          </a:prstGeom>
          <a:noFill/>
          <a:ln>
            <a:noFill/>
          </a:ln>
        </p:spPr>
        <p:txBody>
          <a:bodyPr anchorCtr="0" anchor="t" bIns="91425" lIns="91425" spcFirstLastPara="1" rIns="91425" wrap="square" tIns="91425">
            <a:noAutofit/>
          </a:bodyPr>
          <a:lstStyle/>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xxxxx</a:t>
            </a:r>
            <a:endParaRPr i="0" sz="9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183" name="Shape 183"/>
        <p:cNvGrpSpPr/>
        <p:nvPr/>
      </p:nvGrpSpPr>
      <p:grpSpPr>
        <a:xfrm>
          <a:off x="0" y="0"/>
          <a:ext cx="0" cy="0"/>
          <a:chOff x="0" y="0"/>
          <a:chExt cx="0" cy="0"/>
        </a:xfrm>
      </p:grpSpPr>
      <p:pic>
        <p:nvPicPr>
          <p:cNvPr descr="bg_divider.png" id="184" name="Google Shape;184;g3fb8e08d9db_0_129"/>
          <p:cNvPicPr preferRelativeResize="0"/>
          <p:nvPr/>
        </p:nvPicPr>
        <p:blipFill rotWithShape="1">
          <a:blip r:embed="rId3">
            <a:alphaModFix/>
          </a:blip>
          <a:srcRect b="0" l="0" r="0" t="0"/>
          <a:stretch/>
        </p:blipFill>
        <p:spPr>
          <a:xfrm>
            <a:off x="0" y="0"/>
            <a:ext cx="9143998" cy="5143501"/>
          </a:xfrm>
          <a:prstGeom prst="rect">
            <a:avLst/>
          </a:prstGeom>
          <a:noFill/>
          <a:ln>
            <a:noFill/>
          </a:ln>
        </p:spPr>
      </p:pic>
      <p:pic>
        <p:nvPicPr>
          <p:cNvPr descr="logo_blanco.png" id="185" name="Google Shape;185;g3fb8e08d9db_0_129"/>
          <p:cNvPicPr preferRelativeResize="0"/>
          <p:nvPr/>
        </p:nvPicPr>
        <p:blipFill rotWithShape="1">
          <a:blip r:embed="rId4">
            <a:alphaModFix/>
          </a:blip>
          <a:srcRect b="0" l="0" r="0" t="0"/>
          <a:stretch/>
        </p:blipFill>
        <p:spPr>
          <a:xfrm>
            <a:off x="569671" y="389534"/>
            <a:ext cx="1228039" cy="245059"/>
          </a:xfrm>
          <a:prstGeom prst="rect">
            <a:avLst/>
          </a:prstGeom>
          <a:noFill/>
          <a:ln>
            <a:noFill/>
          </a:ln>
        </p:spPr>
      </p:pic>
      <p:sp>
        <p:nvSpPr>
          <p:cNvPr id="186" name="Google Shape;186;g3fb8e08d9db_0_129"/>
          <p:cNvSpPr txBox="1"/>
          <p:nvPr/>
        </p:nvSpPr>
        <p:spPr>
          <a:xfrm>
            <a:off x="571500" y="1773936"/>
            <a:ext cx="27432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D5F7"/>
              </a:buClr>
              <a:buSzPts val="1200"/>
              <a:buFont typeface="Montserrat SemiBold"/>
              <a:buNone/>
            </a:pPr>
            <a:r>
              <a:rPr b="1" i="0" lang="en-US" sz="1200" u="none" cap="none" strike="noStrike">
                <a:solidFill>
                  <a:srgbClr val="C5D5F7"/>
                </a:solidFill>
                <a:latin typeface="Montserrat SemiBold"/>
                <a:ea typeface="Montserrat SemiBold"/>
                <a:cs typeface="Montserrat SemiBold"/>
                <a:sym typeface="Montserrat SemiBold"/>
              </a:rPr>
              <a:t>SECCIÓN 0</a:t>
            </a:r>
            <a:r>
              <a:rPr b="1" lang="en-US" sz="1200">
                <a:solidFill>
                  <a:srgbClr val="C5D5F7"/>
                </a:solidFill>
                <a:latin typeface="Montserrat SemiBold"/>
                <a:ea typeface="Montserrat SemiBold"/>
                <a:cs typeface="Montserrat SemiBold"/>
                <a:sym typeface="Montserrat SemiBold"/>
              </a:rPr>
              <a:t>3</a:t>
            </a:r>
            <a:endParaRPr b="0" i="0" sz="1200" u="none" cap="none" strike="noStrike">
              <a:solidFill>
                <a:schemeClr val="dk1"/>
              </a:solidFill>
              <a:latin typeface="Calibri"/>
              <a:ea typeface="Calibri"/>
              <a:cs typeface="Calibri"/>
              <a:sym typeface="Calibri"/>
            </a:endParaRPr>
          </a:p>
        </p:txBody>
      </p:sp>
      <p:sp>
        <p:nvSpPr>
          <p:cNvPr id="187" name="Google Shape;187;g3fb8e08d9db_0_129"/>
          <p:cNvSpPr txBox="1"/>
          <p:nvPr/>
        </p:nvSpPr>
        <p:spPr>
          <a:xfrm>
            <a:off x="571500" y="2157984"/>
            <a:ext cx="7863900" cy="73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500"/>
              <a:buFont typeface="Montserrat ExtraBold"/>
              <a:buNone/>
            </a:pPr>
            <a:r>
              <a:rPr b="1" lang="en-US" sz="4500">
                <a:solidFill>
                  <a:srgbClr val="FFFFFF"/>
                </a:solidFill>
                <a:latin typeface="Montserrat ExtraBold"/>
                <a:ea typeface="Montserrat ExtraBold"/>
                <a:cs typeface="Montserrat ExtraBold"/>
                <a:sym typeface="Montserrat ExtraBold"/>
              </a:rPr>
              <a:t>Cronograma e </a:t>
            </a:r>
            <a:r>
              <a:rPr b="1" i="1" lang="en-US" sz="4500">
                <a:solidFill>
                  <a:srgbClr val="7E99FE"/>
                </a:solidFill>
                <a:latin typeface="Montserrat ExtraBold"/>
                <a:ea typeface="Montserrat ExtraBold"/>
                <a:cs typeface="Montserrat ExtraBold"/>
                <a:sym typeface="Montserrat ExtraBold"/>
              </a:rPr>
              <a:t>Inversión</a:t>
            </a:r>
            <a:endParaRPr b="0" i="1" sz="4500" u="none" cap="none" strike="noStrike">
              <a:solidFill>
                <a:srgbClr val="7E99FE"/>
              </a:solidFill>
              <a:latin typeface="Calibri"/>
              <a:ea typeface="Calibri"/>
              <a:cs typeface="Calibri"/>
              <a:sym typeface="Calibri"/>
            </a:endParaRPr>
          </a:p>
        </p:txBody>
      </p:sp>
      <p:sp>
        <p:nvSpPr>
          <p:cNvPr id="188" name="Google Shape;188;g3fb8e08d9db_0_129"/>
          <p:cNvSpPr txBox="1"/>
          <p:nvPr/>
        </p:nvSpPr>
        <p:spPr>
          <a:xfrm>
            <a:off x="571500" y="3054096"/>
            <a:ext cx="4937700" cy="493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C5D5F7"/>
              </a:buClr>
              <a:buSzPts val="1300"/>
              <a:buFont typeface="Montserrat Medium"/>
              <a:buNone/>
            </a:pPr>
            <a:r>
              <a:rPr b="0" i="0" lang="en-US" sz="1300" u="none" cap="none" strike="noStrike">
                <a:solidFill>
                  <a:srgbClr val="C5D5F7"/>
                </a:solidFill>
                <a:latin typeface="Montserrat Medium"/>
                <a:ea typeface="Montserrat Medium"/>
                <a:cs typeface="Montserrat Medium"/>
                <a:sym typeface="Montserrat Medium"/>
              </a:rPr>
              <a:t>Una línea que anticipa qué se resuelve en esta sección.</a:t>
            </a:r>
            <a:endParaRPr b="0" i="0" sz="1300" u="none" cap="none" strike="noStrike">
              <a:solidFill>
                <a:schemeClr val="dk1"/>
              </a:solidFill>
              <a:latin typeface="Calibri"/>
              <a:ea typeface="Calibri"/>
              <a:cs typeface="Calibri"/>
              <a:sym typeface="Calibri"/>
            </a:endParaRPr>
          </a:p>
        </p:txBody>
      </p:sp>
      <p:sp>
        <p:nvSpPr>
          <p:cNvPr id="189" name="Google Shape;189;g3fb8e08d9db_0_129"/>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D5F7"/>
              </a:buClr>
              <a:buSzPts val="1100"/>
              <a:buFont typeface="Montserrat SemiBold"/>
              <a:buNone/>
            </a:pPr>
            <a:r>
              <a:rPr b="1" i="0" lang="en-US" sz="1100" u="none" cap="none" strike="noStrike">
                <a:solidFill>
                  <a:srgbClr val="C5D5F7"/>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194" name="Shape 194"/>
        <p:cNvGrpSpPr/>
        <p:nvPr/>
      </p:nvGrpSpPr>
      <p:grpSpPr>
        <a:xfrm>
          <a:off x="0" y="0"/>
          <a:ext cx="0" cy="0"/>
          <a:chOff x="0" y="0"/>
          <a:chExt cx="0" cy="0"/>
        </a:xfrm>
      </p:grpSpPr>
      <p:sp>
        <p:nvSpPr>
          <p:cNvPr id="195" name="Google Shape;195;g3fb8e08d9db_0_906"/>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PROPUESTA ECONÓMICA</a:t>
            </a:r>
            <a:endParaRPr b="0" i="0" sz="1100" u="none" cap="none" strike="noStrike">
              <a:solidFill>
                <a:schemeClr val="dk1"/>
              </a:solidFill>
              <a:latin typeface="Calibri"/>
              <a:ea typeface="Calibri"/>
              <a:cs typeface="Calibri"/>
              <a:sym typeface="Calibri"/>
            </a:endParaRPr>
          </a:p>
        </p:txBody>
      </p:sp>
      <p:sp>
        <p:nvSpPr>
          <p:cNvPr id="196" name="Google Shape;196;g3fb8e08d9db_0_906"/>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Inversión</a:t>
            </a:r>
            <a:endParaRPr b="0" i="0" sz="2100" u="none" cap="none" strike="noStrike">
              <a:solidFill>
                <a:schemeClr val="dk1"/>
              </a:solidFill>
              <a:latin typeface="Calibri"/>
              <a:ea typeface="Calibri"/>
              <a:cs typeface="Calibri"/>
              <a:sym typeface="Calibri"/>
            </a:endParaRPr>
          </a:p>
        </p:txBody>
      </p:sp>
      <p:graphicFrame>
        <p:nvGraphicFramePr>
          <p:cNvPr id="197" name="Google Shape;197;g3fb8e08d9db_0_906"/>
          <p:cNvGraphicFramePr/>
          <p:nvPr/>
        </p:nvGraphicFramePr>
        <p:xfrm>
          <a:off x="571500" y="1755648"/>
          <a:ext cx="3000000" cy="3000000"/>
        </p:xfrm>
        <a:graphic>
          <a:graphicData uri="http://schemas.openxmlformats.org/drawingml/2006/table">
            <a:tbl>
              <a:tblPr>
                <a:noFill/>
                <a:tableStyleId>{A6A64D60-A4E0-42B9-97FA-79E353F5EF75}</a:tableStyleId>
              </a:tblPr>
              <a:tblGrid>
                <a:gridCol w="3657600"/>
                <a:gridCol w="1188725"/>
                <a:gridCol w="1600200"/>
                <a:gridCol w="1554475"/>
              </a:tblGrid>
              <a:tr h="384050">
                <a:tc>
                  <a:txBody>
                    <a:bodyPr/>
                    <a:lstStyle/>
                    <a:p>
                      <a:pPr indent="0" lvl="0" marL="0" marR="0" rtl="0" algn="ctr">
                        <a:spcBef>
                          <a:spcPts val="0"/>
                        </a:spcBef>
                        <a:spcAft>
                          <a:spcPts val="0"/>
                        </a:spcAft>
                        <a:buClr>
                          <a:srgbClr val="FFFFFF"/>
                        </a:buClr>
                        <a:buSzPts val="1000"/>
                        <a:buFont typeface="Montserrat SemiBold"/>
                        <a:buNone/>
                      </a:pPr>
                      <a:r>
                        <a:rPr b="1" lang="en-US" sz="1000">
                          <a:solidFill>
                            <a:srgbClr val="FFFFFF"/>
                          </a:solidFill>
                          <a:latin typeface="Montserrat SemiBold"/>
                          <a:ea typeface="Montserrat SemiBold"/>
                          <a:cs typeface="Montserrat SemiBold"/>
                          <a:sym typeface="Montserrat SemiBold"/>
                        </a:rPr>
                        <a:t>*nombre del perfil*</a:t>
                      </a:r>
                      <a:endParaRPr sz="1000" u="none" cap="none" strike="noStrike">
                        <a:latin typeface="Montserrat SemiBold"/>
                        <a:ea typeface="Montserrat SemiBold"/>
                        <a:cs typeface="Montserrat SemiBold"/>
                        <a:sym typeface="Montserrat SemiBold"/>
                      </a:endParaRPr>
                    </a:p>
                  </a:txBody>
                  <a:tcPr marT="76200" marB="76200" marR="127000" marL="127000" anchor="ctr">
                    <a:lnL cap="flat" cmpd="sng" w="9525">
                      <a:solidFill>
                        <a:srgbClr val="D8E0F5"/>
                      </a:solidFill>
                      <a:prstDash val="solid"/>
                      <a:round/>
                      <a:headEnd len="sm" w="sm" type="none"/>
                      <a:tailEnd len="sm" w="sm" type="none"/>
                    </a:lnL>
                    <a:lnR cap="flat" cmpd="sng" w="9525">
                      <a:solidFill>
                        <a:srgbClr val="D8E0F5"/>
                      </a:solidFill>
                      <a:prstDash val="solid"/>
                      <a:round/>
                      <a:headEnd len="sm" w="sm" type="none"/>
                      <a:tailEnd len="sm" w="sm" type="none"/>
                    </a:lnR>
                    <a:lnT cap="flat" cmpd="sng" w="9525">
                      <a:solidFill>
                        <a:srgbClr val="D8E0F5"/>
                      </a:solidFill>
                      <a:prstDash val="solid"/>
                      <a:round/>
                      <a:headEnd len="sm" w="sm" type="none"/>
                      <a:tailEnd len="sm" w="sm" type="none"/>
                    </a:lnT>
                    <a:lnB cap="flat" cmpd="sng" w="9525">
                      <a:solidFill>
                        <a:srgbClr val="D8E0F5"/>
                      </a:solidFill>
                      <a:prstDash val="solid"/>
                      <a:round/>
                      <a:headEnd len="sm" w="sm" type="none"/>
                      <a:tailEnd len="sm" w="sm" type="none"/>
                    </a:lnB>
                    <a:solidFill>
                      <a:srgbClr val="000033"/>
                    </a:solidFill>
                  </a:tcPr>
                </a:tc>
                <a:tc>
                  <a:txBody>
                    <a:bodyPr/>
                    <a:lstStyle/>
                    <a:p>
                      <a:pPr indent="0" lvl="0" marL="0" marR="0" rtl="0" algn="ctr">
                        <a:spcBef>
                          <a:spcPts val="0"/>
                        </a:spcBef>
                        <a:spcAft>
                          <a:spcPts val="0"/>
                        </a:spcAft>
                        <a:buClr>
                          <a:srgbClr val="FFFFFF"/>
                        </a:buClr>
                        <a:buSzPts val="1000"/>
                        <a:buFont typeface="Montserrat SemiBold"/>
                        <a:buNone/>
                      </a:pPr>
                      <a:r>
                        <a:rPr b="1" lang="en-US" sz="1000" u="none" cap="none" strike="noStrike">
                          <a:solidFill>
                            <a:srgbClr val="FFFFFF"/>
                          </a:solidFill>
                          <a:latin typeface="Montserrat SemiBold"/>
                          <a:ea typeface="Montserrat SemiBold"/>
                          <a:cs typeface="Montserrat SemiBold"/>
                          <a:sym typeface="Montserrat SemiBold"/>
                        </a:rPr>
                        <a:t>Duración</a:t>
                      </a:r>
                      <a:endParaRPr sz="1000" u="none" cap="none" strike="noStrike">
                        <a:latin typeface="Montserrat SemiBold"/>
                        <a:ea typeface="Montserrat SemiBold"/>
                        <a:cs typeface="Montserrat SemiBold"/>
                        <a:sym typeface="Montserrat SemiBold"/>
                      </a:endParaRPr>
                    </a:p>
                  </a:txBody>
                  <a:tcPr marT="76200" marB="76200" marR="127000" marL="127000" anchor="ctr">
                    <a:lnL cap="flat" cmpd="sng" w="9525">
                      <a:solidFill>
                        <a:srgbClr val="D8E0F5"/>
                      </a:solidFill>
                      <a:prstDash val="solid"/>
                      <a:round/>
                      <a:headEnd len="sm" w="sm" type="none"/>
                      <a:tailEnd len="sm" w="sm" type="none"/>
                    </a:lnL>
                    <a:lnR cap="flat" cmpd="sng" w="9525">
                      <a:solidFill>
                        <a:srgbClr val="D8E0F5"/>
                      </a:solidFill>
                      <a:prstDash val="solid"/>
                      <a:round/>
                      <a:headEnd len="sm" w="sm" type="none"/>
                      <a:tailEnd len="sm" w="sm" type="none"/>
                    </a:lnR>
                    <a:lnT cap="flat" cmpd="sng" w="9525">
                      <a:solidFill>
                        <a:srgbClr val="D8E0F5"/>
                      </a:solidFill>
                      <a:prstDash val="solid"/>
                      <a:round/>
                      <a:headEnd len="sm" w="sm" type="none"/>
                      <a:tailEnd len="sm" w="sm" type="none"/>
                    </a:lnT>
                    <a:lnB cap="flat" cmpd="sng" w="9525">
                      <a:solidFill>
                        <a:srgbClr val="D8E0F5"/>
                      </a:solidFill>
                      <a:prstDash val="solid"/>
                      <a:round/>
                      <a:headEnd len="sm" w="sm" type="none"/>
                      <a:tailEnd len="sm" w="sm" type="none"/>
                    </a:lnB>
                    <a:solidFill>
                      <a:srgbClr val="000033"/>
                    </a:solidFill>
                  </a:tcPr>
                </a:tc>
                <a:tc>
                  <a:txBody>
                    <a:bodyPr/>
                    <a:lstStyle/>
                    <a:p>
                      <a:pPr indent="0" lvl="0" marL="0" marR="0" rtl="0" algn="ctr">
                        <a:spcBef>
                          <a:spcPts val="0"/>
                        </a:spcBef>
                        <a:spcAft>
                          <a:spcPts val="0"/>
                        </a:spcAft>
                        <a:buClr>
                          <a:srgbClr val="FFFFFF"/>
                        </a:buClr>
                        <a:buSzPts val="1000"/>
                        <a:buFont typeface="Montserrat SemiBold"/>
                        <a:buNone/>
                      </a:pPr>
                      <a:r>
                        <a:rPr b="1" lang="en-US" sz="1000" u="none" cap="none" strike="noStrike">
                          <a:solidFill>
                            <a:srgbClr val="FFFFFF"/>
                          </a:solidFill>
                          <a:latin typeface="Montserrat SemiBold"/>
                          <a:ea typeface="Montserrat SemiBold"/>
                          <a:cs typeface="Montserrat SemiBold"/>
                          <a:sym typeface="Montserrat SemiBold"/>
                        </a:rPr>
                        <a:t>Inversión Mensual</a:t>
                      </a:r>
                      <a:endParaRPr sz="1000" u="none" cap="none" strike="noStrike">
                        <a:latin typeface="Montserrat SemiBold"/>
                        <a:ea typeface="Montserrat SemiBold"/>
                        <a:cs typeface="Montserrat SemiBold"/>
                        <a:sym typeface="Montserrat SemiBold"/>
                      </a:endParaRPr>
                    </a:p>
                  </a:txBody>
                  <a:tcPr marT="76200" marB="76200" marR="127000" marL="127000" anchor="ctr">
                    <a:lnL cap="flat" cmpd="sng" w="9525">
                      <a:solidFill>
                        <a:srgbClr val="D8E0F5"/>
                      </a:solidFill>
                      <a:prstDash val="solid"/>
                      <a:round/>
                      <a:headEnd len="sm" w="sm" type="none"/>
                      <a:tailEnd len="sm" w="sm" type="none"/>
                    </a:lnL>
                    <a:lnR cap="flat" cmpd="sng" w="9525">
                      <a:solidFill>
                        <a:srgbClr val="D8E0F5"/>
                      </a:solidFill>
                      <a:prstDash val="solid"/>
                      <a:round/>
                      <a:headEnd len="sm" w="sm" type="none"/>
                      <a:tailEnd len="sm" w="sm" type="none"/>
                    </a:lnR>
                    <a:lnT cap="flat" cmpd="sng" w="9525">
                      <a:solidFill>
                        <a:srgbClr val="D8E0F5"/>
                      </a:solidFill>
                      <a:prstDash val="solid"/>
                      <a:round/>
                      <a:headEnd len="sm" w="sm" type="none"/>
                      <a:tailEnd len="sm" w="sm" type="none"/>
                    </a:lnT>
                    <a:lnB cap="flat" cmpd="sng" w="9525">
                      <a:solidFill>
                        <a:srgbClr val="D8E0F5"/>
                      </a:solidFill>
                      <a:prstDash val="solid"/>
                      <a:round/>
                      <a:headEnd len="sm" w="sm" type="none"/>
                      <a:tailEnd len="sm" w="sm" type="none"/>
                    </a:lnB>
                    <a:solidFill>
                      <a:srgbClr val="000033"/>
                    </a:solidFill>
                  </a:tcPr>
                </a:tc>
                <a:tc>
                  <a:txBody>
                    <a:bodyPr/>
                    <a:lstStyle/>
                    <a:p>
                      <a:pPr indent="0" lvl="0" marL="0" marR="0" rtl="0" algn="ctr">
                        <a:spcBef>
                          <a:spcPts val="0"/>
                        </a:spcBef>
                        <a:spcAft>
                          <a:spcPts val="0"/>
                        </a:spcAft>
                        <a:buClr>
                          <a:srgbClr val="FFFFFF"/>
                        </a:buClr>
                        <a:buSzPts val="1000"/>
                        <a:buFont typeface="Montserrat SemiBold"/>
                        <a:buNone/>
                      </a:pPr>
                      <a:r>
                        <a:rPr b="1" lang="en-US" sz="1000" u="none" cap="none" strike="noStrike">
                          <a:solidFill>
                            <a:srgbClr val="FFFFFF"/>
                          </a:solidFill>
                          <a:latin typeface="Montserrat SemiBold"/>
                          <a:ea typeface="Montserrat SemiBold"/>
                          <a:cs typeface="Montserrat SemiBold"/>
                          <a:sym typeface="Montserrat SemiBold"/>
                        </a:rPr>
                        <a:t>Inversión Total</a:t>
                      </a:r>
                      <a:endParaRPr sz="1000" u="none" cap="none" strike="noStrike">
                        <a:latin typeface="Montserrat SemiBold"/>
                        <a:ea typeface="Montserrat SemiBold"/>
                        <a:cs typeface="Montserrat SemiBold"/>
                        <a:sym typeface="Montserrat SemiBold"/>
                      </a:endParaRPr>
                    </a:p>
                  </a:txBody>
                  <a:tcPr marT="76200" marB="76200" marR="127000" marL="127000" anchor="ctr">
                    <a:lnL cap="flat" cmpd="sng" w="9525">
                      <a:solidFill>
                        <a:srgbClr val="D8E0F5"/>
                      </a:solidFill>
                      <a:prstDash val="solid"/>
                      <a:round/>
                      <a:headEnd len="sm" w="sm" type="none"/>
                      <a:tailEnd len="sm" w="sm" type="none"/>
                    </a:lnL>
                    <a:lnR cap="flat" cmpd="sng" w="9525">
                      <a:solidFill>
                        <a:srgbClr val="D8E0F5"/>
                      </a:solidFill>
                      <a:prstDash val="solid"/>
                      <a:round/>
                      <a:headEnd len="sm" w="sm" type="none"/>
                      <a:tailEnd len="sm" w="sm" type="none"/>
                    </a:lnR>
                    <a:lnT cap="flat" cmpd="sng" w="9525">
                      <a:solidFill>
                        <a:srgbClr val="D8E0F5"/>
                      </a:solidFill>
                      <a:prstDash val="solid"/>
                      <a:round/>
                      <a:headEnd len="sm" w="sm" type="none"/>
                      <a:tailEnd len="sm" w="sm" type="none"/>
                    </a:lnT>
                    <a:lnB cap="flat" cmpd="sng" w="9525">
                      <a:solidFill>
                        <a:srgbClr val="D8E0F5"/>
                      </a:solidFill>
                      <a:prstDash val="solid"/>
                      <a:round/>
                      <a:headEnd len="sm" w="sm" type="none"/>
                      <a:tailEnd len="sm" w="sm" type="none"/>
                    </a:lnB>
                    <a:solidFill>
                      <a:srgbClr val="000033"/>
                    </a:solidFill>
                  </a:tcPr>
                </a:tc>
              </a:tr>
              <a:tr h="1079000">
                <a:tc>
                  <a:txBody>
                    <a:bodyPr/>
                    <a:lstStyle/>
                    <a:p>
                      <a:pPr indent="0" lvl="0" marL="0" marR="0" rtl="0" algn="l">
                        <a:spcBef>
                          <a:spcPts val="0"/>
                        </a:spcBef>
                        <a:spcAft>
                          <a:spcPts val="0"/>
                        </a:spcAft>
                        <a:buClr>
                          <a:srgbClr val="000033"/>
                        </a:buClr>
                        <a:buSzPts val="950"/>
                        <a:buFont typeface="Montserrat SemiBold"/>
                        <a:buNone/>
                      </a:pPr>
                      <a:r>
                        <a:rPr b="1" lang="en-US" sz="950">
                          <a:solidFill>
                            <a:srgbClr val="000033"/>
                          </a:solidFill>
                          <a:latin typeface="Montserrat SemiBold"/>
                          <a:ea typeface="Montserrat SemiBold"/>
                          <a:cs typeface="Montserrat SemiBold"/>
                          <a:sym typeface="Montserrat SemiBold"/>
                        </a:rPr>
                        <a:t>*nombre del perfil*</a:t>
                      </a:r>
                      <a:endParaRPr sz="950" u="none" cap="none" strike="noStrike">
                        <a:latin typeface="Montserrat"/>
                        <a:ea typeface="Montserrat"/>
                        <a:cs typeface="Montserrat"/>
                        <a:sym typeface="Montserrat"/>
                      </a:endParaRPr>
                    </a:p>
                    <a:p>
                      <a:pPr indent="-152400" lvl="0" marL="152400" marR="0" rtl="0" algn="l">
                        <a:spcBef>
                          <a:spcPts val="0"/>
                        </a:spcBef>
                        <a:spcAft>
                          <a:spcPts val="0"/>
                        </a:spcAft>
                        <a:buClr>
                          <a:srgbClr val="2B5BFC"/>
                        </a:buClr>
                        <a:buSzPts val="900"/>
                        <a:buFont typeface="Montserrat"/>
                        <a:buChar char="●"/>
                      </a:pPr>
                      <a:r>
                        <a:rPr lang="en-US" sz="900" u="none" cap="none" strike="noStrike">
                          <a:solidFill>
                            <a:srgbClr val="000033"/>
                          </a:solidFill>
                          <a:latin typeface="Montserrat"/>
                          <a:ea typeface="Montserrat"/>
                          <a:cs typeface="Montserrat"/>
                          <a:sym typeface="Montserrat"/>
                        </a:rPr>
                        <a:t>Gestión administrativa (planilla, beneficios de ley, etc)</a:t>
                      </a:r>
                      <a:endParaRPr sz="950" u="none" cap="none" strike="noStrike">
                        <a:latin typeface="Montserrat"/>
                        <a:ea typeface="Montserrat"/>
                        <a:cs typeface="Montserrat"/>
                        <a:sym typeface="Montserrat"/>
                      </a:endParaRPr>
                    </a:p>
                    <a:p>
                      <a:pPr indent="-152400" lvl="0" marL="152400" marR="0" rtl="0" algn="l">
                        <a:spcBef>
                          <a:spcPts val="0"/>
                        </a:spcBef>
                        <a:spcAft>
                          <a:spcPts val="0"/>
                        </a:spcAft>
                        <a:buClr>
                          <a:srgbClr val="2B5BFC"/>
                        </a:buClr>
                        <a:buSzPts val="900"/>
                        <a:buFont typeface="Montserrat"/>
                        <a:buChar char="●"/>
                      </a:pPr>
                      <a:r>
                        <a:rPr lang="en-US" sz="900" u="none" cap="none" strike="noStrike">
                          <a:solidFill>
                            <a:srgbClr val="000033"/>
                          </a:solidFill>
                          <a:latin typeface="Montserrat"/>
                          <a:ea typeface="Montserrat"/>
                          <a:cs typeface="Montserrat"/>
                          <a:sym typeface="Montserrat"/>
                        </a:rPr>
                        <a:t>Capacitaciones para el desarrollo de conocimiento.</a:t>
                      </a:r>
                      <a:endParaRPr sz="950" u="none" cap="none" strike="noStrike">
                        <a:latin typeface="Montserrat"/>
                        <a:ea typeface="Montserrat"/>
                        <a:cs typeface="Montserrat"/>
                        <a:sym typeface="Montserrat"/>
                      </a:endParaRPr>
                    </a:p>
                    <a:p>
                      <a:pPr indent="-152400" lvl="0" marL="152400" marR="0" rtl="0" algn="l">
                        <a:spcBef>
                          <a:spcPts val="0"/>
                        </a:spcBef>
                        <a:spcAft>
                          <a:spcPts val="0"/>
                        </a:spcAft>
                        <a:buClr>
                          <a:srgbClr val="2B5BFC"/>
                        </a:buClr>
                        <a:buSzPts val="900"/>
                        <a:buFont typeface="Montserrat"/>
                        <a:buChar char="●"/>
                      </a:pPr>
                      <a:r>
                        <a:rPr lang="en-US" sz="900" u="none" cap="none" strike="noStrike">
                          <a:solidFill>
                            <a:srgbClr val="000033"/>
                          </a:solidFill>
                          <a:latin typeface="Montserrat"/>
                          <a:ea typeface="Montserrat"/>
                          <a:cs typeface="Montserrat"/>
                          <a:sym typeface="Montserrat"/>
                        </a:rPr>
                        <a:t>Herramienta: Laptop</a:t>
                      </a:r>
                      <a:endParaRPr sz="950" u="none" cap="none" strike="noStrike">
                        <a:latin typeface="Montserrat"/>
                        <a:ea typeface="Montserrat"/>
                        <a:cs typeface="Montserrat"/>
                        <a:sym typeface="Montserrat"/>
                      </a:endParaRPr>
                    </a:p>
                  </a:txBody>
                  <a:tcPr marT="101600" marB="101600" marR="127000" marL="127000" anchor="ctr">
                    <a:lnL cap="flat" cmpd="sng" w="9525">
                      <a:solidFill>
                        <a:srgbClr val="D8E0F5"/>
                      </a:solidFill>
                      <a:prstDash val="solid"/>
                      <a:round/>
                      <a:headEnd len="sm" w="sm" type="none"/>
                      <a:tailEnd len="sm" w="sm" type="none"/>
                    </a:lnL>
                    <a:lnR cap="flat" cmpd="sng" w="9525">
                      <a:solidFill>
                        <a:srgbClr val="D8E0F5"/>
                      </a:solidFill>
                      <a:prstDash val="solid"/>
                      <a:round/>
                      <a:headEnd len="sm" w="sm" type="none"/>
                      <a:tailEnd len="sm" w="sm" type="none"/>
                    </a:lnR>
                    <a:lnT cap="flat" cmpd="sng" w="9525">
                      <a:solidFill>
                        <a:srgbClr val="D8E0F5"/>
                      </a:solidFill>
                      <a:prstDash val="solid"/>
                      <a:round/>
                      <a:headEnd len="sm" w="sm" type="none"/>
                      <a:tailEnd len="sm" w="sm" type="none"/>
                    </a:lnT>
                    <a:lnB cap="flat" cmpd="sng" w="9525">
                      <a:solidFill>
                        <a:srgbClr val="D8E0F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00033"/>
                        </a:buClr>
                        <a:buSzPts val="1050"/>
                        <a:buFont typeface="Montserrat SemiBold"/>
                        <a:buNone/>
                      </a:pPr>
                      <a:r>
                        <a:rPr b="1" lang="en-US" sz="1050">
                          <a:solidFill>
                            <a:srgbClr val="000033"/>
                          </a:solidFill>
                          <a:latin typeface="Montserrat SemiBold"/>
                          <a:ea typeface="Montserrat SemiBold"/>
                          <a:cs typeface="Montserrat SemiBold"/>
                          <a:sym typeface="Montserrat SemiBold"/>
                        </a:rPr>
                        <a:t>#</a:t>
                      </a:r>
                      <a:r>
                        <a:rPr b="1" lang="en-US" sz="1050" u="none" cap="none" strike="noStrike">
                          <a:solidFill>
                            <a:srgbClr val="000033"/>
                          </a:solidFill>
                          <a:latin typeface="Montserrat SemiBold"/>
                          <a:ea typeface="Montserrat SemiBold"/>
                          <a:cs typeface="Montserrat SemiBold"/>
                          <a:sym typeface="Montserrat SemiBold"/>
                        </a:rPr>
                        <a:t> meses</a:t>
                      </a:r>
                      <a:endParaRPr sz="1050" u="none" cap="none" strike="noStrike">
                        <a:latin typeface="Montserrat SemiBold"/>
                        <a:ea typeface="Montserrat SemiBold"/>
                        <a:cs typeface="Montserrat SemiBold"/>
                        <a:sym typeface="Montserrat SemiBold"/>
                      </a:endParaRPr>
                    </a:p>
                  </a:txBody>
                  <a:tcPr marT="76200" marB="76200" marR="127000" marL="127000" anchor="ctr">
                    <a:lnL cap="flat" cmpd="sng" w="9525">
                      <a:solidFill>
                        <a:srgbClr val="D8E0F5"/>
                      </a:solidFill>
                      <a:prstDash val="solid"/>
                      <a:round/>
                      <a:headEnd len="sm" w="sm" type="none"/>
                      <a:tailEnd len="sm" w="sm" type="none"/>
                    </a:lnL>
                    <a:lnR cap="flat" cmpd="sng" w="9525">
                      <a:solidFill>
                        <a:srgbClr val="D8E0F5"/>
                      </a:solidFill>
                      <a:prstDash val="solid"/>
                      <a:round/>
                      <a:headEnd len="sm" w="sm" type="none"/>
                      <a:tailEnd len="sm" w="sm" type="none"/>
                    </a:lnR>
                    <a:lnT cap="flat" cmpd="sng" w="9525">
                      <a:solidFill>
                        <a:srgbClr val="D8E0F5"/>
                      </a:solidFill>
                      <a:prstDash val="solid"/>
                      <a:round/>
                      <a:headEnd len="sm" w="sm" type="none"/>
                      <a:tailEnd len="sm" w="sm" type="none"/>
                    </a:lnT>
                    <a:lnB cap="flat" cmpd="sng" w="9525">
                      <a:solidFill>
                        <a:srgbClr val="D8E0F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00033"/>
                        </a:buClr>
                        <a:buSzPts val="1050"/>
                        <a:buFont typeface="Montserrat SemiBold"/>
                        <a:buNone/>
                      </a:pPr>
                      <a:r>
                        <a:rPr b="1" lang="en-US" sz="1050" u="none" cap="none" strike="noStrike">
                          <a:solidFill>
                            <a:srgbClr val="000033"/>
                          </a:solidFill>
                          <a:latin typeface="Montserrat SemiBold"/>
                          <a:ea typeface="Montserrat SemiBold"/>
                          <a:cs typeface="Montserrat SemiBold"/>
                          <a:sym typeface="Montserrat SemiBold"/>
                        </a:rPr>
                        <a:t>US$ </a:t>
                      </a:r>
                      <a:r>
                        <a:rPr b="1" lang="en-US" sz="1050">
                          <a:solidFill>
                            <a:srgbClr val="000033"/>
                          </a:solidFill>
                          <a:latin typeface="Montserrat SemiBold"/>
                          <a:ea typeface="Montserrat SemiBold"/>
                          <a:cs typeface="Montserrat SemiBold"/>
                          <a:sym typeface="Montserrat SemiBold"/>
                        </a:rPr>
                        <a:t>xxxxx</a:t>
                      </a:r>
                      <a:r>
                        <a:rPr b="1" lang="en-US" sz="1050" u="none" cap="none" strike="noStrike">
                          <a:solidFill>
                            <a:srgbClr val="000033"/>
                          </a:solidFill>
                          <a:latin typeface="Montserrat SemiBold"/>
                          <a:ea typeface="Montserrat SemiBold"/>
                          <a:cs typeface="Montserrat SemiBold"/>
                          <a:sym typeface="Montserrat SemiBold"/>
                        </a:rPr>
                        <a:t> usd a </a:t>
                      </a:r>
                      <a:r>
                        <a:rPr b="1" lang="en-US" sz="1050">
                          <a:solidFill>
                            <a:srgbClr val="000033"/>
                          </a:solidFill>
                          <a:latin typeface="Montserrat SemiBold"/>
                          <a:ea typeface="Montserrat SemiBold"/>
                          <a:cs typeface="Montserrat SemiBold"/>
                          <a:sym typeface="Montserrat SemiBold"/>
                        </a:rPr>
                        <a:t>xxxxx</a:t>
                      </a:r>
                      <a:r>
                        <a:rPr b="1" lang="en-US" sz="1050" u="none" cap="none" strike="noStrike">
                          <a:solidFill>
                            <a:srgbClr val="000033"/>
                          </a:solidFill>
                          <a:latin typeface="Montserrat SemiBold"/>
                          <a:ea typeface="Montserrat SemiBold"/>
                          <a:cs typeface="Montserrat SemiBold"/>
                          <a:sym typeface="Montserrat SemiBold"/>
                        </a:rPr>
                        <a:t> usd</a:t>
                      </a:r>
                      <a:endParaRPr sz="1050" u="none" cap="none" strike="noStrike">
                        <a:latin typeface="Montserrat SemiBold"/>
                        <a:ea typeface="Montserrat SemiBold"/>
                        <a:cs typeface="Montserrat SemiBold"/>
                        <a:sym typeface="Montserrat SemiBold"/>
                      </a:endParaRPr>
                    </a:p>
                  </a:txBody>
                  <a:tcPr marT="76200" marB="76200" marR="127000" marL="127000" anchor="ctr">
                    <a:lnL cap="flat" cmpd="sng" w="9525">
                      <a:solidFill>
                        <a:srgbClr val="D8E0F5"/>
                      </a:solidFill>
                      <a:prstDash val="solid"/>
                      <a:round/>
                      <a:headEnd len="sm" w="sm" type="none"/>
                      <a:tailEnd len="sm" w="sm" type="none"/>
                    </a:lnL>
                    <a:lnR cap="flat" cmpd="sng" w="9525">
                      <a:solidFill>
                        <a:srgbClr val="D8E0F5"/>
                      </a:solidFill>
                      <a:prstDash val="solid"/>
                      <a:round/>
                      <a:headEnd len="sm" w="sm" type="none"/>
                      <a:tailEnd len="sm" w="sm" type="none"/>
                    </a:lnR>
                    <a:lnT cap="flat" cmpd="sng" w="9525">
                      <a:solidFill>
                        <a:srgbClr val="D8E0F5"/>
                      </a:solidFill>
                      <a:prstDash val="solid"/>
                      <a:round/>
                      <a:headEnd len="sm" w="sm" type="none"/>
                      <a:tailEnd len="sm" w="sm" type="none"/>
                    </a:lnT>
                    <a:lnB cap="flat" cmpd="sng" w="9525">
                      <a:solidFill>
                        <a:srgbClr val="D8E0F5"/>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00033"/>
                        </a:buClr>
                        <a:buSzPts val="1050"/>
                        <a:buFont typeface="Montserrat SemiBold"/>
                        <a:buNone/>
                      </a:pPr>
                      <a:r>
                        <a:rPr b="1" lang="en-US" sz="1050" u="none" cap="none" strike="noStrike">
                          <a:solidFill>
                            <a:srgbClr val="000033"/>
                          </a:solidFill>
                          <a:latin typeface="Montserrat SemiBold"/>
                          <a:ea typeface="Montserrat SemiBold"/>
                          <a:cs typeface="Montserrat SemiBold"/>
                          <a:sym typeface="Montserrat SemiBold"/>
                        </a:rPr>
                        <a:t>US$ </a:t>
                      </a:r>
                      <a:r>
                        <a:rPr b="1" lang="en-US" sz="1050">
                          <a:solidFill>
                            <a:srgbClr val="000033"/>
                          </a:solidFill>
                          <a:latin typeface="Montserrat SemiBold"/>
                          <a:ea typeface="Montserrat SemiBold"/>
                          <a:cs typeface="Montserrat SemiBold"/>
                          <a:sym typeface="Montserrat SemiBold"/>
                        </a:rPr>
                        <a:t>xxxxxx</a:t>
                      </a:r>
                      <a:endParaRPr sz="1050" u="none" cap="none" strike="noStrike">
                        <a:latin typeface="Montserrat SemiBold"/>
                        <a:ea typeface="Montserrat SemiBold"/>
                        <a:cs typeface="Montserrat SemiBold"/>
                        <a:sym typeface="Montserrat SemiBold"/>
                      </a:endParaRPr>
                    </a:p>
                  </a:txBody>
                  <a:tcPr marT="76200" marB="76200" marR="127000" marL="127000" anchor="ctr">
                    <a:lnL cap="flat" cmpd="sng" w="9525">
                      <a:solidFill>
                        <a:srgbClr val="D8E0F5"/>
                      </a:solidFill>
                      <a:prstDash val="solid"/>
                      <a:round/>
                      <a:headEnd len="sm" w="sm" type="none"/>
                      <a:tailEnd len="sm" w="sm" type="none"/>
                    </a:lnL>
                    <a:lnR cap="flat" cmpd="sng" w="9525">
                      <a:solidFill>
                        <a:srgbClr val="D8E0F5"/>
                      </a:solidFill>
                      <a:prstDash val="solid"/>
                      <a:round/>
                      <a:headEnd len="sm" w="sm" type="none"/>
                      <a:tailEnd len="sm" w="sm" type="none"/>
                    </a:lnR>
                    <a:lnT cap="flat" cmpd="sng" w="9525">
                      <a:solidFill>
                        <a:srgbClr val="D8E0F5"/>
                      </a:solidFill>
                      <a:prstDash val="solid"/>
                      <a:round/>
                      <a:headEnd len="sm" w="sm" type="none"/>
                      <a:tailEnd len="sm" w="sm" type="none"/>
                    </a:lnT>
                    <a:lnB cap="flat" cmpd="sng" w="9525">
                      <a:solidFill>
                        <a:srgbClr val="D8E0F5"/>
                      </a:solidFill>
                      <a:prstDash val="solid"/>
                      <a:round/>
                      <a:headEnd len="sm" w="sm" type="none"/>
                      <a:tailEnd len="sm" w="sm" type="none"/>
                    </a:lnB>
                    <a:solidFill>
                      <a:srgbClr val="FFFFFF"/>
                    </a:solidFill>
                  </a:tcPr>
                </a:tc>
              </a:tr>
            </a:tbl>
          </a:graphicData>
        </a:graphic>
      </p:graphicFrame>
      <p:sp>
        <p:nvSpPr>
          <p:cNvPr id="198" name="Google Shape;198;g3fb8e08d9db_0_906"/>
          <p:cNvSpPr txBox="1"/>
          <p:nvPr/>
        </p:nvSpPr>
        <p:spPr>
          <a:xfrm>
            <a:off x="571500" y="3521175"/>
            <a:ext cx="2743200" cy="12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CONDICIONES</a:t>
            </a:r>
            <a:endParaRPr b="0" i="0" sz="850" u="none" cap="none" strike="noStrike">
              <a:solidFill>
                <a:schemeClr val="dk1"/>
              </a:solidFill>
              <a:latin typeface="Calibri"/>
              <a:ea typeface="Calibri"/>
              <a:cs typeface="Calibri"/>
              <a:sym typeface="Calibri"/>
            </a:endParaRPr>
          </a:p>
        </p:txBody>
      </p:sp>
      <p:sp>
        <p:nvSpPr>
          <p:cNvPr id="199" name="Google Shape;199;g3fb8e08d9db_0_906"/>
          <p:cNvSpPr/>
          <p:nvPr/>
        </p:nvSpPr>
        <p:spPr>
          <a:xfrm>
            <a:off x="571500" y="3711682"/>
            <a:ext cx="8001000" cy="6300"/>
          </a:xfrm>
          <a:prstGeom prst="rect">
            <a:avLst/>
          </a:prstGeom>
          <a:solidFill>
            <a:srgbClr val="D8E0F5"/>
          </a:solidFill>
          <a:ln cap="flat" cmpd="sng" w="12700">
            <a:solidFill>
              <a:srgbClr val="D8E0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fb8e08d9db_0_906"/>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
        <p:nvSpPr>
          <p:cNvPr id="201" name="Google Shape;201;g3fb8e08d9db_0_906"/>
          <p:cNvSpPr txBox="1"/>
          <p:nvPr/>
        </p:nvSpPr>
        <p:spPr>
          <a:xfrm>
            <a:off x="600750" y="3717976"/>
            <a:ext cx="8001000" cy="620400"/>
          </a:xfrm>
          <a:prstGeom prst="rect">
            <a:avLst/>
          </a:prstGeom>
          <a:noFill/>
          <a:ln>
            <a:noFill/>
          </a:ln>
        </p:spPr>
        <p:txBody>
          <a:bodyPr anchorCtr="0" anchor="t" bIns="91425" lIns="91425" spcFirstLastPara="1" rIns="91425" wrap="square" tIns="91425">
            <a:noAutofit/>
          </a:bodyPr>
          <a:lstStyle/>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Los precios no incluyen impuestos (IGV)</a:t>
            </a:r>
            <a:endParaRPr sz="900">
              <a:solidFill>
                <a:srgbClr val="000033"/>
              </a:solidFill>
              <a:latin typeface="Montserrat"/>
              <a:ea typeface="Montserrat"/>
              <a:cs typeface="Montserrat"/>
              <a:sym typeface="Montserrat"/>
            </a:endParaRPr>
          </a:p>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Los precios considerados tienen vigencia hasta 30 días después de presentada la propuesta.</a:t>
            </a:r>
            <a:endParaRPr sz="900">
              <a:solidFill>
                <a:srgbClr val="000033"/>
              </a:solidFill>
              <a:latin typeface="Montserrat"/>
              <a:ea typeface="Montserrat"/>
              <a:cs typeface="Montserrat"/>
              <a:sym typeface="Montserrat"/>
            </a:endParaRPr>
          </a:p>
          <a:p>
            <a:pPr indent="-152401" lvl="0" marL="180000" marR="0" rtl="0" algn="l">
              <a:lnSpc>
                <a:spcPct val="115000"/>
              </a:lnSpc>
              <a:spcBef>
                <a:spcPts val="0"/>
              </a:spcBef>
              <a:spcAft>
                <a:spcPts val="0"/>
              </a:spcAft>
              <a:buClr>
                <a:srgbClr val="2D5BFF"/>
              </a:buClr>
              <a:buSzPts val="900"/>
              <a:buFont typeface="Montserrat"/>
              <a:buChar char="●"/>
            </a:pPr>
            <a:r>
              <a:rPr lang="en-US" sz="900">
                <a:solidFill>
                  <a:srgbClr val="000033"/>
                </a:solidFill>
                <a:latin typeface="Montserrat"/>
                <a:ea typeface="Montserrat"/>
                <a:cs typeface="Montserrat"/>
                <a:sym typeface="Montserrat"/>
              </a:rPr>
              <a:t>Forma de facturación del proyecto: al fin de cada mes.</a:t>
            </a:r>
            <a:endParaRPr sz="900">
              <a:solidFill>
                <a:srgbClr val="000033"/>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206" name="Shape 206"/>
        <p:cNvGrpSpPr/>
        <p:nvPr/>
      </p:nvGrpSpPr>
      <p:grpSpPr>
        <a:xfrm>
          <a:off x="0" y="0"/>
          <a:ext cx="0" cy="0"/>
          <a:chOff x="0" y="0"/>
          <a:chExt cx="0" cy="0"/>
        </a:xfrm>
      </p:grpSpPr>
      <p:pic>
        <p:nvPicPr>
          <p:cNvPr descr="preencoded.png" id="207" name="Google Shape;207;g3fb8e08d9db_0_145"/>
          <p:cNvPicPr preferRelativeResize="0"/>
          <p:nvPr/>
        </p:nvPicPr>
        <p:blipFill rotWithShape="1">
          <a:blip r:embed="rId3">
            <a:alphaModFix/>
          </a:blip>
          <a:srcRect b="0" l="0" r="0" t="0"/>
          <a:stretch/>
        </p:blipFill>
        <p:spPr>
          <a:xfrm>
            <a:off x="556013" y="1209675"/>
            <a:ext cx="8016488" cy="3178646"/>
          </a:xfrm>
          <a:prstGeom prst="rect">
            <a:avLst/>
          </a:prstGeom>
          <a:noFill/>
          <a:ln>
            <a:noFill/>
          </a:ln>
        </p:spPr>
      </p:pic>
      <p:sp>
        <p:nvSpPr>
          <p:cNvPr id="208" name="Google Shape;208;g3fb8e08d9db_0_145"/>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209" name="Google Shape;209;g3fb8e08d9db_0_145"/>
          <p:cNvSpPr/>
          <p:nvPr/>
        </p:nvSpPr>
        <p:spPr>
          <a:xfrm>
            <a:off x="571500" y="871538"/>
            <a:ext cx="6048300" cy="261900"/>
          </a:xfrm>
          <a:prstGeom prst="rect">
            <a:avLst/>
          </a:prstGeom>
          <a:noFill/>
          <a:ln>
            <a:noFill/>
          </a:ln>
        </p:spPr>
        <p:txBody>
          <a:bodyPr anchorCtr="0" anchor="t" bIns="0" lIns="0" spcFirstLastPara="1" rIns="0" wrap="square" tIns="0">
            <a:noAutofit/>
          </a:bodyPr>
          <a:lstStyle/>
          <a:p>
            <a:pPr indent="0" lvl="0" marL="0" marR="0" rtl="0" algn="l">
              <a:lnSpc>
                <a:spcPct val="88181"/>
              </a:lnSpc>
              <a:spcBef>
                <a:spcPts val="0"/>
              </a:spcBef>
              <a:spcAft>
                <a:spcPts val="0"/>
              </a:spcAft>
              <a:buClr>
                <a:srgbClr val="0D1B3E"/>
              </a:buClr>
              <a:buSzPts val="1700"/>
              <a:buFont typeface="Montserrat ExtraBold"/>
              <a:buNone/>
            </a:pPr>
            <a:r>
              <a:rPr b="1" i="0" lang="en-US" sz="1700" u="none" cap="none" strike="noStrike">
                <a:solidFill>
                  <a:srgbClr val="000033"/>
                </a:solidFill>
                <a:latin typeface="Montserrat ExtraBold"/>
                <a:ea typeface="Montserrat ExtraBold"/>
                <a:cs typeface="Montserrat ExtraBold"/>
                <a:sym typeface="Montserrat ExtraBold"/>
              </a:rPr>
              <a:t>Cláusulas </a:t>
            </a:r>
            <a:r>
              <a:rPr b="1" i="1" lang="en-US" sz="1700" u="none" cap="none" strike="noStrike">
                <a:solidFill>
                  <a:srgbClr val="2B5BFC"/>
                </a:solidFill>
                <a:latin typeface="Montserrat ExtraBold"/>
                <a:ea typeface="Montserrat ExtraBold"/>
                <a:cs typeface="Montserrat ExtraBold"/>
                <a:sym typeface="Montserrat ExtraBold"/>
              </a:rPr>
              <a:t>generales</a:t>
            </a:r>
            <a:r>
              <a:rPr b="1" i="0" lang="en-US" sz="1700" u="none" cap="none" strike="noStrike">
                <a:solidFill>
                  <a:srgbClr val="000033"/>
                </a:solidFill>
                <a:latin typeface="Montserrat ExtraBold"/>
                <a:ea typeface="Montserrat ExtraBold"/>
                <a:cs typeface="Montserrat ExtraBold"/>
                <a:sym typeface="Montserrat ExtraBold"/>
              </a:rPr>
              <a:t> </a:t>
            </a:r>
            <a:endParaRPr b="0" i="0" sz="1700" u="none" cap="none" strike="noStrike">
              <a:solidFill>
                <a:schemeClr val="dk1"/>
              </a:solidFill>
              <a:latin typeface="Calibri"/>
              <a:ea typeface="Calibri"/>
              <a:cs typeface="Calibri"/>
              <a:sym typeface="Calibri"/>
            </a:endParaRPr>
          </a:p>
        </p:txBody>
      </p:sp>
      <p:sp>
        <p:nvSpPr>
          <p:cNvPr id="210" name="Google Shape;210;g3fb8e08d9db_0_145"/>
          <p:cNvSpPr/>
          <p:nvPr/>
        </p:nvSpPr>
        <p:spPr>
          <a:xfrm>
            <a:off x="571500" y="1209675"/>
            <a:ext cx="35244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a:buNone/>
            </a:pPr>
            <a:r>
              <a:rPr b="1" i="0" lang="en-US" sz="1200" u="none" cap="none" strike="noStrike">
                <a:solidFill>
                  <a:srgbClr val="2B5BFC"/>
                </a:solidFill>
                <a:latin typeface="Montserrat"/>
                <a:ea typeface="Montserrat"/>
                <a:cs typeface="Montserrat"/>
                <a:sym typeface="Montserrat"/>
              </a:rPr>
              <a:t>Sobre los alcances y tiempos del proyecto: </a:t>
            </a:r>
            <a:endParaRPr b="0" i="0" sz="1200" u="none" cap="none" strike="noStrike">
              <a:solidFill>
                <a:schemeClr val="dk1"/>
              </a:solidFill>
              <a:latin typeface="Calibri"/>
              <a:ea typeface="Calibri"/>
              <a:cs typeface="Calibri"/>
              <a:sym typeface="Calibri"/>
            </a:endParaRPr>
          </a:p>
        </p:txBody>
      </p:sp>
      <p:sp>
        <p:nvSpPr>
          <p:cNvPr id="211" name="Google Shape;211;g3fb8e08d9db_0_145"/>
          <p:cNvSpPr/>
          <p:nvPr/>
        </p:nvSpPr>
        <p:spPr>
          <a:xfrm>
            <a:off x="557213" y="1471613"/>
            <a:ext cx="4353000" cy="5145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Tiempos de aceptación:</a:t>
            </a:r>
            <a:r>
              <a:rPr b="0" i="0" lang="en-US" sz="1000" u="none" cap="none" strike="noStrike">
                <a:solidFill>
                  <a:srgbClr val="000033"/>
                </a:solidFill>
                <a:latin typeface="Montserrat"/>
                <a:ea typeface="Montserrat"/>
                <a:cs typeface="Montserrat"/>
                <a:sym typeface="Montserrat"/>
              </a:rPr>
              <a:t> El cliente tendrá hasta 5 días útiles para solicitar ajustes justificados a los entregables. Pasado este plazo, se considerará la etapa finalizada.</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212" name="Google Shape;212;g3fb8e08d9db_0_145"/>
          <p:cNvSpPr/>
          <p:nvPr/>
        </p:nvSpPr>
        <p:spPr>
          <a:xfrm>
            <a:off x="557213" y="2057400"/>
            <a:ext cx="4481400" cy="5145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Conformidad de cierre:</a:t>
            </a:r>
            <a:r>
              <a:rPr b="0" i="0" lang="en-US" sz="1000" u="none" cap="none" strike="noStrike">
                <a:solidFill>
                  <a:srgbClr val="000033"/>
                </a:solidFill>
                <a:latin typeface="Montserrat"/>
                <a:ea typeface="Montserrat"/>
                <a:cs typeface="Montserrat"/>
                <a:sym typeface="Montserrat"/>
              </a:rPr>
              <a:t> Al finalizar, se enviará un acta de conformidad para revisión y aceptación. Si no hay respuesta en 5 días útiles, el proyecto se considerará finalizado.</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213" name="Google Shape;213;g3fb8e08d9db_0_145"/>
          <p:cNvSpPr/>
          <p:nvPr/>
        </p:nvSpPr>
        <p:spPr>
          <a:xfrm>
            <a:off x="557224" y="2643200"/>
            <a:ext cx="4481400" cy="3429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Alcance adicional:</a:t>
            </a:r>
            <a:r>
              <a:rPr b="0" i="0" lang="en-US" sz="1000" u="none" cap="none" strike="noStrike">
                <a:solidFill>
                  <a:srgbClr val="000033"/>
                </a:solidFill>
                <a:latin typeface="Montserrat"/>
                <a:ea typeface="Montserrat"/>
                <a:cs typeface="Montserrat"/>
                <a:sym typeface="Montserrat"/>
              </a:rPr>
              <a:t> Requerimientos fuera del alcance generarán un cobro adicional basado en la tarifa por hora promedio del proyecto.</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214" name="Google Shape;214;g3fb8e08d9db_0_145"/>
          <p:cNvSpPr/>
          <p:nvPr/>
        </p:nvSpPr>
        <p:spPr>
          <a:xfrm>
            <a:off x="557213" y="3057525"/>
            <a:ext cx="4481400" cy="5145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Implementaciones:</a:t>
            </a:r>
            <a:r>
              <a:rPr b="0" i="0" lang="en-US" sz="1000" u="none" cap="none" strike="noStrike">
                <a:solidFill>
                  <a:srgbClr val="000033"/>
                </a:solidFill>
                <a:latin typeface="Montserrat"/>
                <a:ea typeface="Montserrat"/>
                <a:cs typeface="Montserrat"/>
                <a:sym typeface="Montserrat"/>
              </a:rPr>
              <a:t> Serán responsabilidad del equipo del cliente. Cualquier retraso por no ejecutar las mejoras en el tiempo estimado será responsabilidad del cliente.</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215" name="Google Shape;215;g3fb8e08d9db_0_145"/>
          <p:cNvSpPr/>
          <p:nvPr/>
        </p:nvSpPr>
        <p:spPr>
          <a:xfrm>
            <a:off x="557213" y="3643313"/>
            <a:ext cx="4481400" cy="3429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Retrasos del cliente: </a:t>
            </a:r>
            <a:r>
              <a:rPr b="0" i="0" lang="en-US" sz="1000" u="none" cap="none" strike="noStrike">
                <a:solidFill>
                  <a:srgbClr val="000033"/>
                </a:solidFill>
                <a:latin typeface="Montserrat"/>
                <a:ea typeface="Montserrat"/>
                <a:cs typeface="Montserrat"/>
                <a:sym typeface="Montserrat"/>
              </a:rPr>
              <a:t>Si el retraso es atribuible al cliente, las fechas de facturación se mantienen según contrato.</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216" name="Google Shape;216;g3fb8e08d9db_0_145"/>
          <p:cNvSpPr/>
          <p:nvPr/>
        </p:nvSpPr>
        <p:spPr>
          <a:xfrm>
            <a:off x="557213" y="4057650"/>
            <a:ext cx="4476900" cy="3429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Inicio de proyecto:</a:t>
            </a:r>
            <a:r>
              <a:rPr b="0" i="0" lang="en-US" sz="1000" u="none" cap="none" strike="noStrike">
                <a:solidFill>
                  <a:srgbClr val="000033"/>
                </a:solidFill>
                <a:latin typeface="Montserrat"/>
                <a:ea typeface="Montserrat"/>
                <a:cs typeface="Montserrat"/>
                <a:sym typeface="Montserrat"/>
              </a:rPr>
              <a:t> El proyecto se dará inicio una vez se tenga la firma formal del contrato correspondiente.</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217" name="Google Shape;217;g3fb8e08d9db_0_145"/>
          <p:cNvSpPr/>
          <p:nvPr/>
        </p:nvSpPr>
        <p:spPr>
          <a:xfrm>
            <a:off x="5414963" y="1323975"/>
            <a:ext cx="18288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000033"/>
              </a:buClr>
              <a:buSzPts val="1100"/>
              <a:buFont typeface="Montserrat"/>
              <a:buNone/>
            </a:pPr>
            <a:r>
              <a:rPr b="1" i="0" lang="en-US" sz="1100" u="none" cap="none" strike="noStrike">
                <a:solidFill>
                  <a:srgbClr val="000033"/>
                </a:solidFill>
                <a:latin typeface="Montserrat"/>
                <a:ea typeface="Montserrat"/>
                <a:cs typeface="Montserrat"/>
                <a:sym typeface="Montserrat"/>
              </a:rPr>
              <a:t>Horario &amp; Colaboración: </a:t>
            </a:r>
            <a:endParaRPr b="0" i="0" sz="1100" u="none" cap="none" strike="noStrike">
              <a:solidFill>
                <a:schemeClr val="dk1"/>
              </a:solidFill>
              <a:latin typeface="Calibri"/>
              <a:ea typeface="Calibri"/>
              <a:cs typeface="Calibri"/>
              <a:sym typeface="Calibri"/>
            </a:endParaRPr>
          </a:p>
        </p:txBody>
      </p:sp>
      <p:sp>
        <p:nvSpPr>
          <p:cNvPr id="218" name="Google Shape;218;g3fb8e08d9db_0_145"/>
          <p:cNvSpPr/>
          <p:nvPr/>
        </p:nvSpPr>
        <p:spPr>
          <a:xfrm>
            <a:off x="5414963" y="1576388"/>
            <a:ext cx="27669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00"/>
              </a:buClr>
              <a:buSzPts val="1100"/>
              <a:buFont typeface="Montserrat"/>
              <a:buNone/>
            </a:pPr>
            <a:r>
              <a:rPr b="0" i="0" lang="en-US" sz="1100" u="none" cap="none" strike="noStrike">
                <a:solidFill>
                  <a:srgbClr val="000033"/>
                </a:solidFill>
                <a:latin typeface="Montserrat"/>
                <a:ea typeface="Montserrat"/>
                <a:cs typeface="Montserrat"/>
                <a:sym typeface="Montserrat"/>
              </a:rPr>
              <a:t>• Horario de atención: Lunes a Viernes de 9:00 am a 6:00 pm. </a:t>
            </a:r>
            <a:endParaRPr b="0" i="0" sz="1100" u="none" cap="none" strike="noStrike">
              <a:solidFill>
                <a:schemeClr val="dk1"/>
              </a:solidFill>
              <a:latin typeface="Calibri"/>
              <a:ea typeface="Calibri"/>
              <a:cs typeface="Calibri"/>
              <a:sym typeface="Calibri"/>
            </a:endParaRPr>
          </a:p>
        </p:txBody>
      </p:sp>
      <p:sp>
        <p:nvSpPr>
          <p:cNvPr id="219" name="Google Shape;219;g3fb8e08d9db_0_145"/>
          <p:cNvSpPr/>
          <p:nvPr/>
        </p:nvSpPr>
        <p:spPr>
          <a:xfrm>
            <a:off x="5414963" y="2024063"/>
            <a:ext cx="2766900" cy="5571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00"/>
              </a:buClr>
              <a:buSzPts val="1100"/>
              <a:buFont typeface="Montserrat"/>
              <a:buNone/>
            </a:pPr>
            <a:r>
              <a:rPr b="0" i="0" lang="en-US" sz="1100" u="none" cap="none" strike="noStrike">
                <a:solidFill>
                  <a:srgbClr val="000033"/>
                </a:solidFill>
                <a:latin typeface="Montserrat"/>
                <a:ea typeface="Montserrat"/>
                <a:cs typeface="Montserrat"/>
                <a:sym typeface="Montserrat"/>
              </a:rPr>
              <a:t>• Cláusula de no contratación de personal del equipo asignado durante el proyecto y hasta 6 meses después. </a:t>
            </a:r>
            <a:endParaRPr b="0" i="0" sz="1100" u="none" cap="none" strike="noStrike">
              <a:solidFill>
                <a:schemeClr val="dk1"/>
              </a:solidFill>
              <a:latin typeface="Calibri"/>
              <a:ea typeface="Calibri"/>
              <a:cs typeface="Calibri"/>
              <a:sym typeface="Calibri"/>
            </a:endParaRPr>
          </a:p>
        </p:txBody>
      </p:sp>
      <p:sp>
        <p:nvSpPr>
          <p:cNvPr id="220" name="Google Shape;220;g3fb8e08d9db_0_145"/>
          <p:cNvSpPr/>
          <p:nvPr/>
        </p:nvSpPr>
        <p:spPr>
          <a:xfrm>
            <a:off x="5414963" y="2924175"/>
            <a:ext cx="2148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a:buNone/>
            </a:pPr>
            <a:r>
              <a:rPr b="1" i="0" lang="en-US" sz="1200" u="none" cap="none" strike="noStrike">
                <a:solidFill>
                  <a:srgbClr val="2B5BFC"/>
                </a:solidFill>
                <a:latin typeface="Montserrat"/>
                <a:ea typeface="Montserrat"/>
                <a:cs typeface="Montserrat"/>
                <a:sym typeface="Montserrat"/>
              </a:rPr>
              <a:t>Sobre las formas de pago: </a:t>
            </a:r>
            <a:endParaRPr b="0" i="0" sz="1200" u="none" cap="none" strike="noStrike">
              <a:solidFill>
                <a:schemeClr val="dk1"/>
              </a:solidFill>
              <a:latin typeface="Calibri"/>
              <a:ea typeface="Calibri"/>
              <a:cs typeface="Calibri"/>
              <a:sym typeface="Calibri"/>
            </a:endParaRPr>
          </a:p>
        </p:txBody>
      </p:sp>
      <p:sp>
        <p:nvSpPr>
          <p:cNvPr id="221" name="Google Shape;221;g3fb8e08d9db_0_145"/>
          <p:cNvSpPr/>
          <p:nvPr/>
        </p:nvSpPr>
        <p:spPr>
          <a:xfrm>
            <a:off x="5414963" y="3186113"/>
            <a:ext cx="2209800" cy="1857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 Los precios </a:t>
            </a:r>
            <a:r>
              <a:rPr b="1" i="0" lang="en-US" sz="1100" u="none" cap="none" strike="noStrike">
                <a:solidFill>
                  <a:srgbClr val="000033"/>
                </a:solidFill>
                <a:latin typeface="Montserrat"/>
                <a:ea typeface="Montserrat"/>
                <a:cs typeface="Montserrat"/>
                <a:sym typeface="Montserrat"/>
              </a:rPr>
              <a:t>no incluyen IGV</a:t>
            </a:r>
            <a:r>
              <a:rPr b="0" i="0" lang="en-US" sz="1100" u="none" cap="none" strike="noStrike">
                <a:solidFill>
                  <a:srgbClr val="000033"/>
                </a:solidFill>
                <a:latin typeface="Montserrat"/>
                <a:ea typeface="Montserrat"/>
                <a:cs typeface="Montserrat"/>
                <a:sym typeface="Montserrat"/>
              </a:rPr>
              <a:t>. </a:t>
            </a:r>
            <a:endParaRPr b="0" i="0" sz="1100" u="none" cap="none" strike="noStrike">
              <a:solidFill>
                <a:schemeClr val="dk1"/>
              </a:solidFill>
              <a:latin typeface="Calibri"/>
              <a:ea typeface="Calibri"/>
              <a:cs typeface="Calibri"/>
              <a:sym typeface="Calibri"/>
            </a:endParaRPr>
          </a:p>
        </p:txBody>
      </p:sp>
      <p:sp>
        <p:nvSpPr>
          <p:cNvPr id="222" name="Google Shape;222;g3fb8e08d9db_0_145"/>
          <p:cNvSpPr/>
          <p:nvPr/>
        </p:nvSpPr>
        <p:spPr>
          <a:xfrm>
            <a:off x="5414963" y="3448050"/>
            <a:ext cx="27669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 Vigencia de propuesta: 30 días calendario. </a:t>
            </a:r>
            <a:endParaRPr b="0" i="0" sz="1100" u="none" cap="none" strike="noStrike">
              <a:solidFill>
                <a:schemeClr val="dk1"/>
              </a:solidFill>
              <a:latin typeface="Calibri"/>
              <a:ea typeface="Calibri"/>
              <a:cs typeface="Calibri"/>
              <a:sym typeface="Calibri"/>
            </a:endParaRPr>
          </a:p>
        </p:txBody>
      </p:sp>
      <p:sp>
        <p:nvSpPr>
          <p:cNvPr id="223" name="Google Shape;223;g3fb8e08d9db_0_145"/>
          <p:cNvSpPr/>
          <p:nvPr/>
        </p:nvSpPr>
        <p:spPr>
          <a:xfrm>
            <a:off x="5414963" y="3895725"/>
            <a:ext cx="27003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2B5BFC"/>
              </a:buClr>
              <a:buSzPts val="1100"/>
              <a:buFont typeface="Montserrat"/>
              <a:buNone/>
            </a:pPr>
            <a:r>
              <a:rPr b="1" i="0" lang="en-US" sz="1100" u="none" cap="none" strike="noStrike">
                <a:solidFill>
                  <a:srgbClr val="2B5BFC"/>
                </a:solidFill>
                <a:latin typeface="Montserrat"/>
                <a:ea typeface="Montserrat"/>
                <a:cs typeface="Montserrat"/>
                <a:sym typeface="Montserrat"/>
              </a:rPr>
              <a:t>Facturación del Proyecto: 100% al inicio del proyecto.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228" name="Shape 228"/>
        <p:cNvGrpSpPr/>
        <p:nvPr/>
      </p:nvGrpSpPr>
      <p:grpSpPr>
        <a:xfrm>
          <a:off x="0" y="0"/>
          <a:ext cx="0" cy="0"/>
          <a:chOff x="0" y="0"/>
          <a:chExt cx="0" cy="0"/>
        </a:xfrm>
      </p:grpSpPr>
      <p:pic>
        <p:nvPicPr>
          <p:cNvPr descr="preencoded.png" id="229" name="Google Shape;229;g3fb8e08d9db_0_167"/>
          <p:cNvPicPr preferRelativeResize="0"/>
          <p:nvPr/>
        </p:nvPicPr>
        <p:blipFill rotWithShape="1">
          <a:blip r:embed="rId3">
            <a:alphaModFix/>
          </a:blip>
          <a:srcRect b="0" l="0" r="0" t="0"/>
          <a:stretch/>
        </p:blipFill>
        <p:spPr>
          <a:xfrm>
            <a:off x="571500" y="1200150"/>
            <a:ext cx="8001000" cy="3057525"/>
          </a:xfrm>
          <a:prstGeom prst="rect">
            <a:avLst/>
          </a:prstGeom>
          <a:noFill/>
          <a:ln>
            <a:noFill/>
          </a:ln>
        </p:spPr>
      </p:pic>
      <p:sp>
        <p:nvSpPr>
          <p:cNvPr id="230" name="Google Shape;230;g3fb8e08d9db_0_167"/>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231" name="Google Shape;231;g3fb8e08d9db_0_167"/>
          <p:cNvSpPr/>
          <p:nvPr/>
        </p:nvSpPr>
        <p:spPr>
          <a:xfrm>
            <a:off x="571500" y="871538"/>
            <a:ext cx="6048300" cy="261900"/>
          </a:xfrm>
          <a:prstGeom prst="rect">
            <a:avLst/>
          </a:prstGeom>
          <a:noFill/>
          <a:ln>
            <a:noFill/>
          </a:ln>
        </p:spPr>
        <p:txBody>
          <a:bodyPr anchorCtr="0" anchor="t" bIns="0" lIns="0" spcFirstLastPara="1" rIns="0" wrap="square" tIns="0">
            <a:noAutofit/>
          </a:bodyPr>
          <a:lstStyle/>
          <a:p>
            <a:pPr indent="0" lvl="0" marL="0" marR="0" rtl="0" algn="l">
              <a:lnSpc>
                <a:spcPct val="88181"/>
              </a:lnSpc>
              <a:spcBef>
                <a:spcPts val="0"/>
              </a:spcBef>
              <a:spcAft>
                <a:spcPts val="0"/>
              </a:spcAft>
              <a:buClr>
                <a:srgbClr val="0D1B3E"/>
              </a:buClr>
              <a:buSzPts val="1700"/>
              <a:buFont typeface="Montserrat ExtraBold"/>
              <a:buNone/>
            </a:pPr>
            <a:r>
              <a:rPr b="1" i="0" lang="en-US" sz="1700" u="none" cap="none" strike="noStrike">
                <a:solidFill>
                  <a:srgbClr val="000033"/>
                </a:solidFill>
                <a:latin typeface="Montserrat ExtraBold"/>
                <a:ea typeface="Montserrat ExtraBold"/>
                <a:cs typeface="Montserrat ExtraBold"/>
                <a:sym typeface="Montserrat ExtraBold"/>
              </a:rPr>
              <a:t>Facturación por </a:t>
            </a:r>
            <a:r>
              <a:rPr b="1" i="1" lang="en-US" sz="1700" u="none" cap="none" strike="noStrike">
                <a:solidFill>
                  <a:srgbClr val="2B5BFC"/>
                </a:solidFill>
                <a:latin typeface="Montserrat ExtraBold"/>
                <a:ea typeface="Montserrat ExtraBold"/>
                <a:cs typeface="Montserrat ExtraBold"/>
                <a:sym typeface="Montserrat ExtraBold"/>
              </a:rPr>
              <a:t>retrasos y pausas</a:t>
            </a:r>
            <a:r>
              <a:rPr b="1" i="0" lang="en-US" sz="1700" u="none" cap="none" strike="noStrike">
                <a:solidFill>
                  <a:srgbClr val="000033"/>
                </a:solidFill>
                <a:latin typeface="Montserrat ExtraBold"/>
                <a:ea typeface="Montserrat ExtraBold"/>
                <a:cs typeface="Montserrat ExtraBold"/>
                <a:sym typeface="Montserrat ExtraBold"/>
              </a:rPr>
              <a:t> </a:t>
            </a:r>
            <a:endParaRPr b="0" i="0" sz="1700" u="none" cap="none" strike="noStrike">
              <a:solidFill>
                <a:schemeClr val="dk1"/>
              </a:solidFill>
              <a:latin typeface="Calibri"/>
              <a:ea typeface="Calibri"/>
              <a:cs typeface="Calibri"/>
              <a:sym typeface="Calibri"/>
            </a:endParaRPr>
          </a:p>
        </p:txBody>
      </p:sp>
      <p:sp>
        <p:nvSpPr>
          <p:cNvPr id="232" name="Google Shape;232;g3fb8e08d9db_0_167"/>
          <p:cNvSpPr/>
          <p:nvPr/>
        </p:nvSpPr>
        <p:spPr>
          <a:xfrm>
            <a:off x="685800" y="1314450"/>
            <a:ext cx="36861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000033"/>
              </a:buClr>
              <a:buSzPts val="1200"/>
              <a:buFont typeface="Montserrat"/>
              <a:buNone/>
            </a:pPr>
            <a:r>
              <a:rPr b="1" i="0" lang="en-US" sz="1200" u="none" cap="none" strike="noStrike">
                <a:solidFill>
                  <a:srgbClr val="000033"/>
                </a:solidFill>
                <a:latin typeface="Montserrat"/>
                <a:ea typeface="Montserrat"/>
                <a:cs typeface="Montserrat"/>
                <a:sym typeface="Montserrat"/>
              </a:rPr>
              <a:t>Retrasos y periodos de Stand By </a:t>
            </a:r>
            <a:endParaRPr b="0" i="0" sz="1200" u="none" cap="none" strike="noStrike">
              <a:solidFill>
                <a:schemeClr val="dk1"/>
              </a:solidFill>
              <a:latin typeface="Calibri"/>
              <a:ea typeface="Calibri"/>
              <a:cs typeface="Calibri"/>
              <a:sym typeface="Calibri"/>
            </a:endParaRPr>
          </a:p>
        </p:txBody>
      </p:sp>
      <p:sp>
        <p:nvSpPr>
          <p:cNvPr id="233" name="Google Shape;233;g3fb8e08d9db_0_167"/>
          <p:cNvSpPr/>
          <p:nvPr/>
        </p:nvSpPr>
        <p:spPr>
          <a:xfrm>
            <a:off x="685800" y="1557350"/>
            <a:ext cx="37788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Retrasos de cliente:</a:t>
            </a:r>
            <a:r>
              <a:rPr b="0" i="0" lang="en-US" sz="1000" u="none" cap="none" strike="noStrike">
                <a:solidFill>
                  <a:srgbClr val="000033"/>
                </a:solidFill>
                <a:latin typeface="Montserrat"/>
                <a:ea typeface="Montserrat"/>
                <a:cs typeface="Montserrat"/>
                <a:sym typeface="Montserrat"/>
              </a:rPr>
              <a:t> Si el proyecto tiene facturación por hitos o entregables y el retraso del cliente supera los </a:t>
            </a:r>
            <a:r>
              <a:rPr b="1" i="0" lang="en-US" sz="1000" u="none" cap="none" strike="noStrike">
                <a:solidFill>
                  <a:srgbClr val="2B5BFC"/>
                </a:solidFill>
                <a:latin typeface="Montserrat"/>
                <a:ea typeface="Montserrat"/>
                <a:cs typeface="Montserrat"/>
                <a:sym typeface="Montserrat"/>
              </a:rPr>
              <a:t>15 días</a:t>
            </a:r>
            <a:r>
              <a:rPr b="0" i="0" lang="en-US" sz="1000" u="none" cap="none" strike="noStrike">
                <a:solidFill>
                  <a:srgbClr val="000033"/>
                </a:solidFill>
                <a:latin typeface="Montserrat"/>
                <a:ea typeface="Montserrat"/>
                <a:cs typeface="Montserrat"/>
                <a:sym typeface="Montserrat"/>
              </a:rPr>
              <a:t>, este no afectará la facturación programada.</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234" name="Google Shape;234;g3fb8e08d9db_0_167"/>
          <p:cNvSpPr/>
          <p:nvPr/>
        </p:nvSpPr>
        <p:spPr>
          <a:xfrm>
            <a:off x="685800" y="2171700"/>
            <a:ext cx="3686100" cy="743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Ingreso a Stand By:</a:t>
            </a:r>
            <a:r>
              <a:rPr b="0" i="0" lang="en-US" sz="1000" u="none" cap="none" strike="noStrike">
                <a:solidFill>
                  <a:srgbClr val="000033"/>
                </a:solidFill>
                <a:latin typeface="Montserrat"/>
                <a:ea typeface="Montserrat"/>
                <a:cs typeface="Montserrat"/>
                <a:sym typeface="Montserrat"/>
              </a:rPr>
              <a:t>  Si el proyecto presenta un retraso del lado del cliente mayor a </a:t>
            </a:r>
            <a:r>
              <a:rPr b="1" i="0" lang="en-US" sz="1000" u="none" cap="none" strike="noStrike">
                <a:solidFill>
                  <a:srgbClr val="2B5BFC"/>
                </a:solidFill>
                <a:latin typeface="Montserrat"/>
                <a:ea typeface="Montserrat"/>
                <a:cs typeface="Montserrat"/>
                <a:sym typeface="Montserrat"/>
              </a:rPr>
              <a:t>30 días</a:t>
            </a:r>
            <a:r>
              <a:rPr b="0" i="0" lang="en-US" sz="1000" u="none" cap="none" strike="noStrike">
                <a:solidFill>
                  <a:srgbClr val="000033"/>
                </a:solidFill>
                <a:latin typeface="Montserrat"/>
                <a:ea typeface="Montserrat"/>
                <a:cs typeface="Montserrat"/>
                <a:sym typeface="Montserrat"/>
              </a:rPr>
              <a:t>, ingresará automáticamente en stand by, periodo durante el cual no se realizarán avances en su ejecución.</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235" name="Google Shape;235;g3fb8e08d9db_0_167"/>
          <p:cNvSpPr/>
          <p:nvPr/>
        </p:nvSpPr>
        <p:spPr>
          <a:xfrm>
            <a:off x="685800" y="2971800"/>
            <a:ext cx="36861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Periodo Mínimo:</a:t>
            </a:r>
            <a:r>
              <a:rPr b="0" i="0" lang="en-US" sz="1000" u="none" cap="none" strike="noStrike">
                <a:solidFill>
                  <a:srgbClr val="000033"/>
                </a:solidFill>
                <a:latin typeface="Montserrat"/>
                <a:ea typeface="Montserrat"/>
                <a:cs typeface="Montserrat"/>
                <a:sym typeface="Montserrat"/>
              </a:rPr>
              <a:t> Una vez iniciado el proyecto, se establece un periodo mínimo de </a:t>
            </a:r>
            <a:r>
              <a:rPr b="1" i="0" lang="en-US" sz="1000" u="none" cap="none" strike="noStrike">
                <a:solidFill>
                  <a:srgbClr val="2B5BFC"/>
                </a:solidFill>
                <a:latin typeface="Montserrat"/>
                <a:ea typeface="Montserrat"/>
                <a:cs typeface="Montserrat"/>
                <a:sym typeface="Montserrat"/>
              </a:rPr>
              <a:t>20 días</a:t>
            </a:r>
            <a:r>
              <a:rPr b="0" i="0" lang="en-US" sz="1000" u="none" cap="none" strike="noStrike">
                <a:solidFill>
                  <a:srgbClr val="000033"/>
                </a:solidFill>
                <a:latin typeface="Montserrat"/>
                <a:ea typeface="Montserrat"/>
                <a:cs typeface="Montserrat"/>
                <a:sym typeface="Montserrat"/>
              </a:rPr>
              <a:t> de stand by, durante el cual no se realizarán avances significativos.</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236" name="Google Shape;236;g3fb8e08d9db_0_167"/>
          <p:cNvSpPr/>
          <p:nvPr/>
        </p:nvSpPr>
        <p:spPr>
          <a:xfrm>
            <a:off x="685800" y="3586163"/>
            <a:ext cx="36861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Periodo Máximo:</a:t>
            </a:r>
            <a:r>
              <a:rPr b="0" i="0" lang="en-US" sz="1000" u="none" cap="none" strike="noStrike">
                <a:solidFill>
                  <a:srgbClr val="000033"/>
                </a:solidFill>
                <a:latin typeface="Montserrat"/>
                <a:ea typeface="Montserrat"/>
                <a:cs typeface="Montserrat"/>
                <a:sym typeface="Montserrat"/>
              </a:rPr>
              <a:t>  El periodo máximo será acordado entre ambas partes al firmar el contrato y especificado en días o semanas, con un límite de</a:t>
            </a:r>
            <a:r>
              <a:rPr b="1" i="0" lang="en-US" sz="1000" u="none" cap="none" strike="noStrike">
                <a:solidFill>
                  <a:srgbClr val="2B5BFC"/>
                </a:solidFill>
                <a:latin typeface="Montserrat"/>
                <a:ea typeface="Montserrat"/>
                <a:cs typeface="Montserrat"/>
                <a:sym typeface="Montserrat"/>
              </a:rPr>
              <a:t> 3 meses</a:t>
            </a:r>
            <a:r>
              <a:rPr b="0" i="0" lang="en-US" sz="1000" u="none" cap="none" strike="noStrike">
                <a:solidFill>
                  <a:srgbClr val="000033"/>
                </a:solidFill>
                <a:latin typeface="Montserrat"/>
                <a:ea typeface="Montserrat"/>
                <a:cs typeface="Montserrat"/>
                <a:sym typeface="Montserrat"/>
              </a:rPr>
              <a:t>.</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237" name="Google Shape;237;g3fb8e08d9db_0_167"/>
          <p:cNvSpPr/>
          <p:nvPr/>
        </p:nvSpPr>
        <p:spPr>
          <a:xfrm>
            <a:off x="4800600" y="1314450"/>
            <a:ext cx="36861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a:buNone/>
            </a:pPr>
            <a:r>
              <a:rPr b="1" i="0" lang="en-US" sz="1200" u="none" cap="none" strike="noStrike">
                <a:solidFill>
                  <a:srgbClr val="2B5BFC"/>
                </a:solidFill>
                <a:latin typeface="Montserrat"/>
                <a:ea typeface="Montserrat"/>
                <a:cs typeface="Montserrat"/>
                <a:sym typeface="Montserrat"/>
              </a:rPr>
              <a:t>Gestión Financiera &amp; Retorno </a:t>
            </a:r>
            <a:endParaRPr b="0" i="0" sz="1200" u="none" cap="none" strike="noStrike">
              <a:solidFill>
                <a:schemeClr val="dk1"/>
              </a:solidFill>
              <a:latin typeface="Calibri"/>
              <a:ea typeface="Calibri"/>
              <a:cs typeface="Calibri"/>
              <a:sym typeface="Calibri"/>
            </a:endParaRPr>
          </a:p>
        </p:txBody>
      </p:sp>
      <p:sp>
        <p:nvSpPr>
          <p:cNvPr id="238" name="Google Shape;238;g3fb8e08d9db_0_167"/>
          <p:cNvSpPr/>
          <p:nvPr/>
        </p:nvSpPr>
        <p:spPr>
          <a:xfrm>
            <a:off x="4800600" y="1557350"/>
            <a:ext cx="37305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Facturación:</a:t>
            </a:r>
            <a:r>
              <a:rPr b="0" i="0" lang="en-US" sz="1050" u="none" cap="none" strike="noStrike">
                <a:solidFill>
                  <a:srgbClr val="000033"/>
                </a:solidFill>
                <a:latin typeface="Montserrat"/>
                <a:ea typeface="Montserrat"/>
                <a:cs typeface="Montserrat"/>
                <a:sym typeface="Montserrat"/>
              </a:rPr>
              <a:t> Los pagos pendientes deberán realizarse antes del stand by o según el cronograma de facturación mensual.</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
        <p:nvSpPr>
          <p:cNvPr id="239" name="Google Shape;239;g3fb8e08d9db_0_167"/>
          <p:cNvSpPr/>
          <p:nvPr/>
        </p:nvSpPr>
        <p:spPr>
          <a:xfrm>
            <a:off x="4800600" y="2171712"/>
            <a:ext cx="37788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Revisión y renegociación:</a:t>
            </a:r>
            <a:r>
              <a:rPr b="0" i="0" lang="en-US" sz="1050" u="none" cap="none" strike="noStrike">
                <a:solidFill>
                  <a:srgbClr val="000033"/>
                </a:solidFill>
                <a:latin typeface="Montserrat"/>
                <a:ea typeface="Montserrat"/>
                <a:cs typeface="Montserrat"/>
                <a:sym typeface="Montserrat"/>
              </a:rPr>
              <a:t> Si el proyecto no se reanuda tras el periodo máximo de stand by, ambas partes revisarán y renegociarán los términos del contrato.</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
        <p:nvSpPr>
          <p:cNvPr id="240" name="Google Shape;240;g3fb8e08d9db_0_167"/>
          <p:cNvSpPr/>
          <p:nvPr/>
        </p:nvSpPr>
        <p:spPr>
          <a:xfrm>
            <a:off x="4800600" y="2786074"/>
            <a:ext cx="3730500" cy="743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Notificación y comunicación:</a:t>
            </a:r>
            <a:r>
              <a:rPr b="0" i="0" lang="en-US" sz="1050" u="none" cap="none" strike="noStrike">
                <a:solidFill>
                  <a:srgbClr val="000033"/>
                </a:solidFill>
                <a:latin typeface="Montserrat"/>
                <a:ea typeface="Montserrat"/>
                <a:cs typeface="Montserrat"/>
                <a:sym typeface="Montserrat"/>
              </a:rPr>
              <a:t> El stand by deberá notificarse por escrito con </a:t>
            </a:r>
            <a:r>
              <a:rPr b="1" i="0" lang="en-US" sz="1050" u="none" cap="none" strike="noStrike">
                <a:solidFill>
                  <a:srgbClr val="2B5BFC"/>
                </a:solidFill>
                <a:latin typeface="Montserrat"/>
                <a:ea typeface="Montserrat"/>
                <a:cs typeface="Montserrat"/>
                <a:sym typeface="Montserrat"/>
              </a:rPr>
              <a:t>15 días</a:t>
            </a:r>
            <a:r>
              <a:rPr b="0" i="0" lang="en-US" sz="1050" u="none" cap="none" strike="noStrike">
                <a:solidFill>
                  <a:srgbClr val="000033"/>
                </a:solidFill>
                <a:latin typeface="Montserrat"/>
                <a:ea typeface="Montserrat"/>
                <a:cs typeface="Montserrat"/>
                <a:sym typeface="Montserrat"/>
              </a:rPr>
              <a:t> de anticipación y mantenerse una comunicación regular durante el </a:t>
            </a:r>
            <a:r>
              <a:rPr b="0" i="0" lang="en-US" sz="1050" u="none" cap="none" strike="noStrike">
                <a:solidFill>
                  <a:srgbClr val="000000"/>
                </a:solidFill>
                <a:latin typeface="Montserrat"/>
                <a:ea typeface="Montserrat"/>
                <a:cs typeface="Montserrat"/>
                <a:sym typeface="Montserrat"/>
              </a:rPr>
              <a:t>dicho</a:t>
            </a:r>
            <a:r>
              <a:rPr b="0" i="0" lang="en-US" sz="1050" u="none" cap="none" strike="noStrike">
                <a:solidFill>
                  <a:srgbClr val="000033"/>
                </a:solidFill>
                <a:latin typeface="Montserrat"/>
                <a:ea typeface="Montserrat"/>
                <a:cs typeface="Montserrat"/>
                <a:sym typeface="Montserrat"/>
              </a:rPr>
              <a:t> periodo.</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
        <p:nvSpPr>
          <p:cNvPr id="241" name="Google Shape;241;g3fb8e08d9db_0_167"/>
          <p:cNvSpPr/>
          <p:nvPr/>
        </p:nvSpPr>
        <p:spPr>
          <a:xfrm>
            <a:off x="4800600" y="3586173"/>
            <a:ext cx="37305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Reanudación:</a:t>
            </a:r>
            <a:r>
              <a:rPr b="0" i="0" lang="en-US" sz="1050" u="none" cap="none" strike="noStrike">
                <a:solidFill>
                  <a:srgbClr val="000033"/>
                </a:solidFill>
                <a:latin typeface="Montserrat"/>
                <a:ea typeface="Montserrat"/>
                <a:cs typeface="Montserrat"/>
                <a:sym typeface="Montserrat"/>
              </a:rPr>
              <a:t> El cliente deberá solicitar la reanudación por correo. El proyecto se reanudará en un máximo de </a:t>
            </a:r>
            <a:r>
              <a:rPr b="1" i="0" lang="en-US" sz="1050" u="none" cap="none" strike="noStrike">
                <a:solidFill>
                  <a:srgbClr val="2B5BFC"/>
                </a:solidFill>
                <a:latin typeface="Montserrat"/>
                <a:ea typeface="Montserrat"/>
                <a:cs typeface="Montserrat"/>
                <a:sym typeface="Montserrat"/>
              </a:rPr>
              <a:t>15 días</a:t>
            </a:r>
            <a:r>
              <a:rPr b="0" i="0" lang="en-US" sz="1050" u="none" cap="none" strike="noStrike">
                <a:solidFill>
                  <a:srgbClr val="000033"/>
                </a:solidFill>
                <a:latin typeface="Montserrat"/>
                <a:ea typeface="Montserrat"/>
                <a:cs typeface="Montserrat"/>
                <a:sym typeface="Montserrat"/>
              </a:rPr>
              <a:t> hábiles.</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246" name="Shape 246"/>
        <p:cNvGrpSpPr/>
        <p:nvPr/>
      </p:nvGrpSpPr>
      <p:grpSpPr>
        <a:xfrm>
          <a:off x="0" y="0"/>
          <a:ext cx="0" cy="0"/>
          <a:chOff x="0" y="0"/>
          <a:chExt cx="0" cy="0"/>
        </a:xfrm>
      </p:grpSpPr>
      <p:sp>
        <p:nvSpPr>
          <p:cNvPr id="247" name="Google Shape;247;g3fb8e08d9db_0_184"/>
          <p:cNvSpPr txBox="1"/>
          <p:nvPr/>
        </p:nvSpPr>
        <p:spPr>
          <a:xfrm>
            <a:off x="571500" y="943275"/>
            <a:ext cx="8001000" cy="35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33"/>
              </a:buClr>
              <a:buSzPts val="2100"/>
              <a:buFont typeface="Montserrat ExtraBold"/>
              <a:buNone/>
            </a:pPr>
            <a:r>
              <a:rPr b="1" i="0" lang="en-US" sz="1700" u="none" cap="none" strike="noStrike">
                <a:solidFill>
                  <a:srgbClr val="000033"/>
                </a:solidFill>
                <a:latin typeface="Montserrat ExtraBold"/>
                <a:ea typeface="Montserrat ExtraBold"/>
                <a:cs typeface="Montserrat ExtraBold"/>
                <a:sym typeface="Montserrat ExtraBold"/>
              </a:rPr>
              <a:t>Cláusulas</a:t>
            </a:r>
            <a:r>
              <a:rPr b="1" i="1" lang="en-US" sz="1700" u="none" cap="none" strike="noStrike">
                <a:solidFill>
                  <a:srgbClr val="2B5BFC"/>
                </a:solidFill>
                <a:latin typeface="Montserrat Black"/>
                <a:ea typeface="Montserrat Black"/>
                <a:cs typeface="Montserrat Black"/>
                <a:sym typeface="Montserrat Black"/>
              </a:rPr>
              <a:t> del servicio</a:t>
            </a:r>
            <a:endParaRPr b="0" i="0" sz="1700" u="none" cap="none" strike="noStrike">
              <a:solidFill>
                <a:schemeClr val="dk1"/>
              </a:solidFill>
              <a:latin typeface="Calibri"/>
              <a:ea typeface="Calibri"/>
              <a:cs typeface="Calibri"/>
              <a:sym typeface="Calibri"/>
            </a:endParaRPr>
          </a:p>
        </p:txBody>
      </p:sp>
      <p:sp>
        <p:nvSpPr>
          <p:cNvPr id="248" name="Google Shape;248;g3fb8e08d9db_0_184"/>
          <p:cNvSpPr/>
          <p:nvPr/>
        </p:nvSpPr>
        <p:spPr>
          <a:xfrm>
            <a:off x="571463" y="1422988"/>
            <a:ext cx="3900000" cy="2977200"/>
          </a:xfrm>
          <a:prstGeom prst="roundRect">
            <a:avLst>
              <a:gd fmla="val 2454"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g3fb8e08d9db_0_184"/>
          <p:cNvSpPr txBox="1"/>
          <p:nvPr/>
        </p:nvSpPr>
        <p:spPr>
          <a:xfrm>
            <a:off x="708622" y="1569577"/>
            <a:ext cx="3625500" cy="2892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5BFC"/>
              </a:buClr>
              <a:buSzPts val="700"/>
              <a:buFont typeface="Montserrat SemiBold"/>
              <a:buNone/>
            </a:pPr>
            <a:r>
              <a:rPr b="1" i="0" lang="en-US" sz="700" u="none" cap="none" strike="noStrike">
                <a:solidFill>
                  <a:srgbClr val="2B5BFC"/>
                </a:solidFill>
                <a:latin typeface="Montserrat SemiBold"/>
                <a:ea typeface="Montserrat SemiBold"/>
                <a:cs typeface="Montserrat SemiBold"/>
                <a:sym typeface="Montserrat SemiBold"/>
              </a:rPr>
              <a:t>RELACIÓN CONTRACTUAL</a:t>
            </a:r>
            <a:endParaRPr b="0" i="0" sz="700" u="none" cap="none" strike="noStrike">
              <a:solidFill>
                <a:schemeClr val="dk1"/>
              </a:solidFill>
              <a:latin typeface="Calibri"/>
              <a:ea typeface="Calibri"/>
              <a:cs typeface="Calibri"/>
              <a:sym typeface="Calibri"/>
            </a:endParaRPr>
          </a:p>
          <a:p>
            <a:pPr indent="-127000" lvl="0" marL="127000" marR="0" rtl="0" algn="just">
              <a:lnSpc>
                <a:spcPct val="104000"/>
              </a:lnSpc>
              <a:spcBef>
                <a:spcPts val="200"/>
              </a:spcBef>
              <a:spcAft>
                <a:spcPts val="0"/>
              </a:spcAft>
              <a:buClr>
                <a:srgbClr val="2B5BFC"/>
              </a:buClr>
              <a:buSzPts val="620"/>
              <a:buFont typeface="Montserrat"/>
              <a:buChar char="●"/>
            </a:pPr>
            <a:r>
              <a:rPr b="0" i="0" lang="en-US" sz="620" u="none" cap="none" strike="noStrike">
                <a:solidFill>
                  <a:srgbClr val="000033"/>
                </a:solidFill>
                <a:latin typeface="Montserrat"/>
                <a:ea typeface="Montserrat"/>
                <a:cs typeface="Montserrat"/>
                <a:sym typeface="Montserrat"/>
              </a:rPr>
              <a:t>La aceptación de esta propuesta no origina en modo alguno relación laboral entre el cliente y los consultores. La relación contractual será directamente con NEO (cobertura de costos planilla y beneficios de ley como EPS, AFP, CTS, gratificaciones y vacaciones). Asimismo, cualquier falta justificable (descanso médico) menor o igual a 15 días no generará reemplazo ni reprogramación de vigencia de contrato.</a:t>
            </a:r>
            <a:endParaRPr b="0" i="0" sz="700" u="none" cap="none" strike="noStrike">
              <a:solidFill>
                <a:schemeClr val="dk1"/>
              </a:solidFill>
              <a:latin typeface="Calibri"/>
              <a:ea typeface="Calibri"/>
              <a:cs typeface="Calibri"/>
              <a:sym typeface="Calibri"/>
            </a:endParaRPr>
          </a:p>
          <a:p>
            <a:pPr indent="0" lvl="0" marL="0" marR="0" rtl="0" algn="l">
              <a:spcBef>
                <a:spcPts val="850"/>
              </a:spcBef>
              <a:spcAft>
                <a:spcPts val="0"/>
              </a:spcAft>
              <a:buClr>
                <a:srgbClr val="2B5BFC"/>
              </a:buClr>
              <a:buSzPts val="700"/>
              <a:buFont typeface="Montserrat SemiBold"/>
              <a:buNone/>
            </a:pPr>
            <a:r>
              <a:rPr b="1" i="0" lang="en-US" sz="700" u="none" cap="none" strike="noStrike">
                <a:solidFill>
                  <a:srgbClr val="2B5BFC"/>
                </a:solidFill>
                <a:latin typeface="Montserrat SemiBold"/>
                <a:ea typeface="Montserrat SemiBold"/>
                <a:cs typeface="Montserrat SemiBold"/>
                <a:sym typeface="Montserrat SemiBold"/>
              </a:rPr>
              <a:t>MODALIDAD Y HERRAMIENTAS</a:t>
            </a:r>
            <a:endParaRPr b="0" i="0" sz="700" u="none" cap="none" strike="noStrike">
              <a:solidFill>
                <a:schemeClr val="dk1"/>
              </a:solidFill>
              <a:latin typeface="Calibri"/>
              <a:ea typeface="Calibri"/>
              <a:cs typeface="Calibri"/>
              <a:sym typeface="Calibri"/>
            </a:endParaRPr>
          </a:p>
          <a:p>
            <a:pPr indent="-127000" lvl="0" marL="127000" marR="0" rtl="0" algn="just">
              <a:lnSpc>
                <a:spcPct val="104000"/>
              </a:lnSpc>
              <a:spcBef>
                <a:spcPts val="200"/>
              </a:spcBef>
              <a:spcAft>
                <a:spcPts val="0"/>
              </a:spcAft>
              <a:buClr>
                <a:srgbClr val="2B5BFC"/>
              </a:buClr>
              <a:buSzPts val="620"/>
              <a:buFont typeface="Montserrat"/>
              <a:buChar char="●"/>
            </a:pPr>
            <a:r>
              <a:rPr b="0" i="0" lang="en-US" sz="620" u="none" cap="none" strike="noStrike">
                <a:solidFill>
                  <a:srgbClr val="000033"/>
                </a:solidFill>
                <a:latin typeface="Montserrat"/>
                <a:ea typeface="Montserrat"/>
                <a:cs typeface="Montserrat"/>
                <a:sym typeface="Montserrat"/>
              </a:rPr>
              <a:t>Las actividades de los consultores se realizan a distancia. Asimismo, ellos trabajarán en un esquema de 40 horas semanales.</a:t>
            </a:r>
            <a:endParaRPr b="0" i="0" sz="700" u="none" cap="none" strike="noStrike">
              <a:solidFill>
                <a:schemeClr val="dk1"/>
              </a:solidFill>
              <a:latin typeface="Calibri"/>
              <a:ea typeface="Calibri"/>
              <a:cs typeface="Calibri"/>
              <a:sym typeface="Calibri"/>
            </a:endParaRPr>
          </a:p>
          <a:p>
            <a:pPr indent="-127000" lvl="0" marL="127000" marR="0" rtl="0" algn="just">
              <a:lnSpc>
                <a:spcPct val="104000"/>
              </a:lnSpc>
              <a:spcBef>
                <a:spcPts val="250"/>
              </a:spcBef>
              <a:spcAft>
                <a:spcPts val="0"/>
              </a:spcAft>
              <a:buClr>
                <a:srgbClr val="2B5BFC"/>
              </a:buClr>
              <a:buSzPts val="620"/>
              <a:buFont typeface="Montserrat"/>
              <a:buChar char="●"/>
            </a:pPr>
            <a:r>
              <a:rPr b="0" i="0" lang="en-US" sz="620" u="none" cap="none" strike="noStrike">
                <a:solidFill>
                  <a:srgbClr val="000033"/>
                </a:solidFill>
                <a:latin typeface="Montserrat"/>
                <a:ea typeface="Montserrat"/>
                <a:cs typeface="Montserrat"/>
                <a:sym typeface="Montserrat"/>
              </a:rPr>
              <a:t>Neo Consulting asumirá todos los costos relacionados con las herramientas de trabajo necesarias, incluyendo: Laptop, licencias especiales de software y herramientas específicas, o cualquier otro recurso esencial para la correcta ejecución del servicio. En caso de requerir herramientas adicionales por parte del cliente, esto deberá ser acordado previamente.</a:t>
            </a:r>
            <a:endParaRPr b="0" i="0" sz="700" u="none" cap="none" strike="noStrike">
              <a:solidFill>
                <a:schemeClr val="dk1"/>
              </a:solidFill>
              <a:latin typeface="Calibri"/>
              <a:ea typeface="Calibri"/>
              <a:cs typeface="Calibri"/>
              <a:sym typeface="Calibri"/>
            </a:endParaRPr>
          </a:p>
          <a:p>
            <a:pPr indent="0" lvl="0" marL="0" marR="0" rtl="0" algn="l">
              <a:spcBef>
                <a:spcPts val="850"/>
              </a:spcBef>
              <a:spcAft>
                <a:spcPts val="0"/>
              </a:spcAft>
              <a:buClr>
                <a:srgbClr val="2B5BFC"/>
              </a:buClr>
              <a:buSzPts val="700"/>
              <a:buFont typeface="Montserrat SemiBold"/>
              <a:buNone/>
            </a:pPr>
            <a:r>
              <a:rPr b="1" i="0" lang="en-US" sz="700" u="none" cap="none" strike="noStrike">
                <a:solidFill>
                  <a:srgbClr val="2B5BFC"/>
                </a:solidFill>
                <a:latin typeface="Montserrat SemiBold"/>
                <a:ea typeface="Montserrat SemiBold"/>
                <a:cs typeface="Montserrat SemiBold"/>
                <a:sym typeface="Montserrat SemiBold"/>
              </a:rPr>
              <a:t>CONTINUIDAD DEL EQUIPO</a:t>
            </a:r>
            <a:endParaRPr b="0" i="0" sz="700" u="none" cap="none" strike="noStrike">
              <a:solidFill>
                <a:schemeClr val="dk1"/>
              </a:solidFill>
              <a:latin typeface="Calibri"/>
              <a:ea typeface="Calibri"/>
              <a:cs typeface="Calibri"/>
              <a:sym typeface="Calibri"/>
            </a:endParaRPr>
          </a:p>
          <a:p>
            <a:pPr indent="-127000" lvl="0" marL="127000" marR="0" rtl="0" algn="just">
              <a:lnSpc>
                <a:spcPct val="104000"/>
              </a:lnSpc>
              <a:spcBef>
                <a:spcPts val="200"/>
              </a:spcBef>
              <a:spcAft>
                <a:spcPts val="0"/>
              </a:spcAft>
              <a:buClr>
                <a:srgbClr val="2B5BFC"/>
              </a:buClr>
              <a:buSzPts val="620"/>
              <a:buFont typeface="Montserrat"/>
              <a:buChar char="●"/>
            </a:pPr>
            <a:r>
              <a:rPr b="0" i="0" lang="en-US" sz="620" u="none" cap="none" strike="noStrike">
                <a:solidFill>
                  <a:srgbClr val="000033"/>
                </a:solidFill>
                <a:latin typeface="Montserrat"/>
                <a:ea typeface="Montserrat"/>
                <a:cs typeface="Montserrat"/>
                <a:sym typeface="Montserrat"/>
              </a:rPr>
              <a:t>Si por algún motivo en el periodo del proyecto, uno o más consultores no pudieran continuar en el proyecto; NEO se encargará de reemplazarlo con otro perfil de similares características en un periodo máximo de 35 días. El periodo ausente será completado al final del proyecto para no afectar el alcance del mismo ni el cronograma de facturación.</a:t>
            </a:r>
            <a:endParaRPr b="0" i="0" sz="700" u="none" cap="none" strike="noStrike">
              <a:solidFill>
                <a:schemeClr val="dk1"/>
              </a:solidFill>
              <a:latin typeface="Calibri"/>
              <a:ea typeface="Calibri"/>
              <a:cs typeface="Calibri"/>
              <a:sym typeface="Calibri"/>
            </a:endParaRPr>
          </a:p>
          <a:p>
            <a:pPr indent="-127000" lvl="0" marL="127000" marR="0" rtl="0" algn="just">
              <a:lnSpc>
                <a:spcPct val="104000"/>
              </a:lnSpc>
              <a:spcBef>
                <a:spcPts val="250"/>
              </a:spcBef>
              <a:spcAft>
                <a:spcPts val="0"/>
              </a:spcAft>
              <a:buClr>
                <a:srgbClr val="2B5BFC"/>
              </a:buClr>
              <a:buSzPts val="620"/>
              <a:buFont typeface="Montserrat"/>
              <a:buChar char="●"/>
            </a:pPr>
            <a:r>
              <a:rPr b="0" i="0" lang="en-US" sz="620" u="none" cap="none" strike="noStrike">
                <a:solidFill>
                  <a:srgbClr val="000033"/>
                </a:solidFill>
                <a:latin typeface="Montserrat"/>
                <a:ea typeface="Montserrat"/>
                <a:cs typeface="Montserrat"/>
                <a:sym typeface="Montserrat"/>
              </a:rPr>
              <a:t>Los talentos asignados tendrán derecho a 30 días de descanso vacacional anual, de acuerdo con la legislación vigente. Las vacaciones serán coordinadas con el líder responsable del proyecto por parte del cliente y no generarán reprogramación ni reemplazo dentro del contrato.</a:t>
            </a:r>
            <a:endParaRPr b="0" i="0" sz="700" u="none" cap="none" strike="noStrike">
              <a:solidFill>
                <a:schemeClr val="dk1"/>
              </a:solidFill>
              <a:latin typeface="Calibri"/>
              <a:ea typeface="Calibri"/>
              <a:cs typeface="Calibri"/>
              <a:sym typeface="Calibri"/>
            </a:endParaRPr>
          </a:p>
        </p:txBody>
      </p:sp>
      <p:sp>
        <p:nvSpPr>
          <p:cNvPr id="250" name="Google Shape;250;g3fb8e08d9db_0_184"/>
          <p:cNvSpPr/>
          <p:nvPr/>
        </p:nvSpPr>
        <p:spPr>
          <a:xfrm>
            <a:off x="4672540" y="1422988"/>
            <a:ext cx="3900000" cy="2977200"/>
          </a:xfrm>
          <a:prstGeom prst="roundRect">
            <a:avLst>
              <a:gd fmla="val 2454"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fb8e08d9db_0_184"/>
          <p:cNvSpPr txBox="1"/>
          <p:nvPr/>
        </p:nvSpPr>
        <p:spPr>
          <a:xfrm>
            <a:off x="4809702" y="1569577"/>
            <a:ext cx="3625500" cy="2892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5BFC"/>
              </a:buClr>
              <a:buSzPts val="700"/>
              <a:buFont typeface="Montserrat SemiBold"/>
              <a:buNone/>
            </a:pPr>
            <a:r>
              <a:rPr b="1" i="0" lang="en-US" sz="700" u="none" cap="none" strike="noStrike">
                <a:solidFill>
                  <a:srgbClr val="2B5BFC"/>
                </a:solidFill>
                <a:latin typeface="Montserrat SemiBold"/>
                <a:ea typeface="Montserrat SemiBold"/>
                <a:cs typeface="Montserrat SemiBold"/>
                <a:sym typeface="Montserrat SemiBold"/>
              </a:rPr>
              <a:t>INICIO DEL SERVICIO</a:t>
            </a:r>
            <a:endParaRPr b="0" i="0" sz="700" u="none" cap="none" strike="noStrike">
              <a:solidFill>
                <a:schemeClr val="dk1"/>
              </a:solidFill>
              <a:latin typeface="Calibri"/>
              <a:ea typeface="Calibri"/>
              <a:cs typeface="Calibri"/>
              <a:sym typeface="Calibri"/>
            </a:endParaRPr>
          </a:p>
          <a:p>
            <a:pPr indent="-127000" lvl="0" marL="127000" marR="0" rtl="0" algn="just">
              <a:lnSpc>
                <a:spcPct val="104000"/>
              </a:lnSpc>
              <a:spcBef>
                <a:spcPts val="200"/>
              </a:spcBef>
              <a:spcAft>
                <a:spcPts val="0"/>
              </a:spcAft>
              <a:buClr>
                <a:srgbClr val="2B5BFC"/>
              </a:buClr>
              <a:buSzPts val="620"/>
              <a:buFont typeface="Montserrat"/>
              <a:buChar char="●"/>
            </a:pPr>
            <a:r>
              <a:rPr b="0" i="0" lang="en-US" sz="620" u="none" cap="none" strike="noStrike">
                <a:solidFill>
                  <a:srgbClr val="000033"/>
                </a:solidFill>
                <a:latin typeface="Montserrat"/>
                <a:ea typeface="Montserrat"/>
                <a:cs typeface="Montserrat"/>
                <a:sym typeface="Montserrat"/>
              </a:rPr>
              <a:t>Si por algún motivo en 35 días hábiles de aceptada la propuesta NEO no presentase una terna de consultores y el cliente quiera prescindir del servicio, éste no estará obligado a asumir el pago del servicio.</a:t>
            </a:r>
            <a:endParaRPr b="0" i="0" sz="700" u="none" cap="none" strike="noStrike">
              <a:solidFill>
                <a:schemeClr val="dk1"/>
              </a:solidFill>
              <a:latin typeface="Calibri"/>
              <a:ea typeface="Calibri"/>
              <a:cs typeface="Calibri"/>
              <a:sym typeface="Calibri"/>
            </a:endParaRPr>
          </a:p>
          <a:p>
            <a:pPr indent="0" lvl="0" marL="0" marR="0" rtl="0" algn="l">
              <a:spcBef>
                <a:spcPts val="850"/>
              </a:spcBef>
              <a:spcAft>
                <a:spcPts val="0"/>
              </a:spcAft>
              <a:buClr>
                <a:srgbClr val="2B5BFC"/>
              </a:buClr>
              <a:buSzPts val="700"/>
              <a:buFont typeface="Montserrat SemiBold"/>
              <a:buNone/>
            </a:pPr>
            <a:r>
              <a:rPr b="1" i="0" lang="en-US" sz="700" u="none" cap="none" strike="noStrike">
                <a:solidFill>
                  <a:srgbClr val="2B5BFC"/>
                </a:solidFill>
                <a:latin typeface="Montserrat SemiBold"/>
                <a:ea typeface="Montserrat SemiBold"/>
                <a:cs typeface="Montserrat SemiBold"/>
                <a:sym typeface="Montserrat SemiBold"/>
              </a:rPr>
              <a:t>VIGENCIA Y RENOVACIÓN</a:t>
            </a:r>
            <a:endParaRPr b="0" i="0" sz="700" u="none" cap="none" strike="noStrike">
              <a:solidFill>
                <a:schemeClr val="dk1"/>
              </a:solidFill>
              <a:latin typeface="Calibri"/>
              <a:ea typeface="Calibri"/>
              <a:cs typeface="Calibri"/>
              <a:sym typeface="Calibri"/>
            </a:endParaRPr>
          </a:p>
          <a:p>
            <a:pPr indent="-127000" lvl="0" marL="127000" marR="0" rtl="0" algn="just">
              <a:lnSpc>
                <a:spcPct val="104000"/>
              </a:lnSpc>
              <a:spcBef>
                <a:spcPts val="200"/>
              </a:spcBef>
              <a:spcAft>
                <a:spcPts val="0"/>
              </a:spcAft>
              <a:buClr>
                <a:srgbClr val="2B5BFC"/>
              </a:buClr>
              <a:buSzPts val="620"/>
              <a:buFont typeface="Montserrat"/>
              <a:buChar char="●"/>
            </a:pPr>
            <a:r>
              <a:rPr b="0" i="0" lang="en-US" sz="620" u="none" cap="none" strike="noStrike">
                <a:solidFill>
                  <a:srgbClr val="000033"/>
                </a:solidFill>
                <a:latin typeface="Montserrat"/>
                <a:ea typeface="Montserrat"/>
                <a:cs typeface="Montserrat"/>
                <a:sym typeface="Montserrat"/>
              </a:rPr>
              <a:t>Si alguna de las partes desea rescindir parcial o totalmente el contrato, deberá notificarlo con al menos 2 meses de anticipación. Si el cliente no confirma la renovación ni cancela el servicio 30 días antes del término del contrato, este se renovará de manera automática por el mismo tiempo y bajo las mismas condiciones.</a:t>
            </a:r>
            <a:endParaRPr b="0" i="0" sz="700" u="none" cap="none" strike="noStrike">
              <a:solidFill>
                <a:schemeClr val="dk1"/>
              </a:solidFill>
              <a:latin typeface="Calibri"/>
              <a:ea typeface="Calibri"/>
              <a:cs typeface="Calibri"/>
              <a:sym typeface="Calibri"/>
            </a:endParaRPr>
          </a:p>
          <a:p>
            <a:pPr indent="0" lvl="0" marL="0" marR="0" rtl="0" algn="l">
              <a:spcBef>
                <a:spcPts val="850"/>
              </a:spcBef>
              <a:spcAft>
                <a:spcPts val="0"/>
              </a:spcAft>
              <a:buClr>
                <a:srgbClr val="2B5BFC"/>
              </a:buClr>
              <a:buSzPts val="700"/>
              <a:buFont typeface="Montserrat SemiBold"/>
              <a:buNone/>
            </a:pPr>
            <a:r>
              <a:rPr b="1" i="0" lang="en-US" sz="700" u="none" cap="none" strike="noStrike">
                <a:solidFill>
                  <a:srgbClr val="2B5BFC"/>
                </a:solidFill>
                <a:latin typeface="Montserrat SemiBold"/>
                <a:ea typeface="Montserrat SemiBold"/>
                <a:cs typeface="Montserrat SemiBold"/>
                <a:sym typeface="Montserrat SemiBold"/>
              </a:rPr>
              <a:t>PENALIDADES</a:t>
            </a:r>
            <a:endParaRPr b="0" i="0" sz="700" u="none" cap="none" strike="noStrike">
              <a:solidFill>
                <a:schemeClr val="dk1"/>
              </a:solidFill>
              <a:latin typeface="Calibri"/>
              <a:ea typeface="Calibri"/>
              <a:cs typeface="Calibri"/>
              <a:sym typeface="Calibri"/>
            </a:endParaRPr>
          </a:p>
          <a:p>
            <a:pPr indent="-127000" lvl="0" marL="127000" marR="0" rtl="0" algn="just">
              <a:lnSpc>
                <a:spcPct val="104000"/>
              </a:lnSpc>
              <a:spcBef>
                <a:spcPts val="200"/>
              </a:spcBef>
              <a:spcAft>
                <a:spcPts val="0"/>
              </a:spcAft>
              <a:buClr>
                <a:srgbClr val="2B5BFC"/>
              </a:buClr>
              <a:buSzPts val="620"/>
              <a:buFont typeface="Montserrat"/>
              <a:buChar char="●"/>
            </a:pPr>
            <a:r>
              <a:rPr b="0" i="0" lang="en-US" sz="620" u="none" cap="none" strike="noStrike">
                <a:solidFill>
                  <a:srgbClr val="000033"/>
                </a:solidFill>
                <a:latin typeface="Montserrat"/>
                <a:ea typeface="Montserrat"/>
                <a:cs typeface="Montserrat"/>
                <a:sym typeface="Montserrat"/>
              </a:rPr>
              <a:t>Si el cliente decide cancelar un perfil Neo Talent luego de haber aceptado su incorporación y antes de que este haya iniciado sus funciones, deberá pagar una penalidad equivalente a dos meses de fee del servicio. Esta penalización tiene como objetivo compensar los daños y perjuicios ocasionados a la reputación de Neo Consulting, así como el impacto en la empleabilidad del talento asignado.</a:t>
            </a:r>
            <a:endParaRPr b="0" i="0" sz="700" u="none" cap="none" strike="noStrike">
              <a:solidFill>
                <a:schemeClr val="dk1"/>
              </a:solidFill>
              <a:latin typeface="Calibri"/>
              <a:ea typeface="Calibri"/>
              <a:cs typeface="Calibri"/>
              <a:sym typeface="Calibri"/>
            </a:endParaRPr>
          </a:p>
          <a:p>
            <a:pPr indent="-127000" lvl="0" marL="127000" marR="0" rtl="0" algn="just">
              <a:lnSpc>
                <a:spcPct val="104000"/>
              </a:lnSpc>
              <a:spcBef>
                <a:spcPts val="250"/>
              </a:spcBef>
              <a:spcAft>
                <a:spcPts val="0"/>
              </a:spcAft>
              <a:buClr>
                <a:srgbClr val="2B5BFC"/>
              </a:buClr>
              <a:buSzPts val="620"/>
              <a:buFont typeface="Montserrat"/>
              <a:buChar char="●"/>
            </a:pPr>
            <a:r>
              <a:rPr b="0" i="0" lang="en-US" sz="620" u="none" cap="none" strike="noStrike">
                <a:solidFill>
                  <a:srgbClr val="000033"/>
                </a:solidFill>
                <a:latin typeface="Montserrat"/>
                <a:ea typeface="Montserrat"/>
                <a:cs typeface="Montserrat"/>
                <a:sym typeface="Montserrat"/>
              </a:rPr>
              <a:t>Si el contrato se cancela antes del tiempo acordado, se aplicará un costo proporcional que cubrirá los gastos de reclutamiento y herramientas asignadas al talento durante el periodo del contrato. Dicho cobro ascenderá a USD $2500 por perfil.</a:t>
            </a:r>
            <a:endParaRPr b="0" i="0" sz="700" u="none" cap="none" strike="noStrike">
              <a:solidFill>
                <a:schemeClr val="dk1"/>
              </a:solidFill>
              <a:latin typeface="Calibri"/>
              <a:ea typeface="Calibri"/>
              <a:cs typeface="Calibri"/>
              <a:sym typeface="Calibri"/>
            </a:endParaRPr>
          </a:p>
          <a:p>
            <a:pPr indent="-127000" lvl="0" marL="127000" marR="0" rtl="0" algn="just">
              <a:lnSpc>
                <a:spcPct val="104000"/>
              </a:lnSpc>
              <a:spcBef>
                <a:spcPts val="250"/>
              </a:spcBef>
              <a:spcAft>
                <a:spcPts val="0"/>
              </a:spcAft>
              <a:buClr>
                <a:srgbClr val="2B5BFC"/>
              </a:buClr>
              <a:buSzPts val="620"/>
              <a:buFont typeface="Montserrat"/>
              <a:buChar char="●"/>
            </a:pPr>
            <a:r>
              <a:rPr b="0" i="0" lang="en-US" sz="620" u="none" cap="none" strike="noStrike">
                <a:solidFill>
                  <a:srgbClr val="000033"/>
                </a:solidFill>
                <a:latin typeface="Montserrat"/>
                <a:ea typeface="Montserrat"/>
                <a:cs typeface="Montserrat"/>
                <a:sym typeface="Montserrat"/>
              </a:rPr>
              <a:t>Si el cliente desea que el talento asignado pase a formar parte de su organización, deberá esperar hasta la finalización del contrato actual para habilitar dicha opción. Penalidad por absorción del talento: Si el cliente decide contratar directamente al talento asignado antes de la finalización del contrato, se aplicará una penalidad equivalente a un mínimo de tres fees mensuales o los meses restantes del contrato, lo que resulte mayor.</a:t>
            </a:r>
            <a:endParaRPr b="0" i="0" sz="700" u="none" cap="none" strike="noStrike">
              <a:solidFill>
                <a:schemeClr val="dk1"/>
              </a:solidFill>
              <a:latin typeface="Calibri"/>
              <a:ea typeface="Calibri"/>
              <a:cs typeface="Calibri"/>
              <a:sym typeface="Calibri"/>
            </a:endParaRPr>
          </a:p>
        </p:txBody>
      </p:sp>
      <p:sp>
        <p:nvSpPr>
          <p:cNvPr id="252" name="Google Shape;252;g3fb8e08d9db_0_184"/>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g3fb8e08d9db_0_194"/>
          <p:cNvSpPr/>
          <p:nvPr/>
        </p:nvSpPr>
        <p:spPr>
          <a:xfrm>
            <a:off x="0" y="0"/>
            <a:ext cx="9144000" cy="5143500"/>
          </a:xfrm>
          <a:prstGeom prst="rect">
            <a:avLst/>
          </a:prstGeom>
          <a:solidFill>
            <a:srgbClr val="000033"/>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9" name="Google Shape;259;g3fb8e08d9db_0_194"/>
          <p:cNvPicPr preferRelativeResize="0"/>
          <p:nvPr/>
        </p:nvPicPr>
        <p:blipFill rotWithShape="1">
          <a:blip r:embed="rId3">
            <a:alphaModFix/>
          </a:blip>
          <a:srcRect b="0" l="0" r="0" t="0"/>
          <a:stretch/>
        </p:blipFill>
        <p:spPr>
          <a:xfrm>
            <a:off x="0" y="0"/>
            <a:ext cx="9143998" cy="5143501"/>
          </a:xfrm>
          <a:prstGeom prst="rect">
            <a:avLst/>
          </a:prstGeom>
          <a:noFill/>
          <a:ln>
            <a:noFill/>
          </a:ln>
        </p:spPr>
      </p:pic>
      <p:pic>
        <p:nvPicPr>
          <p:cNvPr descr="preencoded.png" id="260" name="Google Shape;260;g3fb8e08d9db_0_194"/>
          <p:cNvPicPr preferRelativeResize="0"/>
          <p:nvPr/>
        </p:nvPicPr>
        <p:blipFill rotWithShape="1">
          <a:blip r:embed="rId4">
            <a:alphaModFix/>
          </a:blip>
          <a:srcRect b="0" l="0" r="0" t="0"/>
          <a:stretch/>
        </p:blipFill>
        <p:spPr>
          <a:xfrm>
            <a:off x="571500" y="399117"/>
            <a:ext cx="8001000" cy="244750"/>
          </a:xfrm>
          <a:prstGeom prst="rect">
            <a:avLst/>
          </a:prstGeom>
          <a:noFill/>
          <a:ln>
            <a:noFill/>
          </a:ln>
        </p:spPr>
      </p:pic>
      <p:pic>
        <p:nvPicPr>
          <p:cNvPr descr="preencoded.png" id="261" name="Google Shape;261;g3fb8e08d9db_0_194"/>
          <p:cNvPicPr preferRelativeResize="0"/>
          <p:nvPr/>
        </p:nvPicPr>
        <p:blipFill rotWithShape="1">
          <a:blip r:embed="rId5">
            <a:alphaModFix/>
          </a:blip>
          <a:srcRect b="0" l="0" r="0" t="0"/>
          <a:stretch/>
        </p:blipFill>
        <p:spPr>
          <a:xfrm>
            <a:off x="0" y="0"/>
            <a:ext cx="9143998" cy="5143501"/>
          </a:xfrm>
          <a:prstGeom prst="rect">
            <a:avLst/>
          </a:prstGeom>
          <a:noFill/>
          <a:ln>
            <a:noFill/>
          </a:ln>
        </p:spPr>
      </p:pic>
      <p:sp>
        <p:nvSpPr>
          <p:cNvPr id="262" name="Google Shape;262;g3fb8e08d9db_0_194"/>
          <p:cNvSpPr/>
          <p:nvPr/>
        </p:nvSpPr>
        <p:spPr>
          <a:xfrm>
            <a:off x="571500" y="4593432"/>
            <a:ext cx="12810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C5D5F7"/>
              </a:buClr>
              <a:buSzPts val="1100"/>
              <a:buFont typeface="Montserrat SemiBold"/>
              <a:buNone/>
            </a:pPr>
            <a:r>
              <a:rPr b="1" i="0" lang="en-US" sz="1100" u="none" cap="none" strike="noStrike">
                <a:solidFill>
                  <a:srgbClr val="C5D5F7"/>
                </a:solidFill>
                <a:latin typeface="Montserrat SemiBold"/>
                <a:ea typeface="Montserrat SemiBold"/>
                <a:cs typeface="Montserrat SemiBold"/>
                <a:sym typeface="Montserrat SemiBold"/>
              </a:rPr>
              <a:t>neoconsulting.ai </a:t>
            </a:r>
            <a:endParaRPr b="0" i="0" sz="1100" u="none" cap="none" strike="noStrike">
              <a:solidFill>
                <a:schemeClr val="dk1"/>
              </a:solidFill>
              <a:latin typeface="Calibri"/>
              <a:ea typeface="Calibri"/>
              <a:cs typeface="Calibri"/>
              <a:sym typeface="Calibri"/>
            </a:endParaRPr>
          </a:p>
        </p:txBody>
      </p:sp>
      <p:sp>
        <p:nvSpPr>
          <p:cNvPr id="263" name="Google Shape;263;g3fb8e08d9db_0_194"/>
          <p:cNvSpPr/>
          <p:nvPr/>
        </p:nvSpPr>
        <p:spPr>
          <a:xfrm>
            <a:off x="1676143" y="506083"/>
            <a:ext cx="162000" cy="52500"/>
          </a:xfrm>
          <a:prstGeom prst="rect">
            <a:avLst/>
          </a:prstGeom>
          <a:noFill/>
          <a:ln>
            <a:noFill/>
          </a:ln>
        </p:spPr>
        <p:txBody>
          <a:bodyPr anchorCtr="0" anchor="t" bIns="0" lIns="0" spcFirstLastPara="1" rIns="0" wrap="square" tIns="0">
            <a:noAutofit/>
          </a:bodyPr>
          <a:lstStyle/>
          <a:p>
            <a:pPr indent="0" lvl="0" marL="0" marR="0" rtl="0" algn="l">
              <a:lnSpc>
                <a:spcPct val="88449"/>
              </a:lnSpc>
              <a:spcBef>
                <a:spcPts val="0"/>
              </a:spcBef>
              <a:spcAft>
                <a:spcPts val="0"/>
              </a:spcAft>
              <a:buClr>
                <a:srgbClr val="FFFFFF"/>
              </a:buClr>
              <a:buSzPts val="300"/>
              <a:buFont typeface="Montserrat SemiBold"/>
              <a:buNone/>
            </a:pPr>
            <a:r>
              <a:rPr b="1" i="0" lang="en-US" sz="300" u="none" cap="none" strike="noStrike">
                <a:solidFill>
                  <a:srgbClr val="FFFFFF"/>
                </a:solidFill>
                <a:latin typeface="Montserrat SemiBold"/>
                <a:ea typeface="Montserrat SemiBold"/>
                <a:cs typeface="Montserrat SemiBold"/>
                <a:sym typeface="Montserrat SemiBold"/>
              </a:rPr>
              <a:t>AÑOS </a:t>
            </a:r>
            <a:endParaRPr b="0" i="0" sz="300" u="none" cap="none" strike="noStrike">
              <a:solidFill>
                <a:schemeClr val="dk1"/>
              </a:solidFill>
              <a:latin typeface="Calibri"/>
              <a:ea typeface="Calibri"/>
              <a:cs typeface="Calibri"/>
              <a:sym typeface="Calibri"/>
            </a:endParaRPr>
          </a:p>
        </p:txBody>
      </p:sp>
      <p:sp>
        <p:nvSpPr>
          <p:cNvPr id="264" name="Google Shape;264;g3fb8e08d9db_0_194"/>
          <p:cNvSpPr/>
          <p:nvPr/>
        </p:nvSpPr>
        <p:spPr>
          <a:xfrm>
            <a:off x="571500" y="1762619"/>
            <a:ext cx="11049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C5D5F7"/>
              </a:buClr>
              <a:buSzPts val="1200"/>
              <a:buFont typeface="Montserrat"/>
              <a:buNone/>
            </a:pPr>
            <a:r>
              <a:rPr b="1" i="0" lang="en-US" sz="1200" u="none" cap="none" strike="noStrike">
                <a:solidFill>
                  <a:srgbClr val="C5D5F7"/>
                </a:solidFill>
                <a:latin typeface="Montserrat"/>
                <a:ea typeface="Montserrat"/>
                <a:cs typeface="Montserrat"/>
                <a:sym typeface="Montserrat"/>
              </a:rPr>
              <a:t>SECCIÓN </a:t>
            </a:r>
            <a:r>
              <a:rPr b="1" lang="en-US" sz="1200">
                <a:solidFill>
                  <a:srgbClr val="C5D5F7"/>
                </a:solidFill>
                <a:latin typeface="Montserrat"/>
                <a:ea typeface="Montserrat"/>
                <a:cs typeface="Montserrat"/>
                <a:sym typeface="Montserrat"/>
              </a:rPr>
              <a:t>04</a:t>
            </a:r>
            <a:endParaRPr b="0" i="0" sz="1200" u="none" cap="none" strike="noStrike">
              <a:solidFill>
                <a:schemeClr val="dk1"/>
              </a:solidFill>
              <a:latin typeface="Calibri"/>
              <a:ea typeface="Calibri"/>
              <a:cs typeface="Calibri"/>
              <a:sym typeface="Calibri"/>
            </a:endParaRPr>
          </a:p>
        </p:txBody>
      </p:sp>
      <p:sp>
        <p:nvSpPr>
          <p:cNvPr id="265" name="Google Shape;265;g3fb8e08d9db_0_194"/>
          <p:cNvSpPr/>
          <p:nvPr/>
        </p:nvSpPr>
        <p:spPr>
          <a:xfrm>
            <a:off x="571500" y="2988975"/>
            <a:ext cx="5733600" cy="485700"/>
          </a:xfrm>
          <a:prstGeom prst="rect">
            <a:avLst/>
          </a:prstGeom>
          <a:noFill/>
          <a:ln>
            <a:noFill/>
          </a:ln>
        </p:spPr>
        <p:txBody>
          <a:bodyPr anchorCtr="0" anchor="t" bIns="0" lIns="0" spcFirstLastPara="1" rIns="0" wrap="square" tIns="0">
            <a:noAutofit/>
          </a:bodyPr>
          <a:lstStyle/>
          <a:p>
            <a:pPr indent="0" lvl="0" marL="0" marR="0" rtl="0" algn="l">
              <a:lnSpc>
                <a:spcPct val="105843"/>
              </a:lnSpc>
              <a:spcBef>
                <a:spcPts val="0"/>
              </a:spcBef>
              <a:spcAft>
                <a:spcPts val="0"/>
              </a:spcAft>
              <a:buClr>
                <a:srgbClr val="C5D5F7"/>
              </a:buClr>
              <a:buSzPts val="1300"/>
              <a:buFont typeface="Montserrat Medium"/>
              <a:buNone/>
            </a:pPr>
            <a:r>
              <a:rPr b="0" i="0" lang="en-US" sz="1300" u="none" cap="none" strike="noStrike">
                <a:solidFill>
                  <a:srgbClr val="C5D5F7"/>
                </a:solidFill>
                <a:latin typeface="Montserrat Medium"/>
                <a:ea typeface="Montserrat Medium"/>
                <a:cs typeface="Montserrat Medium"/>
                <a:sym typeface="Montserrat Medium"/>
              </a:rPr>
              <a:t>Estrategia de consultoría especializada en automatización, datos, optimización de conversión e Inteligencia Artificial aplicada. </a:t>
            </a:r>
            <a:endParaRPr b="0" i="0" sz="1300" u="none" cap="none" strike="noStrike">
              <a:solidFill>
                <a:schemeClr val="dk1"/>
              </a:solidFill>
              <a:latin typeface="Calibri"/>
              <a:ea typeface="Calibri"/>
              <a:cs typeface="Calibri"/>
              <a:sym typeface="Calibri"/>
            </a:endParaRPr>
          </a:p>
        </p:txBody>
      </p:sp>
      <p:sp>
        <p:nvSpPr>
          <p:cNvPr id="266" name="Google Shape;266;g3fb8e08d9db_0_194"/>
          <p:cNvSpPr/>
          <p:nvPr/>
        </p:nvSpPr>
        <p:spPr>
          <a:xfrm>
            <a:off x="571500" y="2155525"/>
            <a:ext cx="7839000" cy="695400"/>
          </a:xfrm>
          <a:prstGeom prst="rect">
            <a:avLst/>
          </a:prstGeom>
          <a:noFill/>
          <a:ln>
            <a:noFill/>
          </a:ln>
        </p:spPr>
        <p:txBody>
          <a:bodyPr anchorCtr="0" anchor="t" bIns="0" lIns="0" spcFirstLastPara="1" rIns="0" wrap="square" tIns="0">
            <a:noAutofit/>
          </a:bodyPr>
          <a:lstStyle/>
          <a:p>
            <a:pPr indent="0" lvl="0" marL="0" marR="0" rtl="0" algn="l">
              <a:lnSpc>
                <a:spcPct val="88188"/>
              </a:lnSpc>
              <a:spcBef>
                <a:spcPts val="0"/>
              </a:spcBef>
              <a:spcAft>
                <a:spcPts val="0"/>
              </a:spcAft>
              <a:buClr>
                <a:srgbClr val="FFFFFF"/>
              </a:buClr>
              <a:buSzPts val="4500"/>
              <a:buFont typeface="Montserrat ExtraBold"/>
              <a:buNone/>
            </a:pPr>
            <a:r>
              <a:rPr b="1" i="0" lang="en-US" sz="4500" u="none" cap="none" strike="noStrike">
                <a:solidFill>
                  <a:srgbClr val="FFFFFF"/>
                </a:solidFill>
                <a:latin typeface="Montserrat ExtraBold"/>
                <a:ea typeface="Montserrat ExtraBold"/>
                <a:cs typeface="Montserrat ExtraBold"/>
                <a:sym typeface="Montserrat ExtraBold"/>
              </a:rPr>
              <a:t>¿Por qué </a:t>
            </a:r>
            <a:r>
              <a:rPr b="1" i="1" lang="en-US" sz="4500" u="none" cap="none" strike="noStrike">
                <a:solidFill>
                  <a:srgbClr val="7E99FE"/>
                </a:solidFill>
                <a:latin typeface="Montserrat Black"/>
                <a:ea typeface="Montserrat Black"/>
                <a:cs typeface="Montserrat Black"/>
                <a:sym typeface="Montserrat Black"/>
              </a:rPr>
              <a:t>NEO?</a:t>
            </a:r>
            <a:r>
              <a:rPr b="1" i="0" lang="en-US" sz="4500" u="none" cap="none" strike="noStrike">
                <a:solidFill>
                  <a:srgbClr val="FFFFFF"/>
                </a:solidFill>
                <a:latin typeface="Montserrat ExtraBold"/>
                <a:ea typeface="Montserrat ExtraBold"/>
                <a:cs typeface="Montserrat ExtraBold"/>
                <a:sym typeface="Montserrat ExtraBold"/>
              </a:rPr>
              <a:t> </a:t>
            </a:r>
            <a:endParaRPr b="0" i="0" sz="45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270" name="Shape 270"/>
        <p:cNvGrpSpPr/>
        <p:nvPr/>
      </p:nvGrpSpPr>
      <p:grpSpPr>
        <a:xfrm>
          <a:off x="0" y="0"/>
          <a:ext cx="0" cy="0"/>
          <a:chOff x="0" y="0"/>
          <a:chExt cx="0" cy="0"/>
        </a:xfrm>
      </p:grpSpPr>
      <p:pic>
        <p:nvPicPr>
          <p:cNvPr descr="preencoded.png" id="271" name="Google Shape;271;g3fb8e08d9db_0_207"/>
          <p:cNvPicPr preferRelativeResize="0"/>
          <p:nvPr/>
        </p:nvPicPr>
        <p:blipFill rotWithShape="1">
          <a:blip r:embed="rId3">
            <a:alphaModFix/>
          </a:blip>
          <a:srcRect b="0" l="0" r="0" t="0"/>
          <a:stretch/>
        </p:blipFill>
        <p:spPr>
          <a:xfrm>
            <a:off x="581025" y="2205038"/>
            <a:ext cx="4062412" cy="1662113"/>
          </a:xfrm>
          <a:prstGeom prst="rect">
            <a:avLst/>
          </a:prstGeom>
          <a:noFill/>
          <a:ln>
            <a:noFill/>
          </a:ln>
        </p:spPr>
      </p:pic>
      <p:pic>
        <p:nvPicPr>
          <p:cNvPr descr="preencoded.png" id="272" name="Google Shape;272;g3fb8e08d9db_0_207">
            <a:hlinkClick r:id="rId4"/>
          </p:cNvPr>
          <p:cNvPicPr preferRelativeResize="0"/>
          <p:nvPr/>
        </p:nvPicPr>
        <p:blipFill rotWithShape="1">
          <a:blip r:embed="rId5">
            <a:alphaModFix/>
          </a:blip>
          <a:srcRect b="0" l="0" r="0" t="0"/>
          <a:stretch/>
        </p:blipFill>
        <p:spPr>
          <a:xfrm>
            <a:off x="5200650" y="1357325"/>
            <a:ext cx="3371851" cy="2562249"/>
          </a:xfrm>
          <a:prstGeom prst="rect">
            <a:avLst/>
          </a:prstGeom>
          <a:noFill/>
          <a:ln>
            <a:noFill/>
          </a:ln>
          <a:effectLst>
            <a:outerShdw blurRad="171450" rotWithShape="0" algn="bl" dir="1920000" dist="76200">
              <a:srgbClr val="000000">
                <a:alpha val="7060"/>
              </a:srgbClr>
            </a:outerShdw>
          </a:effectLst>
        </p:spPr>
      </p:pic>
      <p:sp>
        <p:nvSpPr>
          <p:cNvPr id="273" name="Google Shape;273;g3fb8e08d9db_0_207"/>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rgbClr val="000033"/>
              </a:solidFill>
              <a:latin typeface="Calibri"/>
              <a:ea typeface="Calibri"/>
              <a:cs typeface="Calibri"/>
              <a:sym typeface="Calibri"/>
            </a:endParaRPr>
          </a:p>
        </p:txBody>
      </p:sp>
      <p:sp>
        <p:nvSpPr>
          <p:cNvPr id="274" name="Google Shape;274;g3fb8e08d9db_0_207"/>
          <p:cNvSpPr/>
          <p:nvPr/>
        </p:nvSpPr>
        <p:spPr>
          <a:xfrm>
            <a:off x="581025" y="2205038"/>
            <a:ext cx="4086300" cy="1371600"/>
          </a:xfrm>
          <a:prstGeom prst="rect">
            <a:avLst/>
          </a:prstGeom>
          <a:noFill/>
          <a:ln>
            <a:noFill/>
          </a:ln>
        </p:spPr>
        <p:txBody>
          <a:bodyPr anchorCtr="0" anchor="t" bIns="0" lIns="0" spcFirstLastPara="1" rIns="0" wrap="square" tIns="0">
            <a:noAutofit/>
          </a:bodyPr>
          <a:lstStyle/>
          <a:p>
            <a:pPr indent="0" lvl="0" marL="0" marR="0" rtl="0" algn="l">
              <a:lnSpc>
                <a:spcPct val="88166"/>
              </a:lnSpc>
              <a:spcBef>
                <a:spcPts val="0"/>
              </a:spcBef>
              <a:spcAft>
                <a:spcPts val="0"/>
              </a:spcAft>
              <a:buClr>
                <a:schemeClr val="lt1"/>
              </a:buClr>
              <a:buSzPts val="900"/>
              <a:buFont typeface="Montserrat ExtraBold"/>
              <a:buNone/>
            </a:pPr>
            <a:r>
              <a:rPr b="1" i="0" lang="en-US" sz="900" u="none" cap="none" strike="noStrike">
                <a:solidFill>
                  <a:srgbClr val="2B5BFC"/>
                </a:solidFill>
                <a:latin typeface="Montserrat ExtraBold"/>
                <a:ea typeface="Montserrat ExtraBold"/>
                <a:cs typeface="Montserrat ExtraBold"/>
                <a:sym typeface="Montserrat ExtraBold"/>
              </a:rPr>
              <a:t>MODELOS FRONTERA &amp; AGENTES </a:t>
            </a:r>
            <a:endParaRPr b="0" i="0" sz="900" u="none" cap="none" strike="noStrike">
              <a:solidFill>
                <a:srgbClr val="2B5BFC"/>
              </a:solidFill>
              <a:latin typeface="Calibri"/>
              <a:ea typeface="Calibri"/>
              <a:cs typeface="Calibri"/>
              <a:sym typeface="Calibri"/>
            </a:endParaRPr>
          </a:p>
          <a:p>
            <a:pPr indent="0" lvl="0" marL="0" marR="0" rtl="0" algn="l">
              <a:lnSpc>
                <a:spcPct val="105833"/>
              </a:lnSpc>
              <a:spcBef>
                <a:spcPts val="0"/>
              </a:spcBef>
              <a:spcAft>
                <a:spcPts val="0"/>
              </a:spcAft>
              <a:buClr>
                <a:srgbClr val="000000"/>
              </a:buClr>
              <a:buSzPts val="1200"/>
              <a:buFont typeface="Montserrat Medium"/>
              <a:buNone/>
            </a:pPr>
            <a:r>
              <a:t/>
            </a:r>
            <a:endParaRPr b="0" i="0" sz="1200" u="none" cap="none" strike="noStrike">
              <a:solidFill>
                <a:srgbClr val="000000"/>
              </a:solidFill>
              <a:latin typeface="Montserrat Medium"/>
              <a:ea typeface="Montserrat Medium"/>
              <a:cs typeface="Montserrat Medium"/>
              <a:sym typeface="Montserrat Medium"/>
            </a:endParaRPr>
          </a:p>
          <a:p>
            <a:pPr indent="0" lvl="0" marL="0" marR="0" rtl="0" algn="l">
              <a:lnSpc>
                <a:spcPct val="105833"/>
              </a:lnSpc>
              <a:spcBef>
                <a:spcPts val="0"/>
              </a:spcBef>
              <a:spcAft>
                <a:spcPts val="0"/>
              </a:spcAft>
              <a:buClr>
                <a:srgbClr val="000000"/>
              </a:buClr>
              <a:buSzPts val="1200"/>
              <a:buFont typeface="Montserrat Medium"/>
              <a:buNone/>
            </a:pPr>
            <a:r>
              <a:rPr b="0" i="0" lang="en-US" sz="1200" u="none" cap="none" strike="noStrike">
                <a:solidFill>
                  <a:srgbClr val="000000"/>
                </a:solidFill>
                <a:latin typeface="Montserrat Medium"/>
                <a:ea typeface="Montserrat Medium"/>
                <a:cs typeface="Montserrat Medium"/>
                <a:sym typeface="Montserrat Medium"/>
              </a:rPr>
              <a:t>Llevando la IA de la experimentación a la producción real. Construimos flujos de trabajo autónomos, agentes cognitivos y modelos especializados para resolver problemas complejos de negocio con optimización constante.</a:t>
            </a:r>
            <a:endParaRPr b="0" i="0" sz="1200" u="none" cap="none" strike="noStrike">
              <a:solidFill>
                <a:srgbClr val="000033"/>
              </a:solidFill>
              <a:latin typeface="Calibri"/>
              <a:ea typeface="Calibri"/>
              <a:cs typeface="Calibri"/>
              <a:sym typeface="Calibri"/>
            </a:endParaRPr>
          </a:p>
        </p:txBody>
      </p:sp>
      <p:sp>
        <p:nvSpPr>
          <p:cNvPr id="275" name="Google Shape;275;g3fb8e08d9db_0_207"/>
          <p:cNvSpPr/>
          <p:nvPr/>
        </p:nvSpPr>
        <p:spPr>
          <a:xfrm>
            <a:off x="790575" y="3705938"/>
            <a:ext cx="40101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D5BFF"/>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Nos ubicamos en: Calle Río de la Plata 167, San Isidro </a:t>
            </a:r>
            <a:endParaRPr b="0" i="0" sz="1100" u="none" cap="none" strike="noStrike">
              <a:solidFill>
                <a:srgbClr val="000033"/>
              </a:solidFill>
              <a:latin typeface="Calibri"/>
              <a:ea typeface="Calibri"/>
              <a:cs typeface="Calibri"/>
              <a:sym typeface="Calibri"/>
            </a:endParaRPr>
          </a:p>
        </p:txBody>
      </p:sp>
      <p:sp>
        <p:nvSpPr>
          <p:cNvPr id="276" name="Google Shape;276;g3fb8e08d9db_0_207"/>
          <p:cNvSpPr/>
          <p:nvPr/>
        </p:nvSpPr>
        <p:spPr>
          <a:xfrm>
            <a:off x="571500" y="1357313"/>
            <a:ext cx="11097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INNOVACIÓN </a:t>
            </a:r>
            <a:endParaRPr b="0" i="0" sz="1100" u="none" cap="none" strike="noStrike">
              <a:solidFill>
                <a:srgbClr val="000033"/>
              </a:solidFill>
              <a:latin typeface="Calibri"/>
              <a:ea typeface="Calibri"/>
              <a:cs typeface="Calibri"/>
              <a:sym typeface="Calibri"/>
            </a:endParaRPr>
          </a:p>
        </p:txBody>
      </p:sp>
      <p:sp>
        <p:nvSpPr>
          <p:cNvPr id="277" name="Google Shape;277;g3fb8e08d9db_0_207"/>
          <p:cNvSpPr/>
          <p:nvPr/>
        </p:nvSpPr>
        <p:spPr>
          <a:xfrm>
            <a:off x="571500" y="1647825"/>
            <a:ext cx="1695600" cy="324000"/>
          </a:xfrm>
          <a:prstGeom prst="rect">
            <a:avLst/>
          </a:prstGeom>
          <a:noFill/>
          <a:ln>
            <a:noFill/>
          </a:ln>
        </p:spPr>
        <p:txBody>
          <a:bodyPr anchorCtr="0" anchor="t" bIns="0" lIns="0" spcFirstLastPara="1" rIns="0" wrap="square" tIns="0">
            <a:noAutofit/>
          </a:bodyPr>
          <a:lstStyle/>
          <a:p>
            <a:pPr indent="0" lvl="0" marL="0" marR="0" rtl="0" algn="l">
              <a:lnSpc>
                <a:spcPct val="8819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NEO</a:t>
            </a:r>
            <a:r>
              <a:rPr b="1" i="1" lang="en-US" sz="2100" u="none" cap="none" strike="noStrike">
                <a:solidFill>
                  <a:srgbClr val="000033"/>
                </a:solidFill>
                <a:latin typeface="Montserrat Black"/>
                <a:ea typeface="Montserrat Black"/>
                <a:cs typeface="Montserrat Black"/>
                <a:sym typeface="Montserrat Black"/>
              </a:rPr>
              <a:t> </a:t>
            </a:r>
            <a:r>
              <a:rPr b="1" i="1" lang="en-US" sz="2100" u="none" cap="none" strike="noStrike">
                <a:solidFill>
                  <a:srgbClr val="2B5BFC"/>
                </a:solidFill>
                <a:latin typeface="Montserrat Black"/>
                <a:ea typeface="Montserrat Black"/>
                <a:cs typeface="Montserrat Black"/>
                <a:sym typeface="Montserrat Black"/>
              </a:rPr>
              <a:t>AI Lab</a:t>
            </a:r>
            <a:r>
              <a:rPr b="1" i="0" lang="en-US" sz="2100" u="none" cap="none" strike="noStrike">
                <a:solidFill>
                  <a:srgbClr val="000033"/>
                </a:solidFill>
                <a:latin typeface="Montserrat ExtraBold"/>
                <a:ea typeface="Montserrat ExtraBold"/>
                <a:cs typeface="Montserrat ExtraBold"/>
                <a:sym typeface="Montserrat ExtraBold"/>
              </a:rPr>
              <a:t> </a:t>
            </a:r>
            <a:endParaRPr b="0" i="0" sz="2100" u="none" cap="none" strike="noStrike">
              <a:solidFill>
                <a:srgbClr val="000033"/>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282" name="Shape 282"/>
        <p:cNvGrpSpPr/>
        <p:nvPr/>
      </p:nvGrpSpPr>
      <p:grpSpPr>
        <a:xfrm>
          <a:off x="0" y="0"/>
          <a:ext cx="0" cy="0"/>
          <a:chOff x="0" y="0"/>
          <a:chExt cx="0" cy="0"/>
        </a:xfrm>
      </p:grpSpPr>
      <p:pic>
        <p:nvPicPr>
          <p:cNvPr descr="preencoded.png" id="283" name="Google Shape;283;g3fb8e08d9db_0_218"/>
          <p:cNvPicPr preferRelativeResize="0"/>
          <p:nvPr/>
        </p:nvPicPr>
        <p:blipFill rotWithShape="1">
          <a:blip r:embed="rId3">
            <a:alphaModFix/>
          </a:blip>
          <a:srcRect b="0" l="0" r="0" t="0"/>
          <a:stretch/>
        </p:blipFill>
        <p:spPr>
          <a:xfrm>
            <a:off x="485775" y="2562225"/>
            <a:ext cx="8172451" cy="1576387"/>
          </a:xfrm>
          <a:prstGeom prst="rect">
            <a:avLst/>
          </a:prstGeom>
          <a:noFill/>
          <a:ln>
            <a:noFill/>
          </a:ln>
        </p:spPr>
      </p:pic>
      <p:sp>
        <p:nvSpPr>
          <p:cNvPr id="284" name="Google Shape;284;g3fb8e08d9db_0_218"/>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285" name="Google Shape;285;g3fb8e08d9db_0_218"/>
          <p:cNvSpPr/>
          <p:nvPr/>
        </p:nvSpPr>
        <p:spPr>
          <a:xfrm>
            <a:off x="571500" y="1281113"/>
            <a:ext cx="8029500" cy="552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000033"/>
              </a:buClr>
              <a:buSzPts val="1800"/>
              <a:buFont typeface="Montserrat ExtraBold"/>
              <a:buNone/>
            </a:pPr>
            <a:r>
              <a:rPr b="1" i="0" lang="en-US" sz="1800" u="none" cap="none" strike="noStrike">
                <a:solidFill>
                  <a:srgbClr val="000033"/>
                </a:solidFill>
                <a:latin typeface="Montserrat ExtraBold"/>
                <a:ea typeface="Montserrat ExtraBold"/>
                <a:cs typeface="Montserrat ExtraBold"/>
                <a:sym typeface="Montserrat ExtraBold"/>
              </a:rPr>
              <a:t>Logra tus objetivos de negocio utilizando</a:t>
            </a:r>
            <a:endParaRPr b="0" i="0" sz="1800" u="none" cap="none" strike="noStrike">
              <a:solidFill>
                <a:schemeClr val="dk1"/>
              </a:solidFill>
              <a:latin typeface="Calibri"/>
              <a:ea typeface="Calibri"/>
              <a:cs typeface="Calibri"/>
              <a:sym typeface="Calibri"/>
            </a:endParaRPr>
          </a:p>
          <a:p>
            <a:pPr indent="0" lvl="0" marL="0" marR="0" rtl="0" algn="l">
              <a:lnSpc>
                <a:spcPct val="84666"/>
              </a:lnSpc>
              <a:spcBef>
                <a:spcPts val="0"/>
              </a:spcBef>
              <a:spcAft>
                <a:spcPts val="0"/>
              </a:spcAft>
              <a:buClr>
                <a:srgbClr val="2B5BFC"/>
              </a:buClr>
              <a:buSzPts val="1800"/>
              <a:buFont typeface="Montserrat ExtraBold"/>
              <a:buNone/>
            </a:pPr>
            <a:r>
              <a:rPr b="1" i="1" lang="en-US" sz="1800" u="none" cap="none" strike="noStrike">
                <a:solidFill>
                  <a:srgbClr val="2B5BFC"/>
                </a:solidFill>
                <a:latin typeface="Montserrat ExtraBold"/>
                <a:ea typeface="Montserrat ExtraBold"/>
                <a:cs typeface="Montserrat ExtraBold"/>
                <a:sym typeface="Montserrat ExtraBold"/>
              </a:rPr>
              <a:t>data e inteligencia artificial</a:t>
            </a:r>
            <a:r>
              <a:rPr b="1" i="0" lang="en-US" sz="1800" u="none" cap="none" strike="noStrike">
                <a:solidFill>
                  <a:srgbClr val="000033"/>
                </a:solidFill>
                <a:latin typeface="Montserrat ExtraBold"/>
                <a:ea typeface="Montserrat ExtraBold"/>
                <a:cs typeface="Montserrat ExtraBold"/>
                <a:sym typeface="Montserrat ExtraBold"/>
              </a:rPr>
              <a:t> </a:t>
            </a:r>
            <a:endParaRPr b="0" i="0" sz="1800" u="none" cap="none" strike="noStrike">
              <a:solidFill>
                <a:schemeClr val="dk1"/>
              </a:solidFill>
              <a:latin typeface="Calibri"/>
              <a:ea typeface="Calibri"/>
              <a:cs typeface="Calibri"/>
              <a:sym typeface="Calibri"/>
            </a:endParaRPr>
          </a:p>
        </p:txBody>
      </p:sp>
      <p:sp>
        <p:nvSpPr>
          <p:cNvPr id="286" name="Google Shape;286;g3fb8e08d9db_0_218"/>
          <p:cNvSpPr/>
          <p:nvPr/>
        </p:nvSpPr>
        <p:spPr>
          <a:xfrm>
            <a:off x="571500" y="1947863"/>
            <a:ext cx="6000900" cy="428700"/>
          </a:xfrm>
          <a:prstGeom prst="rect">
            <a:avLst/>
          </a:prstGeom>
          <a:noFill/>
          <a:ln>
            <a:noFill/>
          </a:ln>
        </p:spPr>
        <p:txBody>
          <a:bodyPr anchorCtr="0" anchor="t" bIns="0" lIns="0" spcFirstLastPara="1" rIns="0" wrap="square" tIns="0">
            <a:noAutofit/>
          </a:bodyPr>
          <a:lstStyle/>
          <a:p>
            <a:pPr indent="0" lvl="0" marL="0" marR="0" rtl="0" algn="l">
              <a:lnSpc>
                <a:spcPct val="105822"/>
              </a:lnSpc>
              <a:spcBef>
                <a:spcPts val="0"/>
              </a:spcBef>
              <a:spcAft>
                <a:spcPts val="0"/>
              </a:spcAft>
              <a:buClr>
                <a:srgbClr val="000000"/>
              </a:buClr>
              <a:buSzPts val="1100"/>
              <a:buFont typeface="Montserrat Medium"/>
              <a:buNone/>
            </a:pPr>
            <a:r>
              <a:rPr b="0" i="0" lang="en-US" sz="1100" u="none" cap="none" strike="noStrike">
                <a:solidFill>
                  <a:srgbClr val="000033"/>
                </a:solidFill>
                <a:latin typeface="Montserrat Medium"/>
                <a:ea typeface="Montserrat Medium"/>
                <a:cs typeface="Montserrat Medium"/>
                <a:sym typeface="Montserrat Medium"/>
              </a:rPr>
              <a:t>Combinamos estrategia, tecnología y talento AI-first para transformar empresas líderes en LATAM y convertir su ambición digital en resultados medibles. </a:t>
            </a:r>
            <a:endParaRPr b="0" i="0" sz="1100" u="none" cap="none" strike="noStrike">
              <a:solidFill>
                <a:schemeClr val="dk1"/>
              </a:solidFill>
              <a:latin typeface="Calibri"/>
              <a:ea typeface="Calibri"/>
              <a:cs typeface="Calibri"/>
              <a:sym typeface="Calibri"/>
            </a:endParaRPr>
          </a:p>
        </p:txBody>
      </p:sp>
      <p:sp>
        <p:nvSpPr>
          <p:cNvPr id="287" name="Google Shape;287;g3fb8e08d9db_0_218"/>
          <p:cNvSpPr/>
          <p:nvPr/>
        </p:nvSpPr>
        <p:spPr>
          <a:xfrm>
            <a:off x="723900" y="2771775"/>
            <a:ext cx="7287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+25 </a:t>
            </a:r>
            <a:endParaRPr b="0" i="0" sz="3000" u="none" cap="none" strike="noStrike">
              <a:solidFill>
                <a:schemeClr val="dk1"/>
              </a:solidFill>
              <a:latin typeface="Calibri"/>
              <a:ea typeface="Calibri"/>
              <a:cs typeface="Calibri"/>
              <a:sym typeface="Calibri"/>
            </a:endParaRPr>
          </a:p>
        </p:txBody>
      </p:sp>
      <p:sp>
        <p:nvSpPr>
          <p:cNvPr id="288" name="Google Shape;288;g3fb8e08d9db_0_218"/>
          <p:cNvSpPr/>
          <p:nvPr/>
        </p:nvSpPr>
        <p:spPr>
          <a:xfrm>
            <a:off x="723900" y="3314700"/>
            <a:ext cx="1609800" cy="5571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Años de experiencia transformando negocios </a:t>
            </a:r>
            <a:endParaRPr b="0" i="0" sz="1100" u="none" cap="none" strike="noStrike">
              <a:solidFill>
                <a:schemeClr val="dk1"/>
              </a:solidFill>
              <a:latin typeface="Calibri"/>
              <a:ea typeface="Calibri"/>
              <a:cs typeface="Calibri"/>
              <a:sym typeface="Calibri"/>
            </a:endParaRPr>
          </a:p>
        </p:txBody>
      </p:sp>
      <p:sp>
        <p:nvSpPr>
          <p:cNvPr id="289" name="Google Shape;289;g3fb8e08d9db_0_218"/>
          <p:cNvSpPr/>
          <p:nvPr/>
        </p:nvSpPr>
        <p:spPr>
          <a:xfrm>
            <a:off x="2762250" y="2771775"/>
            <a:ext cx="10668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+800 </a:t>
            </a:r>
            <a:endParaRPr b="0" i="0" sz="3000" u="none" cap="none" strike="noStrike">
              <a:solidFill>
                <a:schemeClr val="dk1"/>
              </a:solidFill>
              <a:latin typeface="Calibri"/>
              <a:ea typeface="Calibri"/>
              <a:cs typeface="Calibri"/>
              <a:sym typeface="Calibri"/>
            </a:endParaRPr>
          </a:p>
        </p:txBody>
      </p:sp>
      <p:sp>
        <p:nvSpPr>
          <p:cNvPr id="290" name="Google Shape;290;g3fb8e08d9db_0_218"/>
          <p:cNvSpPr/>
          <p:nvPr/>
        </p:nvSpPr>
        <p:spPr>
          <a:xfrm>
            <a:off x="2762250" y="3314700"/>
            <a:ext cx="16098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Proyectos exitosos en los últimos 5 años </a:t>
            </a:r>
            <a:endParaRPr b="0" i="0" sz="1100" u="none" cap="none" strike="noStrike">
              <a:solidFill>
                <a:schemeClr val="dk1"/>
              </a:solidFill>
              <a:latin typeface="Calibri"/>
              <a:ea typeface="Calibri"/>
              <a:cs typeface="Calibri"/>
              <a:sym typeface="Calibri"/>
            </a:endParaRPr>
          </a:p>
        </p:txBody>
      </p:sp>
      <p:sp>
        <p:nvSpPr>
          <p:cNvPr id="291" name="Google Shape;291;g3fb8e08d9db_0_218"/>
          <p:cNvSpPr/>
          <p:nvPr/>
        </p:nvSpPr>
        <p:spPr>
          <a:xfrm>
            <a:off x="4800600" y="2771775"/>
            <a:ext cx="9525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+100 </a:t>
            </a:r>
            <a:endParaRPr b="0" i="0" sz="3000" u="none" cap="none" strike="noStrike">
              <a:solidFill>
                <a:schemeClr val="dk1"/>
              </a:solidFill>
              <a:latin typeface="Calibri"/>
              <a:ea typeface="Calibri"/>
              <a:cs typeface="Calibri"/>
              <a:sym typeface="Calibri"/>
            </a:endParaRPr>
          </a:p>
        </p:txBody>
      </p:sp>
      <p:sp>
        <p:nvSpPr>
          <p:cNvPr id="292" name="Google Shape;292;g3fb8e08d9db_0_218"/>
          <p:cNvSpPr/>
          <p:nvPr/>
        </p:nvSpPr>
        <p:spPr>
          <a:xfrm>
            <a:off x="4800600" y="3314700"/>
            <a:ext cx="16098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Clientes en 15 sectores distintos </a:t>
            </a:r>
            <a:endParaRPr b="0" i="0" sz="1100" u="none" cap="none" strike="noStrike">
              <a:solidFill>
                <a:schemeClr val="dk1"/>
              </a:solidFill>
              <a:latin typeface="Calibri"/>
              <a:ea typeface="Calibri"/>
              <a:cs typeface="Calibri"/>
              <a:sym typeface="Calibri"/>
            </a:endParaRPr>
          </a:p>
        </p:txBody>
      </p:sp>
      <p:sp>
        <p:nvSpPr>
          <p:cNvPr id="293" name="Google Shape;293;g3fb8e08d9db_0_218"/>
          <p:cNvSpPr/>
          <p:nvPr/>
        </p:nvSpPr>
        <p:spPr>
          <a:xfrm>
            <a:off x="6838950" y="2771775"/>
            <a:ext cx="10812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100% </a:t>
            </a:r>
            <a:endParaRPr b="0" i="0" sz="3000" u="none" cap="none" strike="noStrike">
              <a:solidFill>
                <a:schemeClr val="dk1"/>
              </a:solidFill>
              <a:latin typeface="Calibri"/>
              <a:ea typeface="Calibri"/>
              <a:cs typeface="Calibri"/>
              <a:sym typeface="Calibri"/>
            </a:endParaRPr>
          </a:p>
        </p:txBody>
      </p:sp>
      <p:sp>
        <p:nvSpPr>
          <p:cNvPr id="294" name="Google Shape;294;g3fb8e08d9db_0_218"/>
          <p:cNvSpPr/>
          <p:nvPr/>
        </p:nvSpPr>
        <p:spPr>
          <a:xfrm>
            <a:off x="6838950" y="3314700"/>
            <a:ext cx="16098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Del staff certificado en IA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299" name="Shape 299"/>
        <p:cNvGrpSpPr/>
        <p:nvPr/>
      </p:nvGrpSpPr>
      <p:grpSpPr>
        <a:xfrm>
          <a:off x="0" y="0"/>
          <a:ext cx="0" cy="0"/>
          <a:chOff x="0" y="0"/>
          <a:chExt cx="0" cy="0"/>
        </a:xfrm>
      </p:grpSpPr>
      <p:pic>
        <p:nvPicPr>
          <p:cNvPr descr="preencoded.png" id="300" name="Google Shape;300;g3fb8e08d9db_0_237"/>
          <p:cNvPicPr preferRelativeResize="0"/>
          <p:nvPr/>
        </p:nvPicPr>
        <p:blipFill rotWithShape="1">
          <a:blip r:embed="rId3">
            <a:alphaModFix/>
          </a:blip>
          <a:srcRect b="0" l="0" r="0" t="0"/>
          <a:stretch/>
        </p:blipFill>
        <p:spPr>
          <a:xfrm>
            <a:off x="1896363" y="2321613"/>
            <a:ext cx="2712792" cy="971509"/>
          </a:xfrm>
          <a:prstGeom prst="rect">
            <a:avLst/>
          </a:prstGeom>
          <a:noFill/>
          <a:ln>
            <a:noFill/>
          </a:ln>
        </p:spPr>
      </p:pic>
      <p:pic>
        <p:nvPicPr>
          <p:cNvPr descr="preencoded.png" id="301" name="Google Shape;301;g3fb8e08d9db_0_237"/>
          <p:cNvPicPr preferRelativeResize="0"/>
          <p:nvPr/>
        </p:nvPicPr>
        <p:blipFill rotWithShape="1">
          <a:blip r:embed="rId3">
            <a:alphaModFix/>
          </a:blip>
          <a:srcRect b="0" l="0" r="0" t="0"/>
          <a:stretch/>
        </p:blipFill>
        <p:spPr>
          <a:xfrm>
            <a:off x="4534849" y="2321613"/>
            <a:ext cx="2712792" cy="971509"/>
          </a:xfrm>
          <a:prstGeom prst="rect">
            <a:avLst/>
          </a:prstGeom>
          <a:noFill/>
          <a:ln>
            <a:noFill/>
          </a:ln>
        </p:spPr>
      </p:pic>
      <p:pic>
        <p:nvPicPr>
          <p:cNvPr descr="preencoded.png" id="302" name="Google Shape;302;g3fb8e08d9db_0_237"/>
          <p:cNvPicPr preferRelativeResize="0"/>
          <p:nvPr/>
        </p:nvPicPr>
        <p:blipFill rotWithShape="1">
          <a:blip r:embed="rId3">
            <a:alphaModFix/>
          </a:blip>
          <a:srcRect b="0" l="0" r="0" t="0"/>
          <a:stretch/>
        </p:blipFill>
        <p:spPr>
          <a:xfrm>
            <a:off x="1896363" y="3213490"/>
            <a:ext cx="2712792" cy="971509"/>
          </a:xfrm>
          <a:prstGeom prst="rect">
            <a:avLst/>
          </a:prstGeom>
          <a:noFill/>
          <a:ln>
            <a:noFill/>
          </a:ln>
        </p:spPr>
      </p:pic>
      <p:pic>
        <p:nvPicPr>
          <p:cNvPr descr="preencoded.png" id="303" name="Google Shape;303;g3fb8e08d9db_0_237"/>
          <p:cNvPicPr preferRelativeResize="0"/>
          <p:nvPr/>
        </p:nvPicPr>
        <p:blipFill rotWithShape="1">
          <a:blip r:embed="rId3">
            <a:alphaModFix/>
          </a:blip>
          <a:srcRect b="0" l="0" r="0" t="0"/>
          <a:stretch/>
        </p:blipFill>
        <p:spPr>
          <a:xfrm>
            <a:off x="4534849" y="3213490"/>
            <a:ext cx="2712792" cy="971509"/>
          </a:xfrm>
          <a:prstGeom prst="rect">
            <a:avLst/>
          </a:prstGeom>
          <a:noFill/>
          <a:ln>
            <a:noFill/>
          </a:ln>
        </p:spPr>
      </p:pic>
      <p:sp>
        <p:nvSpPr>
          <p:cNvPr id="304" name="Google Shape;304;g3fb8e08d9db_0_237"/>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305" name="Google Shape;305;g3fb8e08d9db_0_237"/>
          <p:cNvSpPr/>
          <p:nvPr/>
        </p:nvSpPr>
        <p:spPr>
          <a:xfrm>
            <a:off x="571500" y="1085850"/>
            <a:ext cx="4591200" cy="2763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000033"/>
              </a:buClr>
              <a:buSzPts val="1800"/>
              <a:buFont typeface="Montserrat ExtraBold"/>
              <a:buNone/>
            </a:pPr>
            <a:r>
              <a:rPr b="1" i="0" lang="en-US" sz="1800" u="none" cap="none" strike="noStrike">
                <a:solidFill>
                  <a:srgbClr val="000033"/>
                </a:solidFill>
                <a:latin typeface="Montserrat ExtraBold"/>
                <a:ea typeface="Montserrat ExtraBold"/>
                <a:cs typeface="Montserrat ExtraBold"/>
                <a:sym typeface="Montserrat ExtraBold"/>
              </a:rPr>
              <a:t>Nuestros </a:t>
            </a:r>
            <a:r>
              <a:rPr b="1" i="1" lang="en-US" sz="1800" u="none" cap="none" strike="noStrike">
                <a:solidFill>
                  <a:srgbClr val="2B5BFC"/>
                </a:solidFill>
                <a:latin typeface="Montserrat ExtraBold"/>
                <a:ea typeface="Montserrat ExtraBold"/>
                <a:cs typeface="Montserrat ExtraBold"/>
                <a:sym typeface="Montserrat ExtraBold"/>
              </a:rPr>
              <a:t>partners</a:t>
            </a:r>
            <a:r>
              <a:rPr b="1" i="0" lang="en-US" sz="1800" u="none" cap="none" strike="noStrike">
                <a:solidFill>
                  <a:srgbClr val="000033"/>
                </a:solidFill>
                <a:latin typeface="Montserrat ExtraBold"/>
                <a:ea typeface="Montserrat ExtraBold"/>
                <a:cs typeface="Montserrat ExtraBold"/>
                <a:sym typeface="Montserrat ExtraBold"/>
              </a:rPr>
              <a:t> </a:t>
            </a:r>
            <a:endParaRPr b="0" i="0" sz="1800" u="none" cap="none" strike="noStrike">
              <a:solidFill>
                <a:schemeClr val="dk1"/>
              </a:solidFill>
              <a:latin typeface="Calibri"/>
              <a:ea typeface="Calibri"/>
              <a:cs typeface="Calibri"/>
              <a:sym typeface="Calibri"/>
            </a:endParaRPr>
          </a:p>
        </p:txBody>
      </p:sp>
      <p:sp>
        <p:nvSpPr>
          <p:cNvPr id="306" name="Google Shape;306;g3fb8e08d9db_0_237"/>
          <p:cNvSpPr/>
          <p:nvPr/>
        </p:nvSpPr>
        <p:spPr>
          <a:xfrm>
            <a:off x="571500" y="1476375"/>
            <a:ext cx="6473100" cy="367500"/>
          </a:xfrm>
          <a:prstGeom prst="rect">
            <a:avLst/>
          </a:prstGeom>
          <a:noFill/>
          <a:ln>
            <a:noFill/>
          </a:ln>
        </p:spPr>
        <p:txBody>
          <a:bodyPr anchorCtr="0" anchor="t" bIns="0" lIns="0" spcFirstLastPara="1" rIns="0" wrap="square" tIns="0">
            <a:noAutofit/>
          </a:bodyPr>
          <a:lstStyle/>
          <a:p>
            <a:pPr indent="0" lvl="0" marL="0" marR="0" rtl="0" algn="l">
              <a:lnSpc>
                <a:spcPct val="105822"/>
              </a:lnSpc>
              <a:spcBef>
                <a:spcPts val="0"/>
              </a:spcBef>
              <a:spcAft>
                <a:spcPts val="0"/>
              </a:spcAft>
              <a:buClr>
                <a:srgbClr val="000000"/>
              </a:buClr>
              <a:buSzPts val="1100"/>
              <a:buFont typeface="Montserrat Medium"/>
              <a:buNone/>
            </a:pPr>
            <a:r>
              <a:rPr b="0" i="0" lang="en-US" sz="1100" u="none" cap="none" strike="noStrike">
                <a:solidFill>
                  <a:srgbClr val="000033"/>
                </a:solidFill>
                <a:latin typeface="Montserrat Medium"/>
                <a:ea typeface="Montserrat Medium"/>
                <a:cs typeface="Montserrat Medium"/>
                <a:sym typeface="Montserrat Medium"/>
              </a:rPr>
              <a:t>Somos partners certificados de las principales plataformas de data, marketing e IA del mundo — y trabajamos con los modelos frontera de la industria. </a:t>
            </a:r>
            <a:endParaRPr b="0" i="0" sz="1100" u="none" cap="none" strike="noStrike">
              <a:solidFill>
                <a:schemeClr val="dk1"/>
              </a:solidFill>
              <a:latin typeface="Calibri"/>
              <a:ea typeface="Calibri"/>
              <a:cs typeface="Calibri"/>
              <a:sym typeface="Calibri"/>
            </a:endParaRPr>
          </a:p>
        </p:txBody>
      </p:sp>
      <p:sp>
        <p:nvSpPr>
          <p:cNvPr id="307" name="Google Shape;307;g3fb8e08d9db_0_237"/>
          <p:cNvSpPr/>
          <p:nvPr/>
        </p:nvSpPr>
        <p:spPr>
          <a:xfrm>
            <a:off x="571509" y="2015738"/>
            <a:ext cx="3413700" cy="1965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226"/>
              <a:buFont typeface="Montserrat"/>
              <a:buNone/>
            </a:pPr>
            <a:r>
              <a:rPr b="1" i="0" lang="en-US" sz="1226" u="none" cap="none" strike="noStrike">
                <a:solidFill>
                  <a:srgbClr val="2B5BFC"/>
                </a:solidFill>
                <a:latin typeface="Montserrat"/>
                <a:ea typeface="Montserrat"/>
                <a:cs typeface="Montserrat"/>
                <a:sym typeface="Montserrat"/>
              </a:rPr>
              <a:t>PLATAFORMAS TECNOLÓGICAS &amp; IA: </a:t>
            </a:r>
            <a:endParaRPr b="0" i="0" sz="1226" u="none" cap="none" strike="noStrike">
              <a:solidFill>
                <a:schemeClr val="dk1"/>
              </a:solidFill>
              <a:latin typeface="Calibri"/>
              <a:ea typeface="Calibri"/>
              <a:cs typeface="Calibri"/>
              <a:sym typeface="Calibri"/>
            </a:endParaRPr>
          </a:p>
        </p:txBody>
      </p:sp>
      <p:pic>
        <p:nvPicPr>
          <p:cNvPr id="308" name="Google Shape;308;g3fb8e08d9db_0_237"/>
          <p:cNvPicPr preferRelativeResize="0"/>
          <p:nvPr/>
        </p:nvPicPr>
        <p:blipFill rotWithShape="1">
          <a:blip r:embed="rId4">
            <a:alphaModFix/>
          </a:blip>
          <a:srcRect b="0" l="0" r="0" t="0"/>
          <a:stretch/>
        </p:blipFill>
        <p:spPr>
          <a:xfrm>
            <a:off x="2239304" y="2409215"/>
            <a:ext cx="2026927" cy="716700"/>
          </a:xfrm>
          <a:prstGeom prst="rect">
            <a:avLst/>
          </a:prstGeom>
          <a:noFill/>
          <a:ln>
            <a:noFill/>
          </a:ln>
        </p:spPr>
      </p:pic>
      <p:pic>
        <p:nvPicPr>
          <p:cNvPr id="309" name="Google Shape;309;g3fb8e08d9db_0_237"/>
          <p:cNvPicPr preferRelativeResize="0"/>
          <p:nvPr/>
        </p:nvPicPr>
        <p:blipFill rotWithShape="1">
          <a:blip r:embed="rId5">
            <a:alphaModFix/>
          </a:blip>
          <a:srcRect b="0" l="0" r="0" t="0"/>
          <a:stretch/>
        </p:blipFill>
        <p:spPr>
          <a:xfrm>
            <a:off x="2166391" y="3304477"/>
            <a:ext cx="2223933" cy="716701"/>
          </a:xfrm>
          <a:prstGeom prst="rect">
            <a:avLst/>
          </a:prstGeom>
          <a:noFill/>
          <a:ln>
            <a:noFill/>
          </a:ln>
        </p:spPr>
      </p:pic>
      <p:pic>
        <p:nvPicPr>
          <p:cNvPr descr="preencoded.png" id="310" name="Google Shape;310;g3fb8e08d9db_0_237"/>
          <p:cNvPicPr preferRelativeResize="0"/>
          <p:nvPr/>
        </p:nvPicPr>
        <p:blipFill rotWithShape="1">
          <a:blip r:embed="rId6">
            <a:alphaModFix/>
          </a:blip>
          <a:srcRect b="0" l="0" r="0" t="0"/>
          <a:stretch/>
        </p:blipFill>
        <p:spPr>
          <a:xfrm>
            <a:off x="5475486" y="2351794"/>
            <a:ext cx="831543" cy="831543"/>
          </a:xfrm>
          <a:prstGeom prst="rect">
            <a:avLst/>
          </a:prstGeom>
          <a:noFill/>
          <a:ln>
            <a:noFill/>
          </a:ln>
        </p:spPr>
      </p:pic>
      <p:pic>
        <p:nvPicPr>
          <p:cNvPr id="311" name="Google Shape;311;g3fb8e08d9db_0_237"/>
          <p:cNvPicPr preferRelativeResize="0"/>
          <p:nvPr/>
        </p:nvPicPr>
        <p:blipFill rotWithShape="1">
          <a:blip r:embed="rId7">
            <a:alphaModFix/>
          </a:blip>
          <a:srcRect b="0" l="0" r="0" t="0"/>
          <a:stretch/>
        </p:blipFill>
        <p:spPr>
          <a:xfrm>
            <a:off x="4697168" y="3515530"/>
            <a:ext cx="2388175" cy="36743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316" name="Shape 316"/>
        <p:cNvGrpSpPr/>
        <p:nvPr/>
      </p:nvGrpSpPr>
      <p:grpSpPr>
        <a:xfrm>
          <a:off x="0" y="0"/>
          <a:ext cx="0" cy="0"/>
          <a:chOff x="0" y="0"/>
          <a:chExt cx="0" cy="0"/>
        </a:xfrm>
      </p:grpSpPr>
      <p:pic>
        <p:nvPicPr>
          <p:cNvPr descr="preencoded.png" id="317" name="Google Shape;317;g3fb8e08d9db_0_256"/>
          <p:cNvPicPr preferRelativeResize="0"/>
          <p:nvPr/>
        </p:nvPicPr>
        <p:blipFill rotWithShape="1">
          <a:blip r:embed="rId3">
            <a:alphaModFix/>
          </a:blip>
          <a:srcRect b="0" l="0" r="0" t="0"/>
          <a:stretch/>
        </p:blipFill>
        <p:spPr>
          <a:xfrm>
            <a:off x="490538" y="1604963"/>
            <a:ext cx="2771775" cy="1452562"/>
          </a:xfrm>
          <a:prstGeom prst="rect">
            <a:avLst/>
          </a:prstGeom>
          <a:noFill/>
          <a:ln>
            <a:noFill/>
          </a:ln>
        </p:spPr>
      </p:pic>
      <p:pic>
        <p:nvPicPr>
          <p:cNvPr descr="preencoded.png" id="318" name="Google Shape;318;g3fb8e08d9db_0_256"/>
          <p:cNvPicPr preferRelativeResize="0"/>
          <p:nvPr/>
        </p:nvPicPr>
        <p:blipFill rotWithShape="1">
          <a:blip r:embed="rId3">
            <a:alphaModFix/>
          </a:blip>
          <a:srcRect b="0" l="0" r="0" t="0"/>
          <a:stretch/>
        </p:blipFill>
        <p:spPr>
          <a:xfrm>
            <a:off x="3186113" y="1604963"/>
            <a:ext cx="2771775" cy="1452562"/>
          </a:xfrm>
          <a:prstGeom prst="rect">
            <a:avLst/>
          </a:prstGeom>
          <a:noFill/>
          <a:ln>
            <a:noFill/>
          </a:ln>
        </p:spPr>
      </p:pic>
      <p:pic>
        <p:nvPicPr>
          <p:cNvPr descr="preencoded.png" id="319" name="Google Shape;319;g3fb8e08d9db_0_256"/>
          <p:cNvPicPr preferRelativeResize="0"/>
          <p:nvPr/>
        </p:nvPicPr>
        <p:blipFill rotWithShape="1">
          <a:blip r:embed="rId4">
            <a:alphaModFix/>
          </a:blip>
          <a:srcRect b="0" l="0" r="0" t="0"/>
          <a:stretch/>
        </p:blipFill>
        <p:spPr>
          <a:xfrm>
            <a:off x="5881688" y="1604963"/>
            <a:ext cx="2776538" cy="1452562"/>
          </a:xfrm>
          <a:prstGeom prst="rect">
            <a:avLst/>
          </a:prstGeom>
          <a:noFill/>
          <a:ln>
            <a:noFill/>
          </a:ln>
        </p:spPr>
      </p:pic>
      <p:pic>
        <p:nvPicPr>
          <p:cNvPr descr="preencoded.png" id="320" name="Google Shape;320;g3fb8e08d9db_0_256"/>
          <p:cNvPicPr preferRelativeResize="0"/>
          <p:nvPr/>
        </p:nvPicPr>
        <p:blipFill rotWithShape="1">
          <a:blip r:embed="rId3">
            <a:alphaModFix/>
          </a:blip>
          <a:srcRect b="0" l="0" r="0" t="0"/>
          <a:stretch/>
        </p:blipFill>
        <p:spPr>
          <a:xfrm>
            <a:off x="490538" y="3086100"/>
            <a:ext cx="2771775" cy="1452563"/>
          </a:xfrm>
          <a:prstGeom prst="rect">
            <a:avLst/>
          </a:prstGeom>
          <a:noFill/>
          <a:ln>
            <a:noFill/>
          </a:ln>
        </p:spPr>
      </p:pic>
      <p:pic>
        <p:nvPicPr>
          <p:cNvPr descr="preencoded.png" id="321" name="Google Shape;321;g3fb8e08d9db_0_256"/>
          <p:cNvPicPr preferRelativeResize="0"/>
          <p:nvPr/>
        </p:nvPicPr>
        <p:blipFill rotWithShape="1">
          <a:blip r:embed="rId3">
            <a:alphaModFix/>
          </a:blip>
          <a:srcRect b="0" l="0" r="0" t="0"/>
          <a:stretch/>
        </p:blipFill>
        <p:spPr>
          <a:xfrm>
            <a:off x="3186113" y="3086100"/>
            <a:ext cx="2771775" cy="1452563"/>
          </a:xfrm>
          <a:prstGeom prst="rect">
            <a:avLst/>
          </a:prstGeom>
          <a:noFill/>
          <a:ln>
            <a:noFill/>
          </a:ln>
        </p:spPr>
      </p:pic>
      <p:pic>
        <p:nvPicPr>
          <p:cNvPr descr="preencoded.png" id="322" name="Google Shape;322;g3fb8e08d9db_0_256"/>
          <p:cNvPicPr preferRelativeResize="0"/>
          <p:nvPr/>
        </p:nvPicPr>
        <p:blipFill rotWithShape="1">
          <a:blip r:embed="rId4">
            <a:alphaModFix/>
          </a:blip>
          <a:srcRect b="0" l="0" r="0" t="0"/>
          <a:stretch/>
        </p:blipFill>
        <p:spPr>
          <a:xfrm>
            <a:off x="5881688" y="3086100"/>
            <a:ext cx="2776538" cy="1452563"/>
          </a:xfrm>
          <a:prstGeom prst="rect">
            <a:avLst/>
          </a:prstGeom>
          <a:noFill/>
          <a:ln>
            <a:noFill/>
          </a:ln>
        </p:spPr>
      </p:pic>
      <p:sp>
        <p:nvSpPr>
          <p:cNvPr id="323" name="Google Shape;323;g3fb8e08d9db_0_256"/>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324" name="Google Shape;324;g3fb8e08d9db_0_256"/>
          <p:cNvSpPr/>
          <p:nvPr/>
        </p:nvSpPr>
        <p:spPr>
          <a:xfrm>
            <a:off x="3143250" y="1052513"/>
            <a:ext cx="4376700" cy="428700"/>
          </a:xfrm>
          <a:prstGeom prst="rect">
            <a:avLst/>
          </a:prstGeom>
          <a:noFill/>
          <a:ln>
            <a:noFill/>
          </a:ln>
        </p:spPr>
        <p:txBody>
          <a:bodyPr anchorCtr="0" anchor="t" bIns="0" lIns="0" spcFirstLastPara="1" rIns="0" wrap="square" tIns="0">
            <a:noAutofit/>
          </a:bodyPr>
          <a:lstStyle/>
          <a:p>
            <a:pPr indent="0" lvl="0" marL="0" marR="0" rtl="0" algn="l">
              <a:lnSpc>
                <a:spcPct val="105822"/>
              </a:lnSpc>
              <a:spcBef>
                <a:spcPts val="0"/>
              </a:spcBef>
              <a:spcAft>
                <a:spcPts val="0"/>
              </a:spcAft>
              <a:buClr>
                <a:srgbClr val="000000"/>
              </a:buClr>
              <a:buSzPts val="1100"/>
              <a:buFont typeface="Montserrat Medium"/>
              <a:buNone/>
            </a:pPr>
            <a:r>
              <a:rPr b="0" i="0" lang="en-US" sz="1100" u="none" cap="none" strike="noStrike">
                <a:solidFill>
                  <a:srgbClr val="000033"/>
                </a:solidFill>
                <a:latin typeface="Montserrat Medium"/>
                <a:ea typeface="Montserrat Medium"/>
                <a:cs typeface="Montserrat Medium"/>
                <a:sym typeface="Montserrat Medium"/>
              </a:rPr>
              <a:t>+100 empresas líderes en 15 sectores confían en NEO para transformar su negocio con data e inteligencia artificial. </a:t>
            </a:r>
            <a:endParaRPr b="0" i="0" sz="1100" u="none" cap="none" strike="noStrike">
              <a:solidFill>
                <a:schemeClr val="dk1"/>
              </a:solidFill>
              <a:latin typeface="Calibri"/>
              <a:ea typeface="Calibri"/>
              <a:cs typeface="Calibri"/>
              <a:sym typeface="Calibri"/>
            </a:endParaRPr>
          </a:p>
        </p:txBody>
      </p:sp>
      <p:sp>
        <p:nvSpPr>
          <p:cNvPr id="325" name="Google Shape;325;g3fb8e08d9db_0_256"/>
          <p:cNvSpPr/>
          <p:nvPr/>
        </p:nvSpPr>
        <p:spPr>
          <a:xfrm>
            <a:off x="671513" y="1038225"/>
            <a:ext cx="17946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TRACK RECORD </a:t>
            </a:r>
            <a:endParaRPr b="0" i="0" sz="1100" u="none" cap="none" strike="noStrike">
              <a:solidFill>
                <a:schemeClr val="dk1"/>
              </a:solidFill>
              <a:latin typeface="Calibri"/>
              <a:ea typeface="Calibri"/>
              <a:cs typeface="Calibri"/>
              <a:sym typeface="Calibri"/>
            </a:endParaRPr>
          </a:p>
        </p:txBody>
      </p:sp>
      <p:sp>
        <p:nvSpPr>
          <p:cNvPr id="326" name="Google Shape;326;g3fb8e08d9db_0_256"/>
          <p:cNvSpPr/>
          <p:nvPr/>
        </p:nvSpPr>
        <p:spPr>
          <a:xfrm>
            <a:off x="671513" y="1214438"/>
            <a:ext cx="2414700" cy="2763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000033"/>
              </a:buClr>
              <a:buSzPts val="1800"/>
              <a:buFont typeface="Montserrat ExtraBold"/>
              <a:buNone/>
            </a:pPr>
            <a:r>
              <a:rPr b="1" i="0" lang="en-US" sz="1800" u="none" cap="none" strike="noStrike">
                <a:solidFill>
                  <a:srgbClr val="000033"/>
                </a:solidFill>
                <a:latin typeface="Montserrat ExtraBold"/>
                <a:ea typeface="Montserrat ExtraBold"/>
                <a:cs typeface="Montserrat ExtraBold"/>
                <a:sym typeface="Montserrat ExtraBold"/>
              </a:rPr>
              <a:t>Nuestros </a:t>
            </a:r>
            <a:r>
              <a:rPr b="1" i="1" lang="en-US" sz="1800" u="none" cap="none" strike="noStrike">
                <a:solidFill>
                  <a:srgbClr val="2B5BFC"/>
                </a:solidFill>
                <a:latin typeface="Montserrat ExtraBold"/>
                <a:ea typeface="Montserrat ExtraBold"/>
                <a:cs typeface="Montserrat ExtraBold"/>
                <a:sym typeface="Montserrat ExtraBold"/>
              </a:rPr>
              <a:t>Clientes</a:t>
            </a:r>
            <a:r>
              <a:rPr b="1" i="0" lang="en-US" sz="1800" u="none" cap="none" strike="noStrike">
                <a:solidFill>
                  <a:srgbClr val="000033"/>
                </a:solidFill>
                <a:latin typeface="Montserrat ExtraBold"/>
                <a:ea typeface="Montserrat ExtraBold"/>
                <a:cs typeface="Montserrat ExtraBold"/>
                <a:sym typeface="Montserrat ExtraBold"/>
              </a:rPr>
              <a:t> </a:t>
            </a:r>
            <a:endParaRPr b="0" i="0" sz="1800" u="none" cap="none" strike="noStrike">
              <a:solidFill>
                <a:schemeClr val="dk1"/>
              </a:solidFill>
              <a:latin typeface="Calibri"/>
              <a:ea typeface="Calibri"/>
              <a:cs typeface="Calibri"/>
              <a:sym typeface="Calibri"/>
            </a:endParaRPr>
          </a:p>
        </p:txBody>
      </p:sp>
      <p:sp>
        <p:nvSpPr>
          <p:cNvPr id="327" name="Google Shape;327;g3fb8e08d9db_0_256"/>
          <p:cNvSpPr/>
          <p:nvPr/>
        </p:nvSpPr>
        <p:spPr>
          <a:xfrm>
            <a:off x="690563" y="1738313"/>
            <a:ext cx="24957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ExtraBold"/>
              <a:buNone/>
            </a:pPr>
            <a:r>
              <a:rPr b="1" i="0" lang="en-US" sz="1100" u="none" cap="none" strike="noStrike">
                <a:solidFill>
                  <a:srgbClr val="2B5BFC"/>
                </a:solidFill>
                <a:latin typeface="Montserrat ExtraBold"/>
                <a:ea typeface="Montserrat ExtraBold"/>
                <a:cs typeface="Montserrat ExtraBold"/>
                <a:sym typeface="Montserrat ExtraBold"/>
              </a:rPr>
              <a:t>BANCA, SEGUROS &amp; FINANZAS </a:t>
            </a:r>
            <a:endParaRPr b="0" i="0" sz="1100" u="none" cap="none" strike="noStrike">
              <a:solidFill>
                <a:schemeClr val="dk1"/>
              </a:solidFill>
              <a:latin typeface="Calibri"/>
              <a:ea typeface="Calibri"/>
              <a:cs typeface="Calibri"/>
              <a:sym typeface="Calibri"/>
            </a:endParaRPr>
          </a:p>
        </p:txBody>
      </p:sp>
      <p:sp>
        <p:nvSpPr>
          <p:cNvPr id="328" name="Google Shape;328;g3fb8e08d9db_0_256"/>
          <p:cNvSpPr/>
          <p:nvPr/>
        </p:nvSpPr>
        <p:spPr>
          <a:xfrm>
            <a:off x="3386138" y="1738313"/>
            <a:ext cx="24957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ExtraBold"/>
              <a:buNone/>
            </a:pPr>
            <a:r>
              <a:rPr b="1" i="0" lang="en-US" sz="1100" u="none" cap="none" strike="noStrike">
                <a:solidFill>
                  <a:srgbClr val="2B5BFC"/>
                </a:solidFill>
                <a:latin typeface="Montserrat ExtraBold"/>
                <a:ea typeface="Montserrat ExtraBold"/>
                <a:cs typeface="Montserrat ExtraBold"/>
                <a:sym typeface="Montserrat ExtraBold"/>
              </a:rPr>
              <a:t>RETAIL &amp; COMERCIO </a:t>
            </a:r>
            <a:endParaRPr b="0" i="0" sz="1100" u="none" cap="none" strike="noStrike">
              <a:solidFill>
                <a:schemeClr val="dk1"/>
              </a:solidFill>
              <a:latin typeface="Calibri"/>
              <a:ea typeface="Calibri"/>
              <a:cs typeface="Calibri"/>
              <a:sym typeface="Calibri"/>
            </a:endParaRPr>
          </a:p>
        </p:txBody>
      </p:sp>
      <p:sp>
        <p:nvSpPr>
          <p:cNvPr id="329" name="Google Shape;329;g3fb8e08d9db_0_256"/>
          <p:cNvSpPr/>
          <p:nvPr/>
        </p:nvSpPr>
        <p:spPr>
          <a:xfrm>
            <a:off x="6081713" y="1738313"/>
            <a:ext cx="25002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ExtraBold"/>
              <a:buNone/>
            </a:pPr>
            <a:r>
              <a:rPr b="1" i="0" lang="en-US" sz="1100" u="none" cap="none" strike="noStrike">
                <a:solidFill>
                  <a:srgbClr val="2B5BFC"/>
                </a:solidFill>
                <a:latin typeface="Montserrat ExtraBold"/>
                <a:ea typeface="Montserrat ExtraBold"/>
                <a:cs typeface="Montserrat ExtraBold"/>
                <a:sym typeface="Montserrat ExtraBold"/>
              </a:rPr>
              <a:t>CONSUMO MASIVO &amp; BELLEZA </a:t>
            </a:r>
            <a:endParaRPr b="0" i="0" sz="1100" u="none" cap="none" strike="noStrike">
              <a:solidFill>
                <a:schemeClr val="dk1"/>
              </a:solidFill>
              <a:latin typeface="Calibri"/>
              <a:ea typeface="Calibri"/>
              <a:cs typeface="Calibri"/>
              <a:sym typeface="Calibri"/>
            </a:endParaRPr>
          </a:p>
        </p:txBody>
      </p:sp>
      <p:sp>
        <p:nvSpPr>
          <p:cNvPr id="330" name="Google Shape;330;g3fb8e08d9db_0_256"/>
          <p:cNvSpPr/>
          <p:nvPr/>
        </p:nvSpPr>
        <p:spPr>
          <a:xfrm>
            <a:off x="690563" y="3219450"/>
            <a:ext cx="24957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ExtraBold"/>
              <a:buNone/>
            </a:pPr>
            <a:r>
              <a:rPr b="1" i="0" lang="en-US" sz="1100" u="none" cap="none" strike="noStrike">
                <a:solidFill>
                  <a:srgbClr val="2B5BFC"/>
                </a:solidFill>
                <a:latin typeface="Montserrat ExtraBold"/>
                <a:ea typeface="Montserrat ExtraBold"/>
                <a:cs typeface="Montserrat ExtraBold"/>
                <a:sym typeface="Montserrat ExtraBold"/>
              </a:rPr>
              <a:t>TELECOM &amp; TECNOLOGÍA </a:t>
            </a:r>
            <a:endParaRPr b="0" i="0" sz="1100" u="none" cap="none" strike="noStrike">
              <a:solidFill>
                <a:schemeClr val="dk1"/>
              </a:solidFill>
              <a:latin typeface="Calibri"/>
              <a:ea typeface="Calibri"/>
              <a:cs typeface="Calibri"/>
              <a:sym typeface="Calibri"/>
            </a:endParaRPr>
          </a:p>
        </p:txBody>
      </p:sp>
      <p:sp>
        <p:nvSpPr>
          <p:cNvPr id="331" name="Google Shape;331;g3fb8e08d9db_0_256"/>
          <p:cNvSpPr/>
          <p:nvPr/>
        </p:nvSpPr>
        <p:spPr>
          <a:xfrm>
            <a:off x="3386138" y="3219450"/>
            <a:ext cx="24957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ExtraBold"/>
              <a:buNone/>
            </a:pPr>
            <a:r>
              <a:rPr b="1" i="0" lang="en-US" sz="1100" u="none" cap="none" strike="noStrike">
                <a:solidFill>
                  <a:srgbClr val="2B5BFC"/>
                </a:solidFill>
                <a:latin typeface="Montserrat ExtraBold"/>
                <a:ea typeface="Montserrat ExtraBold"/>
                <a:cs typeface="Montserrat ExtraBold"/>
                <a:sym typeface="Montserrat ExtraBold"/>
              </a:rPr>
              <a:t>SALUD &amp; EDUCACIÓN </a:t>
            </a:r>
            <a:endParaRPr b="0" i="0" sz="1100" u="none" cap="none" strike="noStrike">
              <a:solidFill>
                <a:schemeClr val="dk1"/>
              </a:solidFill>
              <a:latin typeface="Calibri"/>
              <a:ea typeface="Calibri"/>
              <a:cs typeface="Calibri"/>
              <a:sym typeface="Calibri"/>
            </a:endParaRPr>
          </a:p>
        </p:txBody>
      </p:sp>
      <p:sp>
        <p:nvSpPr>
          <p:cNvPr id="332" name="Google Shape;332;g3fb8e08d9db_0_256"/>
          <p:cNvSpPr/>
          <p:nvPr/>
        </p:nvSpPr>
        <p:spPr>
          <a:xfrm>
            <a:off x="6019850" y="3221925"/>
            <a:ext cx="2500200" cy="1452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ExtraBold"/>
              <a:buNone/>
            </a:pPr>
            <a:r>
              <a:rPr b="1" i="0" lang="en-US" sz="1100" u="none" cap="none" strike="noStrike">
                <a:solidFill>
                  <a:srgbClr val="2B5BFC"/>
                </a:solidFill>
                <a:latin typeface="Montserrat ExtraBold"/>
                <a:ea typeface="Montserrat ExtraBold"/>
                <a:cs typeface="Montserrat ExtraBold"/>
                <a:sym typeface="Montserrat ExtraBold"/>
              </a:rPr>
              <a:t>INDUSTRIA, MEDIOS &amp; SERVICIOS </a:t>
            </a:r>
            <a:endParaRPr b="0" i="0" sz="1100" u="none" cap="none" strike="noStrike">
              <a:solidFill>
                <a:schemeClr val="dk1"/>
              </a:solidFill>
              <a:latin typeface="Calibri"/>
              <a:ea typeface="Calibri"/>
              <a:cs typeface="Calibri"/>
              <a:sym typeface="Calibri"/>
            </a:endParaRPr>
          </a:p>
        </p:txBody>
      </p:sp>
      <p:pic>
        <p:nvPicPr>
          <p:cNvPr id="333" name="Google Shape;333;g3fb8e08d9db_0_256"/>
          <p:cNvPicPr preferRelativeResize="0"/>
          <p:nvPr/>
        </p:nvPicPr>
        <p:blipFill rotWithShape="1">
          <a:blip r:embed="rId5">
            <a:alphaModFix/>
          </a:blip>
          <a:srcRect b="0" l="0" r="0" t="0"/>
          <a:stretch/>
        </p:blipFill>
        <p:spPr>
          <a:xfrm>
            <a:off x="865204" y="2043472"/>
            <a:ext cx="535765" cy="136724"/>
          </a:xfrm>
          <a:prstGeom prst="rect">
            <a:avLst/>
          </a:prstGeom>
          <a:noFill/>
          <a:ln>
            <a:noFill/>
          </a:ln>
        </p:spPr>
      </p:pic>
      <p:pic>
        <p:nvPicPr>
          <p:cNvPr id="334" name="Google Shape;334;g3fb8e08d9db_0_256"/>
          <p:cNvPicPr preferRelativeResize="0"/>
          <p:nvPr/>
        </p:nvPicPr>
        <p:blipFill rotWithShape="1">
          <a:blip r:embed="rId6">
            <a:alphaModFix/>
          </a:blip>
          <a:srcRect b="0" l="0" r="0" t="0"/>
          <a:stretch/>
        </p:blipFill>
        <p:spPr>
          <a:xfrm>
            <a:off x="1515203" y="2026763"/>
            <a:ext cx="520563" cy="163738"/>
          </a:xfrm>
          <a:prstGeom prst="rect">
            <a:avLst/>
          </a:prstGeom>
          <a:noFill/>
          <a:ln>
            <a:noFill/>
          </a:ln>
        </p:spPr>
      </p:pic>
      <p:pic>
        <p:nvPicPr>
          <p:cNvPr id="335" name="Google Shape;335;g3fb8e08d9db_0_256"/>
          <p:cNvPicPr preferRelativeResize="0"/>
          <p:nvPr/>
        </p:nvPicPr>
        <p:blipFill rotWithShape="1">
          <a:blip r:embed="rId7">
            <a:alphaModFix/>
          </a:blip>
          <a:srcRect b="0" l="0" r="0" t="0"/>
          <a:stretch/>
        </p:blipFill>
        <p:spPr>
          <a:xfrm>
            <a:off x="881767" y="2269021"/>
            <a:ext cx="634855" cy="331903"/>
          </a:xfrm>
          <a:prstGeom prst="rect">
            <a:avLst/>
          </a:prstGeom>
          <a:noFill/>
          <a:ln>
            <a:noFill/>
          </a:ln>
        </p:spPr>
      </p:pic>
      <p:pic>
        <p:nvPicPr>
          <p:cNvPr id="336" name="Google Shape;336;g3fb8e08d9db_0_256"/>
          <p:cNvPicPr preferRelativeResize="0"/>
          <p:nvPr/>
        </p:nvPicPr>
        <p:blipFill rotWithShape="1">
          <a:blip r:embed="rId8">
            <a:alphaModFix/>
          </a:blip>
          <a:srcRect b="0" l="0" r="0" t="0"/>
          <a:stretch/>
        </p:blipFill>
        <p:spPr>
          <a:xfrm>
            <a:off x="2150005" y="1995375"/>
            <a:ext cx="727248" cy="226505"/>
          </a:xfrm>
          <a:prstGeom prst="rect">
            <a:avLst/>
          </a:prstGeom>
          <a:noFill/>
          <a:ln>
            <a:noFill/>
          </a:ln>
        </p:spPr>
      </p:pic>
      <p:pic>
        <p:nvPicPr>
          <p:cNvPr id="337" name="Google Shape;337;g3fb8e08d9db_0_256"/>
          <p:cNvPicPr preferRelativeResize="0"/>
          <p:nvPr/>
        </p:nvPicPr>
        <p:blipFill rotWithShape="1">
          <a:blip r:embed="rId9">
            <a:alphaModFix/>
          </a:blip>
          <a:srcRect b="0" l="0" r="0" t="0"/>
          <a:stretch/>
        </p:blipFill>
        <p:spPr>
          <a:xfrm>
            <a:off x="1622104" y="2308271"/>
            <a:ext cx="425080" cy="226507"/>
          </a:xfrm>
          <a:prstGeom prst="rect">
            <a:avLst/>
          </a:prstGeom>
          <a:noFill/>
          <a:ln>
            <a:noFill/>
          </a:ln>
        </p:spPr>
      </p:pic>
      <p:pic>
        <p:nvPicPr>
          <p:cNvPr id="338" name="Google Shape;338;g3fb8e08d9db_0_256"/>
          <p:cNvPicPr preferRelativeResize="0"/>
          <p:nvPr/>
        </p:nvPicPr>
        <p:blipFill rotWithShape="1">
          <a:blip r:embed="rId10">
            <a:alphaModFix/>
          </a:blip>
          <a:srcRect b="0" l="0" r="0" t="0"/>
          <a:stretch/>
        </p:blipFill>
        <p:spPr>
          <a:xfrm>
            <a:off x="2152672" y="2330112"/>
            <a:ext cx="734991" cy="253373"/>
          </a:xfrm>
          <a:prstGeom prst="rect">
            <a:avLst/>
          </a:prstGeom>
          <a:noFill/>
          <a:ln>
            <a:noFill/>
          </a:ln>
        </p:spPr>
      </p:pic>
      <p:pic>
        <p:nvPicPr>
          <p:cNvPr id="339" name="Google Shape;339;g3fb8e08d9db_0_256"/>
          <p:cNvPicPr preferRelativeResize="0"/>
          <p:nvPr/>
        </p:nvPicPr>
        <p:blipFill rotWithShape="1">
          <a:blip r:embed="rId11">
            <a:alphaModFix/>
          </a:blip>
          <a:srcRect b="37814" l="2268" r="3232" t="40187"/>
          <a:stretch/>
        </p:blipFill>
        <p:spPr>
          <a:xfrm>
            <a:off x="895026" y="2641418"/>
            <a:ext cx="843625" cy="196382"/>
          </a:xfrm>
          <a:prstGeom prst="rect">
            <a:avLst/>
          </a:prstGeom>
          <a:noFill/>
          <a:ln>
            <a:noFill/>
          </a:ln>
        </p:spPr>
      </p:pic>
      <p:pic>
        <p:nvPicPr>
          <p:cNvPr id="340" name="Google Shape;340;g3fb8e08d9db_0_256"/>
          <p:cNvPicPr preferRelativeResize="0"/>
          <p:nvPr/>
        </p:nvPicPr>
        <p:blipFill rotWithShape="1">
          <a:blip r:embed="rId12">
            <a:alphaModFix/>
          </a:blip>
          <a:srcRect b="0" l="0" r="0" t="0"/>
          <a:stretch/>
        </p:blipFill>
        <p:spPr>
          <a:xfrm>
            <a:off x="1912875" y="2641418"/>
            <a:ext cx="964368" cy="163734"/>
          </a:xfrm>
          <a:prstGeom prst="rect">
            <a:avLst/>
          </a:prstGeom>
          <a:noFill/>
          <a:ln>
            <a:noFill/>
          </a:ln>
        </p:spPr>
      </p:pic>
      <p:pic>
        <p:nvPicPr>
          <p:cNvPr id="341" name="Google Shape;341;g3fb8e08d9db_0_256"/>
          <p:cNvPicPr preferRelativeResize="0"/>
          <p:nvPr/>
        </p:nvPicPr>
        <p:blipFill rotWithShape="1">
          <a:blip r:embed="rId13">
            <a:alphaModFix/>
          </a:blip>
          <a:srcRect b="0" l="0" r="0" t="0"/>
          <a:stretch/>
        </p:blipFill>
        <p:spPr>
          <a:xfrm>
            <a:off x="3474250" y="2002262"/>
            <a:ext cx="714419" cy="279042"/>
          </a:xfrm>
          <a:prstGeom prst="rect">
            <a:avLst/>
          </a:prstGeom>
          <a:noFill/>
          <a:ln>
            <a:noFill/>
          </a:ln>
        </p:spPr>
      </p:pic>
      <p:pic>
        <p:nvPicPr>
          <p:cNvPr id="342" name="Google Shape;342;g3fb8e08d9db_0_256"/>
          <p:cNvPicPr preferRelativeResize="0"/>
          <p:nvPr/>
        </p:nvPicPr>
        <p:blipFill rotWithShape="1">
          <a:blip r:embed="rId14">
            <a:alphaModFix/>
          </a:blip>
          <a:srcRect b="0" l="0" r="0" t="0"/>
          <a:stretch/>
        </p:blipFill>
        <p:spPr>
          <a:xfrm>
            <a:off x="4299885" y="1994602"/>
            <a:ext cx="714419" cy="265799"/>
          </a:xfrm>
          <a:prstGeom prst="rect">
            <a:avLst/>
          </a:prstGeom>
          <a:noFill/>
          <a:ln>
            <a:noFill/>
          </a:ln>
        </p:spPr>
      </p:pic>
      <p:pic>
        <p:nvPicPr>
          <p:cNvPr id="343" name="Google Shape;343;g3fb8e08d9db_0_256"/>
          <p:cNvPicPr preferRelativeResize="0"/>
          <p:nvPr/>
        </p:nvPicPr>
        <p:blipFill rotWithShape="1">
          <a:blip r:embed="rId15">
            <a:alphaModFix/>
          </a:blip>
          <a:srcRect b="0" l="0" r="0" t="0"/>
          <a:stretch/>
        </p:blipFill>
        <p:spPr>
          <a:xfrm>
            <a:off x="5098812" y="1981026"/>
            <a:ext cx="557165" cy="292948"/>
          </a:xfrm>
          <a:prstGeom prst="rect">
            <a:avLst/>
          </a:prstGeom>
          <a:noFill/>
          <a:ln>
            <a:noFill/>
          </a:ln>
        </p:spPr>
      </p:pic>
      <p:pic>
        <p:nvPicPr>
          <p:cNvPr id="344" name="Google Shape;344;g3fb8e08d9db_0_256"/>
          <p:cNvPicPr preferRelativeResize="0"/>
          <p:nvPr/>
        </p:nvPicPr>
        <p:blipFill rotWithShape="1">
          <a:blip r:embed="rId16">
            <a:alphaModFix/>
          </a:blip>
          <a:srcRect b="0" l="0" r="0" t="0"/>
          <a:stretch/>
        </p:blipFill>
        <p:spPr>
          <a:xfrm>
            <a:off x="3492622" y="2346739"/>
            <a:ext cx="1072874" cy="170100"/>
          </a:xfrm>
          <a:prstGeom prst="rect">
            <a:avLst/>
          </a:prstGeom>
          <a:noFill/>
          <a:ln>
            <a:noFill/>
          </a:ln>
        </p:spPr>
      </p:pic>
      <p:pic>
        <p:nvPicPr>
          <p:cNvPr id="345" name="Google Shape;345;g3fb8e08d9db_0_256"/>
          <p:cNvPicPr preferRelativeResize="0"/>
          <p:nvPr/>
        </p:nvPicPr>
        <p:blipFill rotWithShape="1">
          <a:blip r:embed="rId17">
            <a:alphaModFix/>
          </a:blip>
          <a:srcRect b="0" l="0" r="0" t="0"/>
          <a:stretch/>
        </p:blipFill>
        <p:spPr>
          <a:xfrm>
            <a:off x="4697245" y="2319724"/>
            <a:ext cx="972554" cy="224129"/>
          </a:xfrm>
          <a:prstGeom prst="rect">
            <a:avLst/>
          </a:prstGeom>
          <a:noFill/>
          <a:ln>
            <a:noFill/>
          </a:ln>
        </p:spPr>
      </p:pic>
      <p:pic>
        <p:nvPicPr>
          <p:cNvPr id="346" name="Google Shape;346;g3fb8e08d9db_0_256"/>
          <p:cNvPicPr preferRelativeResize="0"/>
          <p:nvPr/>
        </p:nvPicPr>
        <p:blipFill rotWithShape="1">
          <a:blip r:embed="rId18">
            <a:alphaModFix/>
          </a:blip>
          <a:srcRect b="0" l="0" r="0" t="0"/>
          <a:stretch/>
        </p:blipFill>
        <p:spPr>
          <a:xfrm>
            <a:off x="4646432" y="2631481"/>
            <a:ext cx="792442" cy="142989"/>
          </a:xfrm>
          <a:prstGeom prst="rect">
            <a:avLst/>
          </a:prstGeom>
          <a:noFill/>
          <a:ln>
            <a:noFill/>
          </a:ln>
        </p:spPr>
      </p:pic>
      <p:pic>
        <p:nvPicPr>
          <p:cNvPr id="347" name="Google Shape;347;g3fb8e08d9db_0_256"/>
          <p:cNvPicPr preferRelativeResize="0"/>
          <p:nvPr/>
        </p:nvPicPr>
        <p:blipFill rotWithShape="1">
          <a:blip r:embed="rId19">
            <a:alphaModFix/>
          </a:blip>
          <a:srcRect b="0" l="0" r="0" t="0"/>
          <a:stretch/>
        </p:blipFill>
        <p:spPr>
          <a:xfrm>
            <a:off x="3492640" y="2590918"/>
            <a:ext cx="979774" cy="224128"/>
          </a:xfrm>
          <a:prstGeom prst="rect">
            <a:avLst/>
          </a:prstGeom>
          <a:noFill/>
          <a:ln>
            <a:noFill/>
          </a:ln>
        </p:spPr>
      </p:pic>
      <p:pic>
        <p:nvPicPr>
          <p:cNvPr id="348" name="Google Shape;348;g3fb8e08d9db_0_256"/>
          <p:cNvPicPr preferRelativeResize="0"/>
          <p:nvPr/>
        </p:nvPicPr>
        <p:blipFill rotWithShape="1">
          <a:blip r:embed="rId20">
            <a:alphaModFix/>
          </a:blip>
          <a:srcRect b="10" l="23542" r="22953" t="-10"/>
          <a:stretch/>
        </p:blipFill>
        <p:spPr>
          <a:xfrm>
            <a:off x="7827175" y="1994599"/>
            <a:ext cx="464548" cy="488376"/>
          </a:xfrm>
          <a:prstGeom prst="rect">
            <a:avLst/>
          </a:prstGeom>
          <a:noFill/>
          <a:ln>
            <a:noFill/>
          </a:ln>
        </p:spPr>
      </p:pic>
      <p:pic>
        <p:nvPicPr>
          <p:cNvPr id="349" name="Google Shape;349;g3fb8e08d9db_0_256"/>
          <p:cNvPicPr preferRelativeResize="0"/>
          <p:nvPr/>
        </p:nvPicPr>
        <p:blipFill rotWithShape="1">
          <a:blip r:embed="rId21">
            <a:alphaModFix/>
          </a:blip>
          <a:srcRect b="0" l="0" r="0" t="0"/>
          <a:stretch/>
        </p:blipFill>
        <p:spPr>
          <a:xfrm>
            <a:off x="6788042" y="2017794"/>
            <a:ext cx="763434" cy="217698"/>
          </a:xfrm>
          <a:prstGeom prst="rect">
            <a:avLst/>
          </a:prstGeom>
          <a:noFill/>
          <a:ln>
            <a:noFill/>
          </a:ln>
        </p:spPr>
      </p:pic>
      <p:pic>
        <p:nvPicPr>
          <p:cNvPr id="350" name="Google Shape;350;g3fb8e08d9db_0_256"/>
          <p:cNvPicPr preferRelativeResize="0"/>
          <p:nvPr/>
        </p:nvPicPr>
        <p:blipFill rotWithShape="1">
          <a:blip r:embed="rId22">
            <a:alphaModFix/>
          </a:blip>
          <a:srcRect b="0" l="0" r="0" t="0"/>
          <a:stretch/>
        </p:blipFill>
        <p:spPr>
          <a:xfrm>
            <a:off x="7731050" y="2580662"/>
            <a:ext cx="691638" cy="125360"/>
          </a:xfrm>
          <a:prstGeom prst="rect">
            <a:avLst/>
          </a:prstGeom>
          <a:noFill/>
          <a:ln>
            <a:noFill/>
          </a:ln>
        </p:spPr>
      </p:pic>
      <p:pic>
        <p:nvPicPr>
          <p:cNvPr id="351" name="Google Shape;351;g3fb8e08d9db_0_256"/>
          <p:cNvPicPr preferRelativeResize="0"/>
          <p:nvPr/>
        </p:nvPicPr>
        <p:blipFill rotWithShape="1">
          <a:blip r:embed="rId23">
            <a:alphaModFix/>
          </a:blip>
          <a:srcRect b="21388" l="6969" r="7939" t="16018"/>
          <a:stretch/>
        </p:blipFill>
        <p:spPr>
          <a:xfrm>
            <a:off x="6203376" y="2408361"/>
            <a:ext cx="434714" cy="319749"/>
          </a:xfrm>
          <a:prstGeom prst="rect">
            <a:avLst/>
          </a:prstGeom>
          <a:noFill/>
          <a:ln>
            <a:noFill/>
          </a:ln>
        </p:spPr>
      </p:pic>
      <p:pic>
        <p:nvPicPr>
          <p:cNvPr id="352" name="Google Shape;352;g3fb8e08d9db_0_256"/>
          <p:cNvPicPr preferRelativeResize="0"/>
          <p:nvPr/>
        </p:nvPicPr>
        <p:blipFill rotWithShape="1">
          <a:blip r:embed="rId24">
            <a:alphaModFix/>
          </a:blip>
          <a:srcRect b="0" l="0" r="0" t="0"/>
          <a:stretch/>
        </p:blipFill>
        <p:spPr>
          <a:xfrm>
            <a:off x="6794393" y="2288506"/>
            <a:ext cx="750742" cy="141962"/>
          </a:xfrm>
          <a:prstGeom prst="rect">
            <a:avLst/>
          </a:prstGeom>
          <a:noFill/>
          <a:ln>
            <a:noFill/>
          </a:ln>
        </p:spPr>
      </p:pic>
      <p:pic>
        <p:nvPicPr>
          <p:cNvPr id="353" name="Google Shape;353;g3fb8e08d9db_0_256"/>
          <p:cNvPicPr preferRelativeResize="0"/>
          <p:nvPr/>
        </p:nvPicPr>
        <p:blipFill rotWithShape="1">
          <a:blip r:embed="rId25">
            <a:alphaModFix/>
          </a:blip>
          <a:srcRect b="8537" l="3901" r="4515" t="8254"/>
          <a:stretch/>
        </p:blipFill>
        <p:spPr>
          <a:xfrm>
            <a:off x="6228735" y="1995375"/>
            <a:ext cx="384006" cy="348849"/>
          </a:xfrm>
          <a:prstGeom prst="rect">
            <a:avLst/>
          </a:prstGeom>
          <a:noFill/>
          <a:ln>
            <a:noFill/>
          </a:ln>
        </p:spPr>
      </p:pic>
      <p:pic>
        <p:nvPicPr>
          <p:cNvPr id="354" name="Google Shape;354;g3fb8e08d9db_0_256"/>
          <p:cNvPicPr preferRelativeResize="0"/>
          <p:nvPr/>
        </p:nvPicPr>
        <p:blipFill rotWithShape="1">
          <a:blip r:embed="rId26">
            <a:alphaModFix/>
          </a:blip>
          <a:srcRect b="37573" l="0" r="0" t="37834"/>
          <a:stretch/>
        </p:blipFill>
        <p:spPr>
          <a:xfrm>
            <a:off x="6744998" y="2537192"/>
            <a:ext cx="849538" cy="208922"/>
          </a:xfrm>
          <a:prstGeom prst="rect">
            <a:avLst/>
          </a:prstGeom>
          <a:noFill/>
          <a:ln>
            <a:noFill/>
          </a:ln>
        </p:spPr>
      </p:pic>
      <p:pic>
        <p:nvPicPr>
          <p:cNvPr id="355" name="Google Shape;355;g3fb8e08d9db_0_256"/>
          <p:cNvPicPr preferRelativeResize="0"/>
          <p:nvPr/>
        </p:nvPicPr>
        <p:blipFill rotWithShape="1">
          <a:blip r:embed="rId27">
            <a:alphaModFix/>
          </a:blip>
          <a:srcRect b="0" l="0" r="0" t="0"/>
          <a:stretch/>
        </p:blipFill>
        <p:spPr>
          <a:xfrm>
            <a:off x="764101" y="3518325"/>
            <a:ext cx="763610" cy="276693"/>
          </a:xfrm>
          <a:prstGeom prst="rect">
            <a:avLst/>
          </a:prstGeom>
          <a:noFill/>
          <a:ln>
            <a:noFill/>
          </a:ln>
        </p:spPr>
      </p:pic>
      <p:pic>
        <p:nvPicPr>
          <p:cNvPr id="356" name="Google Shape;356;g3fb8e08d9db_0_256"/>
          <p:cNvPicPr preferRelativeResize="0"/>
          <p:nvPr/>
        </p:nvPicPr>
        <p:blipFill rotWithShape="1">
          <a:blip r:embed="rId28">
            <a:alphaModFix/>
          </a:blip>
          <a:srcRect b="0" l="0" r="0" t="0"/>
          <a:stretch/>
        </p:blipFill>
        <p:spPr>
          <a:xfrm>
            <a:off x="1662375" y="3523164"/>
            <a:ext cx="1086735" cy="265166"/>
          </a:xfrm>
          <a:prstGeom prst="rect">
            <a:avLst/>
          </a:prstGeom>
          <a:noFill/>
          <a:ln>
            <a:noFill/>
          </a:ln>
        </p:spPr>
      </p:pic>
      <p:pic>
        <p:nvPicPr>
          <p:cNvPr id="357" name="Google Shape;357;g3fb8e08d9db_0_256"/>
          <p:cNvPicPr preferRelativeResize="0"/>
          <p:nvPr/>
        </p:nvPicPr>
        <p:blipFill rotWithShape="1">
          <a:blip r:embed="rId29">
            <a:alphaModFix/>
          </a:blip>
          <a:srcRect b="0" l="0" r="0" t="0"/>
          <a:stretch/>
        </p:blipFill>
        <p:spPr>
          <a:xfrm>
            <a:off x="764101" y="3902836"/>
            <a:ext cx="1232892" cy="296665"/>
          </a:xfrm>
          <a:prstGeom prst="rect">
            <a:avLst/>
          </a:prstGeom>
          <a:noFill/>
          <a:ln>
            <a:noFill/>
          </a:ln>
        </p:spPr>
      </p:pic>
      <p:pic>
        <p:nvPicPr>
          <p:cNvPr id="358" name="Google Shape;358;g3fb8e08d9db_0_256"/>
          <p:cNvPicPr preferRelativeResize="0"/>
          <p:nvPr/>
        </p:nvPicPr>
        <p:blipFill rotWithShape="1">
          <a:blip r:embed="rId30">
            <a:alphaModFix/>
          </a:blip>
          <a:srcRect b="0" l="0" r="0" t="0"/>
          <a:stretch/>
        </p:blipFill>
        <p:spPr>
          <a:xfrm>
            <a:off x="2092126" y="3962305"/>
            <a:ext cx="838784" cy="177750"/>
          </a:xfrm>
          <a:prstGeom prst="rect">
            <a:avLst/>
          </a:prstGeom>
          <a:noFill/>
          <a:ln>
            <a:noFill/>
          </a:ln>
        </p:spPr>
      </p:pic>
      <p:pic>
        <p:nvPicPr>
          <p:cNvPr id="359" name="Google Shape;359;g3fb8e08d9db_0_256"/>
          <p:cNvPicPr preferRelativeResize="0"/>
          <p:nvPr/>
        </p:nvPicPr>
        <p:blipFill rotWithShape="1">
          <a:blip r:embed="rId31">
            <a:alphaModFix/>
          </a:blip>
          <a:srcRect b="0" l="0" r="0" t="0"/>
          <a:stretch/>
        </p:blipFill>
        <p:spPr>
          <a:xfrm>
            <a:off x="3419926" y="3492006"/>
            <a:ext cx="723469" cy="184973"/>
          </a:xfrm>
          <a:prstGeom prst="rect">
            <a:avLst/>
          </a:prstGeom>
          <a:noFill/>
          <a:ln>
            <a:noFill/>
          </a:ln>
        </p:spPr>
      </p:pic>
      <p:pic>
        <p:nvPicPr>
          <p:cNvPr id="360" name="Google Shape;360;g3fb8e08d9db_0_256"/>
          <p:cNvPicPr preferRelativeResize="0"/>
          <p:nvPr/>
        </p:nvPicPr>
        <p:blipFill rotWithShape="1">
          <a:blip r:embed="rId32">
            <a:alphaModFix/>
          </a:blip>
          <a:srcRect b="0" l="0" r="0" t="0"/>
          <a:stretch/>
        </p:blipFill>
        <p:spPr>
          <a:xfrm>
            <a:off x="4208060" y="3493173"/>
            <a:ext cx="732743" cy="182624"/>
          </a:xfrm>
          <a:prstGeom prst="rect">
            <a:avLst/>
          </a:prstGeom>
          <a:noFill/>
          <a:ln>
            <a:noFill/>
          </a:ln>
        </p:spPr>
      </p:pic>
      <p:pic>
        <p:nvPicPr>
          <p:cNvPr id="361" name="Google Shape;361;g3fb8e08d9db_0_256"/>
          <p:cNvPicPr preferRelativeResize="0"/>
          <p:nvPr/>
        </p:nvPicPr>
        <p:blipFill rotWithShape="1">
          <a:blip r:embed="rId33">
            <a:alphaModFix/>
          </a:blip>
          <a:srcRect b="0" l="0" r="0" t="0"/>
          <a:stretch/>
        </p:blipFill>
        <p:spPr>
          <a:xfrm>
            <a:off x="5013171" y="3461644"/>
            <a:ext cx="727654" cy="222564"/>
          </a:xfrm>
          <a:prstGeom prst="rect">
            <a:avLst/>
          </a:prstGeom>
          <a:noFill/>
          <a:ln>
            <a:noFill/>
          </a:ln>
        </p:spPr>
      </p:pic>
      <p:pic>
        <p:nvPicPr>
          <p:cNvPr id="362" name="Google Shape;362;g3fb8e08d9db_0_256"/>
          <p:cNvPicPr preferRelativeResize="0"/>
          <p:nvPr/>
        </p:nvPicPr>
        <p:blipFill rotWithShape="1">
          <a:blip r:embed="rId34">
            <a:alphaModFix/>
          </a:blip>
          <a:srcRect b="51161" l="-624" r="0" t="-784"/>
          <a:stretch/>
        </p:blipFill>
        <p:spPr>
          <a:xfrm>
            <a:off x="3413956" y="3758032"/>
            <a:ext cx="737490" cy="129287"/>
          </a:xfrm>
          <a:prstGeom prst="rect">
            <a:avLst/>
          </a:prstGeom>
          <a:noFill/>
          <a:ln>
            <a:noFill/>
          </a:ln>
        </p:spPr>
      </p:pic>
      <p:pic>
        <p:nvPicPr>
          <p:cNvPr id="363" name="Google Shape;363;g3fb8e08d9db_0_256"/>
          <p:cNvPicPr preferRelativeResize="0"/>
          <p:nvPr/>
        </p:nvPicPr>
        <p:blipFill rotWithShape="1">
          <a:blip r:embed="rId35">
            <a:alphaModFix/>
          </a:blip>
          <a:srcRect b="14613" l="5819" r="3123" t="19856"/>
          <a:stretch/>
        </p:blipFill>
        <p:spPr>
          <a:xfrm>
            <a:off x="4208050" y="3758020"/>
            <a:ext cx="782976" cy="173150"/>
          </a:xfrm>
          <a:prstGeom prst="rect">
            <a:avLst/>
          </a:prstGeom>
          <a:noFill/>
          <a:ln>
            <a:noFill/>
          </a:ln>
        </p:spPr>
      </p:pic>
      <p:pic>
        <p:nvPicPr>
          <p:cNvPr id="364" name="Google Shape;364;g3fb8e08d9db_0_256"/>
          <p:cNvPicPr preferRelativeResize="0"/>
          <p:nvPr/>
        </p:nvPicPr>
        <p:blipFill rotWithShape="1">
          <a:blip r:embed="rId36">
            <a:alphaModFix/>
          </a:blip>
          <a:srcRect b="20058" l="0" r="0" t="19196"/>
          <a:stretch/>
        </p:blipFill>
        <p:spPr>
          <a:xfrm>
            <a:off x="5094187" y="3740663"/>
            <a:ext cx="607815" cy="192976"/>
          </a:xfrm>
          <a:prstGeom prst="rect">
            <a:avLst/>
          </a:prstGeom>
          <a:noFill/>
          <a:ln>
            <a:noFill/>
          </a:ln>
        </p:spPr>
      </p:pic>
      <p:pic>
        <p:nvPicPr>
          <p:cNvPr id="365" name="Google Shape;365;g3fb8e08d9db_0_256"/>
          <p:cNvPicPr preferRelativeResize="0"/>
          <p:nvPr/>
        </p:nvPicPr>
        <p:blipFill rotWithShape="1">
          <a:blip r:embed="rId37">
            <a:alphaModFix/>
          </a:blip>
          <a:srcRect b="37764" l="0" r="0" t="38972"/>
          <a:stretch/>
        </p:blipFill>
        <p:spPr>
          <a:xfrm>
            <a:off x="3419923" y="4034743"/>
            <a:ext cx="623867" cy="145136"/>
          </a:xfrm>
          <a:prstGeom prst="rect">
            <a:avLst/>
          </a:prstGeom>
          <a:noFill/>
          <a:ln>
            <a:noFill/>
          </a:ln>
        </p:spPr>
      </p:pic>
      <p:pic>
        <p:nvPicPr>
          <p:cNvPr id="366" name="Google Shape;366;g3fb8e08d9db_0_256"/>
          <p:cNvPicPr preferRelativeResize="0"/>
          <p:nvPr/>
        </p:nvPicPr>
        <p:blipFill rotWithShape="1">
          <a:blip r:embed="rId38">
            <a:alphaModFix/>
          </a:blip>
          <a:srcRect b="22704" l="0" r="0" t="23084"/>
          <a:stretch/>
        </p:blipFill>
        <p:spPr>
          <a:xfrm>
            <a:off x="4217718" y="3990110"/>
            <a:ext cx="884829" cy="205309"/>
          </a:xfrm>
          <a:prstGeom prst="rect">
            <a:avLst/>
          </a:prstGeom>
          <a:noFill/>
          <a:ln>
            <a:noFill/>
          </a:ln>
        </p:spPr>
      </p:pic>
      <p:pic>
        <p:nvPicPr>
          <p:cNvPr id="367" name="Google Shape;367;g3fb8e08d9db_0_256"/>
          <p:cNvPicPr preferRelativeResize="0"/>
          <p:nvPr/>
        </p:nvPicPr>
        <p:blipFill rotWithShape="1">
          <a:blip r:embed="rId39">
            <a:alphaModFix/>
          </a:blip>
          <a:srcRect b="30771" l="25863" r="25163" t="30371"/>
          <a:stretch/>
        </p:blipFill>
        <p:spPr>
          <a:xfrm>
            <a:off x="6137474" y="3468879"/>
            <a:ext cx="971443" cy="223181"/>
          </a:xfrm>
          <a:prstGeom prst="rect">
            <a:avLst/>
          </a:prstGeom>
          <a:noFill/>
          <a:ln>
            <a:noFill/>
          </a:ln>
        </p:spPr>
      </p:pic>
      <p:pic>
        <p:nvPicPr>
          <p:cNvPr id="368" name="Google Shape;368;g3fb8e08d9db_0_256"/>
          <p:cNvPicPr preferRelativeResize="0"/>
          <p:nvPr/>
        </p:nvPicPr>
        <p:blipFill rotWithShape="1">
          <a:blip r:embed="rId40">
            <a:alphaModFix/>
          </a:blip>
          <a:srcRect b="20333" l="4272" r="5016" t="20161"/>
          <a:stretch/>
        </p:blipFill>
        <p:spPr>
          <a:xfrm>
            <a:off x="7292717" y="3476901"/>
            <a:ext cx="1043316" cy="207146"/>
          </a:xfrm>
          <a:prstGeom prst="rect">
            <a:avLst/>
          </a:prstGeom>
          <a:noFill/>
          <a:ln>
            <a:noFill/>
          </a:ln>
        </p:spPr>
      </p:pic>
      <p:pic>
        <p:nvPicPr>
          <p:cNvPr id="369" name="Google Shape;369;g3fb8e08d9db_0_256"/>
          <p:cNvPicPr preferRelativeResize="0"/>
          <p:nvPr/>
        </p:nvPicPr>
        <p:blipFill rotWithShape="1">
          <a:blip r:embed="rId41">
            <a:alphaModFix/>
          </a:blip>
          <a:srcRect b="18913" l="3908" r="3491" t="15983"/>
          <a:stretch/>
        </p:blipFill>
        <p:spPr>
          <a:xfrm>
            <a:off x="6134400" y="3814688"/>
            <a:ext cx="1141516" cy="242666"/>
          </a:xfrm>
          <a:prstGeom prst="rect">
            <a:avLst/>
          </a:prstGeom>
          <a:noFill/>
          <a:ln>
            <a:noFill/>
          </a:ln>
        </p:spPr>
      </p:pic>
      <p:pic>
        <p:nvPicPr>
          <p:cNvPr id="370" name="Google Shape;370;g3fb8e08d9db_0_256"/>
          <p:cNvPicPr preferRelativeResize="0"/>
          <p:nvPr/>
        </p:nvPicPr>
        <p:blipFill rotWithShape="1">
          <a:blip r:embed="rId42">
            <a:alphaModFix/>
          </a:blip>
          <a:srcRect b="0" l="0" r="0" t="0"/>
          <a:stretch/>
        </p:blipFill>
        <p:spPr>
          <a:xfrm>
            <a:off x="7328036" y="3771360"/>
            <a:ext cx="1077464" cy="32932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375" name="Shape 375"/>
        <p:cNvGrpSpPr/>
        <p:nvPr/>
      </p:nvGrpSpPr>
      <p:grpSpPr>
        <a:xfrm>
          <a:off x="0" y="0"/>
          <a:ext cx="0" cy="0"/>
          <a:chOff x="0" y="0"/>
          <a:chExt cx="0" cy="0"/>
        </a:xfrm>
      </p:grpSpPr>
      <p:pic>
        <p:nvPicPr>
          <p:cNvPr descr="preencoded.png" id="376" name="Google Shape;376;g3fb8e08d9db_0_317"/>
          <p:cNvPicPr preferRelativeResize="0"/>
          <p:nvPr/>
        </p:nvPicPr>
        <p:blipFill rotWithShape="1">
          <a:blip r:embed="rId3">
            <a:alphaModFix/>
          </a:blip>
          <a:srcRect b="0" l="0" r="0" t="0"/>
          <a:stretch/>
        </p:blipFill>
        <p:spPr>
          <a:xfrm>
            <a:off x="0" y="0"/>
            <a:ext cx="9143998" cy="5143501"/>
          </a:xfrm>
          <a:prstGeom prst="rect">
            <a:avLst/>
          </a:prstGeom>
          <a:noFill/>
          <a:ln>
            <a:noFill/>
          </a:ln>
        </p:spPr>
      </p:pic>
      <p:pic>
        <p:nvPicPr>
          <p:cNvPr descr="preencoded.png" id="377" name="Google Shape;377;g3fb8e08d9db_0_317"/>
          <p:cNvPicPr preferRelativeResize="0"/>
          <p:nvPr/>
        </p:nvPicPr>
        <p:blipFill rotWithShape="1">
          <a:blip r:embed="rId4">
            <a:alphaModFix/>
          </a:blip>
          <a:srcRect b="0" l="0" r="0" t="0"/>
          <a:stretch/>
        </p:blipFill>
        <p:spPr>
          <a:xfrm>
            <a:off x="0" y="0"/>
            <a:ext cx="9143998" cy="5143501"/>
          </a:xfrm>
          <a:prstGeom prst="rect">
            <a:avLst/>
          </a:prstGeom>
          <a:noFill/>
          <a:ln>
            <a:noFill/>
          </a:ln>
        </p:spPr>
      </p:pic>
      <p:pic>
        <p:nvPicPr>
          <p:cNvPr descr="preencoded.png" id="378" name="Google Shape;378;g3fb8e08d9db_0_317"/>
          <p:cNvPicPr preferRelativeResize="0"/>
          <p:nvPr/>
        </p:nvPicPr>
        <p:blipFill rotWithShape="1">
          <a:blip r:embed="rId5">
            <a:alphaModFix amt="40000"/>
          </a:blip>
          <a:srcRect b="0" l="0" r="0" t="0"/>
          <a:stretch/>
        </p:blipFill>
        <p:spPr>
          <a:xfrm>
            <a:off x="0" y="0"/>
            <a:ext cx="9143998" cy="5143501"/>
          </a:xfrm>
          <a:prstGeom prst="rect">
            <a:avLst/>
          </a:prstGeom>
          <a:noFill/>
          <a:ln>
            <a:noFill/>
          </a:ln>
        </p:spPr>
      </p:pic>
      <p:pic>
        <p:nvPicPr>
          <p:cNvPr descr="preencoded.png" id="379" name="Google Shape;379;g3fb8e08d9db_0_317"/>
          <p:cNvPicPr preferRelativeResize="0"/>
          <p:nvPr/>
        </p:nvPicPr>
        <p:blipFill rotWithShape="1">
          <a:blip r:embed="rId6">
            <a:alphaModFix/>
          </a:blip>
          <a:srcRect b="0" l="0" r="0" t="0"/>
          <a:stretch/>
        </p:blipFill>
        <p:spPr>
          <a:xfrm>
            <a:off x="381000" y="398285"/>
            <a:ext cx="8382000" cy="387528"/>
          </a:xfrm>
          <a:prstGeom prst="rect">
            <a:avLst/>
          </a:prstGeom>
          <a:noFill/>
          <a:ln>
            <a:noFill/>
          </a:ln>
        </p:spPr>
      </p:pic>
      <p:pic>
        <p:nvPicPr>
          <p:cNvPr descr="preencoded.png" id="380" name="Google Shape;380;g3fb8e08d9db_0_317"/>
          <p:cNvPicPr preferRelativeResize="0"/>
          <p:nvPr/>
        </p:nvPicPr>
        <p:blipFill rotWithShape="1">
          <a:blip r:embed="rId7">
            <a:alphaModFix/>
          </a:blip>
          <a:srcRect b="0" l="0" r="0" t="0"/>
          <a:stretch/>
        </p:blipFill>
        <p:spPr>
          <a:xfrm>
            <a:off x="381000" y="1697473"/>
            <a:ext cx="8382000" cy="1093352"/>
          </a:xfrm>
          <a:prstGeom prst="rect">
            <a:avLst/>
          </a:prstGeom>
          <a:noFill/>
          <a:ln>
            <a:noFill/>
          </a:ln>
        </p:spPr>
      </p:pic>
      <p:sp>
        <p:nvSpPr>
          <p:cNvPr id="381" name="Google Shape;381;g3fb8e08d9db_0_317"/>
          <p:cNvSpPr/>
          <p:nvPr/>
        </p:nvSpPr>
        <p:spPr>
          <a:xfrm>
            <a:off x="5062408" y="505251"/>
            <a:ext cx="162000" cy="52500"/>
          </a:xfrm>
          <a:prstGeom prst="rect">
            <a:avLst/>
          </a:prstGeom>
          <a:noFill/>
          <a:ln>
            <a:noFill/>
          </a:ln>
        </p:spPr>
        <p:txBody>
          <a:bodyPr anchorCtr="0" anchor="t" bIns="0" lIns="0" spcFirstLastPara="1" rIns="0" wrap="square" tIns="0">
            <a:noAutofit/>
          </a:bodyPr>
          <a:lstStyle/>
          <a:p>
            <a:pPr indent="0" lvl="0" marL="0" marR="0" rtl="0" algn="l">
              <a:lnSpc>
                <a:spcPct val="88449"/>
              </a:lnSpc>
              <a:spcBef>
                <a:spcPts val="0"/>
              </a:spcBef>
              <a:spcAft>
                <a:spcPts val="0"/>
              </a:spcAft>
              <a:buClr>
                <a:srgbClr val="FFFFFF"/>
              </a:buClr>
              <a:buSzPts val="300"/>
              <a:buFont typeface="Montserrat SemiBold"/>
              <a:buNone/>
            </a:pPr>
            <a:r>
              <a:rPr b="1" i="0" lang="en-US" sz="300" u="none" cap="none" strike="noStrike">
                <a:solidFill>
                  <a:srgbClr val="FFFFFF"/>
                </a:solidFill>
                <a:latin typeface="Montserrat SemiBold"/>
                <a:ea typeface="Montserrat SemiBold"/>
                <a:cs typeface="Montserrat SemiBold"/>
                <a:sym typeface="Montserrat SemiBold"/>
              </a:rPr>
              <a:t>AÑOS </a:t>
            </a:r>
            <a:endParaRPr b="0" i="0" sz="300" u="none" cap="none" strike="noStrike">
              <a:solidFill>
                <a:schemeClr val="dk1"/>
              </a:solidFill>
              <a:latin typeface="Calibri"/>
              <a:ea typeface="Calibri"/>
              <a:cs typeface="Calibri"/>
              <a:sym typeface="Calibri"/>
            </a:endParaRPr>
          </a:p>
        </p:txBody>
      </p:sp>
      <p:sp>
        <p:nvSpPr>
          <p:cNvPr id="382" name="Google Shape;382;g3fb8e08d9db_0_317"/>
          <p:cNvSpPr/>
          <p:nvPr/>
        </p:nvSpPr>
        <p:spPr>
          <a:xfrm>
            <a:off x="561975" y="1666875"/>
            <a:ext cx="8015400" cy="790500"/>
          </a:xfrm>
          <a:prstGeom prst="rect">
            <a:avLst/>
          </a:prstGeom>
          <a:noFill/>
          <a:ln>
            <a:noFill/>
          </a:ln>
        </p:spPr>
        <p:txBody>
          <a:bodyPr anchorCtr="0" anchor="t" bIns="0" lIns="0" spcFirstLastPara="1" rIns="0" wrap="square" tIns="0">
            <a:noAutofit/>
          </a:bodyPr>
          <a:lstStyle/>
          <a:p>
            <a:pPr indent="0" lvl="0" marL="0" marR="0" rtl="0" algn="ctr">
              <a:lnSpc>
                <a:spcPct val="77600"/>
              </a:lnSpc>
              <a:spcBef>
                <a:spcPts val="0"/>
              </a:spcBef>
              <a:spcAft>
                <a:spcPts val="0"/>
              </a:spcAft>
              <a:buClr>
                <a:srgbClr val="FFFFFF"/>
              </a:buClr>
              <a:buSzPts val="2800"/>
              <a:buFont typeface="Montserrat Black"/>
              <a:buNone/>
            </a:pPr>
            <a:r>
              <a:rPr b="1" i="0" lang="en-US" sz="2800" u="none" cap="none" strike="noStrike">
                <a:solidFill>
                  <a:srgbClr val="FFFFFF"/>
                </a:solidFill>
                <a:latin typeface="Montserrat Black"/>
                <a:ea typeface="Montserrat Black"/>
                <a:cs typeface="Montserrat Black"/>
                <a:sym typeface="Montserrat Black"/>
              </a:rPr>
              <a:t>Incrementamos tus ventas digitales utilizando </a:t>
            </a:r>
            <a:r>
              <a:rPr b="1" i="1" lang="en-US" sz="2800" u="none" cap="none" strike="noStrike">
                <a:solidFill>
                  <a:srgbClr val="7E99FE"/>
                </a:solidFill>
                <a:latin typeface="Montserrat Black"/>
                <a:ea typeface="Montserrat Black"/>
                <a:cs typeface="Montserrat Black"/>
                <a:sym typeface="Montserrat Black"/>
              </a:rPr>
              <a:t>data e inteligencia artificial</a:t>
            </a:r>
            <a:r>
              <a:rPr b="1" i="0" lang="en-US" sz="2800" u="none" cap="none" strike="noStrike">
                <a:solidFill>
                  <a:srgbClr val="F1F0FF"/>
                </a:solidFill>
                <a:latin typeface="Montserrat Black"/>
                <a:ea typeface="Montserrat Black"/>
                <a:cs typeface="Montserrat Black"/>
                <a:sym typeface="Montserrat Black"/>
              </a:rPr>
              <a:t> </a:t>
            </a:r>
            <a:endParaRPr b="0" i="0" sz="2800" u="none" cap="none" strike="noStrike">
              <a:solidFill>
                <a:srgbClr val="F1F0FF"/>
              </a:solidFill>
              <a:latin typeface="Calibri"/>
              <a:ea typeface="Calibri"/>
              <a:cs typeface="Calibri"/>
              <a:sym typeface="Calibri"/>
            </a:endParaRPr>
          </a:p>
        </p:txBody>
      </p:sp>
      <p:sp>
        <p:nvSpPr>
          <p:cNvPr id="383" name="Google Shape;383;g3fb8e08d9db_0_317"/>
          <p:cNvSpPr/>
          <p:nvPr/>
        </p:nvSpPr>
        <p:spPr>
          <a:xfrm>
            <a:off x="3957638" y="4602957"/>
            <a:ext cx="12810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C5D5F7"/>
              </a:buClr>
              <a:buSzPts val="1100"/>
              <a:buFont typeface="Montserrat SemiBold"/>
              <a:buNone/>
            </a:pPr>
            <a:r>
              <a:rPr b="1" i="0" lang="en-US" sz="1100" u="none" cap="none" strike="noStrike">
                <a:solidFill>
                  <a:srgbClr val="C5D5F7"/>
                </a:solidFill>
                <a:latin typeface="Montserrat SemiBold"/>
                <a:ea typeface="Montserrat SemiBold"/>
                <a:cs typeface="Montserrat SemiBold"/>
                <a:sym typeface="Montserrat SemiBold"/>
              </a:rPr>
              <a:t>neoconsulting.ai </a:t>
            </a:r>
            <a:endParaRPr b="0" i="0" sz="1100" u="none" cap="none" strike="noStrike">
              <a:solidFill>
                <a:schemeClr val="dk1"/>
              </a:solidFill>
              <a:latin typeface="Calibri"/>
              <a:ea typeface="Calibri"/>
              <a:cs typeface="Calibri"/>
              <a:sym typeface="Calibri"/>
            </a:endParaRPr>
          </a:p>
        </p:txBody>
      </p:sp>
      <p:pic>
        <p:nvPicPr>
          <p:cNvPr id="384" name="Google Shape;384;g3fb8e08d9db_0_317" title="Íconos (33).png">
            <a:hlinkClick r:id="rId8"/>
          </p:cNvPr>
          <p:cNvPicPr preferRelativeResize="0"/>
          <p:nvPr/>
        </p:nvPicPr>
        <p:blipFill rotWithShape="1">
          <a:blip r:embed="rId9">
            <a:alphaModFix/>
          </a:blip>
          <a:srcRect b="0" l="0" r="0" t="0"/>
          <a:stretch/>
        </p:blipFill>
        <p:spPr>
          <a:xfrm>
            <a:off x="2983375" y="3185988"/>
            <a:ext cx="364426" cy="364426"/>
          </a:xfrm>
          <a:prstGeom prst="rect">
            <a:avLst/>
          </a:prstGeom>
          <a:noFill/>
          <a:ln>
            <a:noFill/>
          </a:ln>
        </p:spPr>
      </p:pic>
      <p:pic>
        <p:nvPicPr>
          <p:cNvPr id="385" name="Google Shape;385;g3fb8e08d9db_0_317" title="Íconos (37).png">
            <a:hlinkClick r:id="rId10"/>
          </p:cNvPr>
          <p:cNvPicPr preferRelativeResize="0"/>
          <p:nvPr/>
        </p:nvPicPr>
        <p:blipFill rotWithShape="1">
          <a:blip r:embed="rId11">
            <a:alphaModFix/>
          </a:blip>
          <a:srcRect b="15717" l="0" r="0" t="16537"/>
          <a:stretch/>
        </p:blipFill>
        <p:spPr>
          <a:xfrm>
            <a:off x="5617968" y="3185986"/>
            <a:ext cx="537907" cy="364426"/>
          </a:xfrm>
          <a:prstGeom prst="rect">
            <a:avLst/>
          </a:prstGeom>
          <a:noFill/>
          <a:ln>
            <a:noFill/>
          </a:ln>
        </p:spPr>
      </p:pic>
      <p:pic>
        <p:nvPicPr>
          <p:cNvPr id="386" name="Google Shape;386;g3fb8e08d9db_0_317" title="Íconos (38).png">
            <a:hlinkClick r:id="rId12"/>
          </p:cNvPr>
          <p:cNvPicPr preferRelativeResize="0"/>
          <p:nvPr/>
        </p:nvPicPr>
        <p:blipFill rotWithShape="1">
          <a:blip r:embed="rId13">
            <a:alphaModFix/>
          </a:blip>
          <a:srcRect b="0" l="0" r="0" t="0"/>
          <a:stretch/>
        </p:blipFill>
        <p:spPr>
          <a:xfrm>
            <a:off x="3803656" y="3142552"/>
            <a:ext cx="451302" cy="451302"/>
          </a:xfrm>
          <a:prstGeom prst="rect">
            <a:avLst/>
          </a:prstGeom>
          <a:noFill/>
          <a:ln>
            <a:noFill/>
          </a:ln>
        </p:spPr>
      </p:pic>
      <p:pic>
        <p:nvPicPr>
          <p:cNvPr id="387" name="Google Shape;387;g3fb8e08d9db_0_317" title="Íconos (39).png">
            <a:hlinkClick r:id="rId14"/>
          </p:cNvPr>
          <p:cNvPicPr preferRelativeResize="0"/>
          <p:nvPr/>
        </p:nvPicPr>
        <p:blipFill rotWithShape="1">
          <a:blip r:embed="rId15">
            <a:alphaModFix/>
          </a:blip>
          <a:srcRect b="0" l="0" r="0" t="0"/>
          <a:stretch/>
        </p:blipFill>
        <p:spPr>
          <a:xfrm>
            <a:off x="4710812" y="3142558"/>
            <a:ext cx="451302" cy="45127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