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5143500" cx="9144000"/>
  <p:notesSz cx="5143500" cy="9144000"/>
  <p:embeddedFontLst>
    <p:embeddedFont>
      <p:font typeface="Montserrat SemiBold"/>
      <p:regular r:id="rId48"/>
      <p:bold r:id="rId49"/>
      <p:italic r:id="rId50"/>
      <p:boldItalic r:id="rId51"/>
    </p:embeddedFont>
    <p:embeddedFont>
      <p:font typeface="Montserrat"/>
      <p:regular r:id="rId52"/>
      <p:bold r:id="rId53"/>
      <p:italic r:id="rId54"/>
      <p:boldItalic r:id="rId55"/>
    </p:embeddedFont>
    <p:embeddedFont>
      <p:font typeface="Montserrat Black"/>
      <p:bold r:id="rId56"/>
      <p:boldItalic r:id="rId57"/>
    </p:embeddedFont>
    <p:embeddedFont>
      <p:font typeface="Montserrat Medium"/>
      <p:regular r:id="rId58"/>
      <p:bold r:id="rId59"/>
      <p:italic r:id="rId60"/>
      <p:boldItalic r:id="rId61"/>
    </p:embeddedFont>
    <p:embeddedFont>
      <p:font typeface="Montserrat ExtraBold"/>
      <p:bold r:id="rId62"/>
      <p:boldItalic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4" roundtripDataSignature="AMtx7mhhn1sLgdeWnfcMFckSIQ0vL0mQ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48" Type="http://schemas.openxmlformats.org/officeDocument/2006/relationships/font" Target="fonts/MontserratSemiBold-regular.fntdata"/><Relationship Id="rId47" Type="http://schemas.openxmlformats.org/officeDocument/2006/relationships/slide" Target="slides/slide42.xml"/><Relationship Id="rId49" Type="http://schemas.openxmlformats.org/officeDocument/2006/relationships/font" Target="fonts/Montserrat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MontserratExtraBold-bold.fntdata"/><Relationship Id="rId61" Type="http://schemas.openxmlformats.org/officeDocument/2006/relationships/font" Target="fonts/MontserratMedium-boldItalic.fntdata"/><Relationship Id="rId20" Type="http://schemas.openxmlformats.org/officeDocument/2006/relationships/slide" Target="slides/slide15.xml"/><Relationship Id="rId64" Type="http://customschemas.google.com/relationships/presentationmetadata" Target="metadata"/><Relationship Id="rId63" Type="http://schemas.openxmlformats.org/officeDocument/2006/relationships/font" Target="fonts/MontserratExtraBold-bold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schemas.openxmlformats.org/officeDocument/2006/relationships/font" Target="fonts/MontserratMedium-italic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SemiBold-boldItalic.fntdata"/><Relationship Id="rId50" Type="http://schemas.openxmlformats.org/officeDocument/2006/relationships/font" Target="fonts/MontserratSemiBold-italic.fntdata"/><Relationship Id="rId53" Type="http://schemas.openxmlformats.org/officeDocument/2006/relationships/font" Target="fonts/Montserrat-bold.fntdata"/><Relationship Id="rId52" Type="http://schemas.openxmlformats.org/officeDocument/2006/relationships/font" Target="fonts/Montserrat-regular.fntdata"/><Relationship Id="rId11" Type="http://schemas.openxmlformats.org/officeDocument/2006/relationships/slide" Target="slides/slide6.xml"/><Relationship Id="rId55" Type="http://schemas.openxmlformats.org/officeDocument/2006/relationships/font" Target="fonts/Montserrat-boldItalic.fntdata"/><Relationship Id="rId10" Type="http://schemas.openxmlformats.org/officeDocument/2006/relationships/slide" Target="slides/slide5.xml"/><Relationship Id="rId54" Type="http://schemas.openxmlformats.org/officeDocument/2006/relationships/font" Target="fonts/Montserrat-italic.fntdata"/><Relationship Id="rId13" Type="http://schemas.openxmlformats.org/officeDocument/2006/relationships/slide" Target="slides/slide8.xml"/><Relationship Id="rId57" Type="http://schemas.openxmlformats.org/officeDocument/2006/relationships/font" Target="fonts/MontserratBlack-boldItalic.fntdata"/><Relationship Id="rId12" Type="http://schemas.openxmlformats.org/officeDocument/2006/relationships/slide" Target="slides/slide7.xml"/><Relationship Id="rId56" Type="http://schemas.openxmlformats.org/officeDocument/2006/relationships/font" Target="fonts/MontserratBlack-bold.fntdata"/><Relationship Id="rId15" Type="http://schemas.openxmlformats.org/officeDocument/2006/relationships/slide" Target="slides/slide10.xml"/><Relationship Id="rId59" Type="http://schemas.openxmlformats.org/officeDocument/2006/relationships/font" Target="fonts/MontserratMedium-bold.fntdata"/><Relationship Id="rId14" Type="http://schemas.openxmlformats.org/officeDocument/2006/relationships/slide" Target="slides/slide9.xml"/><Relationship Id="rId58" Type="http://schemas.openxmlformats.org/officeDocument/2006/relationships/font" Target="fonts/MontserratMedium-regular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L01 · PORTADA DE MARCA — Primera slide de credenciales. No lleva nombre de cliente. - PLANTILLA FIJA</a:t>
            </a:r>
            <a:endParaRPr/>
          </a:p>
        </p:txBody>
      </p:sp>
      <p:sp>
        <p:nvSpPr>
          <p:cNvPr id="25" name="Google Shape;25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900"/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4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3275" lIns="46550" spcFirstLastPara="1" rIns="46550" wrap="square" tIns="23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65" name="Google Shape;65;p4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3275" lIns="46550" spcFirstLastPara="1" rIns="46550" wrap="square" tIns="23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-US" sz="800" u="none" cap="none" strike="noStrike">
                <a:solidFill>
                  <a:srgbClr val="000033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900"/>
          </a:p>
        </p:txBody>
      </p:sp>
      <p:sp>
        <p:nvSpPr>
          <p:cNvPr id="106" name="Google Shape;106;p5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6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900"/>
          </a:p>
        </p:txBody>
      </p:sp>
      <p:sp>
        <p:nvSpPr>
          <p:cNvPr id="165" name="Google Shape;165;p6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4" name="Google Shape;234;p9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8" name="Google Shape;26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2" name="Google Shape;28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3" name="Google Shape;29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6" name="Google Shape;326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7" name="Google Shape;337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p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1" name="Google Shape;361;p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2" name="Google Shape;372;p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9" name="Google Shape;38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0" name="Google Shape;400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8" name="Google Shape;42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9" name="Google Shape;42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0" name="Google Shape;44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9" name="Google Shape;459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8" name="Google Shape;478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7" name="Google Shape;497;p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5" name="Google Shape;515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6" name="Google Shape;516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6" name="Google Shape;526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7" name="Google Shape;527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6" name="Google Shape;606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7" name="Google Shape;607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7" name="Google Shape;617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8" name="Google Shape;618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8" name="Google Shape;638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9" name="Google Shape;639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0" name="Google Shape;650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1" name="Google Shape;671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2" name="Google Shape;672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2" name="Google Shape;682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3" name="Google Shape;683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4" name="Google Shape;71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5" name="Google Shape;715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33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2" name="Google Shape;752;p33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900"/>
          </a:p>
        </p:txBody>
      </p:sp>
      <p:sp>
        <p:nvSpPr>
          <p:cNvPr id="753" name="Google Shape;753;p33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34:notes"/>
          <p:cNvSpPr/>
          <p:nvPr>
            <p:ph idx="2" type="sldImg"/>
          </p:nvPr>
        </p:nvSpPr>
        <p:spPr>
          <a:xfrm>
            <a:off x="342900" y="571500"/>
            <a:ext cx="27432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7" name="Google Shape;777;p34:notes"/>
          <p:cNvSpPr txBox="1"/>
          <p:nvPr>
            <p:ph idx="1" type="body"/>
          </p:nvPr>
        </p:nvSpPr>
        <p:spPr>
          <a:xfrm>
            <a:off x="342900" y="2200275"/>
            <a:ext cx="27432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900"/>
          </a:p>
        </p:txBody>
      </p:sp>
      <p:sp>
        <p:nvSpPr>
          <p:cNvPr id="778" name="Google Shape;778;p34:notes"/>
          <p:cNvSpPr txBox="1"/>
          <p:nvPr>
            <p:ph idx="12" type="sldNum"/>
          </p:nvPr>
        </p:nvSpPr>
        <p:spPr>
          <a:xfrm>
            <a:off x="1942306" y="4342607"/>
            <a:ext cx="14859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5" name="Google Shape;79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6" name="Google Shape;79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7" name="Google Shape;807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7" name="Google Shape;857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8" name="Google Shape;858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3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8" name="Google Shape;868;p38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3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2" name="Google Shape;892;p39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4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6" name="Google Shape;916;p40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4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8" name="Google Shape;938;p41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6" name="Google Shape;966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7" name="Google Shape;967;p4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4"/>
          <p:cNvSpPr/>
          <p:nvPr/>
        </p:nvSpPr>
        <p:spPr>
          <a:xfrm>
            <a:off x="1728269" y="505621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AÑOS </a:t>
            </a:r>
            <a:endParaRPr b="0" i="0" sz="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logo_navy.png" id="15" name="Google Shape;15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N" type="blank">
  <p:cSld name="BLANK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" name="Google Shape;18;p47"/>
          <p:cNvSpPr/>
          <p:nvPr/>
        </p:nvSpPr>
        <p:spPr>
          <a:xfrm>
            <a:off x="1728269" y="505621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AÑOS </a:t>
            </a:r>
            <a:endParaRPr b="0" i="0" sz="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logo_navy.png" id="19" name="Google Shape;1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0.png"/><Relationship Id="rId7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40" Type="http://schemas.openxmlformats.org/officeDocument/2006/relationships/image" Target="../media/image43.png"/><Relationship Id="rId20" Type="http://schemas.openxmlformats.org/officeDocument/2006/relationships/image" Target="../media/image29.png"/><Relationship Id="rId42" Type="http://schemas.openxmlformats.org/officeDocument/2006/relationships/image" Target="../media/image46.png"/><Relationship Id="rId41" Type="http://schemas.openxmlformats.org/officeDocument/2006/relationships/image" Target="../media/image49.png"/><Relationship Id="rId22" Type="http://schemas.openxmlformats.org/officeDocument/2006/relationships/image" Target="../media/image34.png"/><Relationship Id="rId21" Type="http://schemas.openxmlformats.org/officeDocument/2006/relationships/image" Target="../media/image24.png"/><Relationship Id="rId24" Type="http://schemas.openxmlformats.org/officeDocument/2006/relationships/image" Target="../media/image26.png"/><Relationship Id="rId23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26" Type="http://schemas.openxmlformats.org/officeDocument/2006/relationships/image" Target="../media/image30.png"/><Relationship Id="rId25" Type="http://schemas.openxmlformats.org/officeDocument/2006/relationships/image" Target="../media/image31.png"/><Relationship Id="rId28" Type="http://schemas.openxmlformats.org/officeDocument/2006/relationships/image" Target="../media/image27.png"/><Relationship Id="rId27" Type="http://schemas.openxmlformats.org/officeDocument/2006/relationships/image" Target="../media/image41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29" Type="http://schemas.openxmlformats.org/officeDocument/2006/relationships/image" Target="../media/image33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31" Type="http://schemas.openxmlformats.org/officeDocument/2006/relationships/image" Target="../media/image32.png"/><Relationship Id="rId30" Type="http://schemas.openxmlformats.org/officeDocument/2006/relationships/image" Target="../media/image36.png"/><Relationship Id="rId11" Type="http://schemas.openxmlformats.org/officeDocument/2006/relationships/image" Target="../media/image17.png"/><Relationship Id="rId33" Type="http://schemas.openxmlformats.org/officeDocument/2006/relationships/image" Target="../media/image39.png"/><Relationship Id="rId10" Type="http://schemas.openxmlformats.org/officeDocument/2006/relationships/image" Target="../media/image14.png"/><Relationship Id="rId32" Type="http://schemas.openxmlformats.org/officeDocument/2006/relationships/image" Target="../media/image47.png"/><Relationship Id="rId13" Type="http://schemas.openxmlformats.org/officeDocument/2006/relationships/image" Target="../media/image20.png"/><Relationship Id="rId35" Type="http://schemas.openxmlformats.org/officeDocument/2006/relationships/image" Target="../media/image40.png"/><Relationship Id="rId12" Type="http://schemas.openxmlformats.org/officeDocument/2006/relationships/image" Target="../media/image25.png"/><Relationship Id="rId34" Type="http://schemas.openxmlformats.org/officeDocument/2006/relationships/image" Target="../media/image35.png"/><Relationship Id="rId15" Type="http://schemas.openxmlformats.org/officeDocument/2006/relationships/image" Target="../media/image19.png"/><Relationship Id="rId37" Type="http://schemas.openxmlformats.org/officeDocument/2006/relationships/image" Target="../media/image37.png"/><Relationship Id="rId14" Type="http://schemas.openxmlformats.org/officeDocument/2006/relationships/image" Target="../media/image15.png"/><Relationship Id="rId36" Type="http://schemas.openxmlformats.org/officeDocument/2006/relationships/image" Target="../media/image38.png"/><Relationship Id="rId17" Type="http://schemas.openxmlformats.org/officeDocument/2006/relationships/image" Target="../media/image21.png"/><Relationship Id="rId39" Type="http://schemas.openxmlformats.org/officeDocument/2006/relationships/image" Target="../media/image44.png"/><Relationship Id="rId16" Type="http://schemas.openxmlformats.org/officeDocument/2006/relationships/image" Target="../media/image28.png"/><Relationship Id="rId38" Type="http://schemas.openxmlformats.org/officeDocument/2006/relationships/image" Target="../media/image45.png"/><Relationship Id="rId19" Type="http://schemas.openxmlformats.org/officeDocument/2006/relationships/image" Target="../media/image22.png"/><Relationship Id="rId18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8.png"/><Relationship Id="rId4" Type="http://schemas.openxmlformats.org/officeDocument/2006/relationships/image" Target="../media/image52.png"/><Relationship Id="rId5" Type="http://schemas.openxmlformats.org/officeDocument/2006/relationships/image" Target="../media/image51.png"/><Relationship Id="rId6" Type="http://schemas.openxmlformats.org/officeDocument/2006/relationships/image" Target="../media/image3.png"/><Relationship Id="rId7" Type="http://schemas.openxmlformats.org/officeDocument/2006/relationships/image" Target="../media/image5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7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4.png"/><Relationship Id="rId4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4.png"/><Relationship Id="rId4" Type="http://schemas.openxmlformats.org/officeDocument/2006/relationships/image" Target="../media/image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6.jpg"/><Relationship Id="rId4" Type="http://schemas.openxmlformats.org/officeDocument/2006/relationships/image" Target="../media/image62.png"/><Relationship Id="rId5" Type="http://schemas.openxmlformats.org/officeDocument/2006/relationships/image" Target="../media/image6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6.jpg"/><Relationship Id="rId4" Type="http://schemas.openxmlformats.org/officeDocument/2006/relationships/image" Target="../media/image73.jpg"/><Relationship Id="rId5" Type="http://schemas.openxmlformats.org/officeDocument/2006/relationships/image" Target="../media/image67.jpg"/><Relationship Id="rId6" Type="http://schemas.openxmlformats.org/officeDocument/2006/relationships/image" Target="../media/image64.jpg"/><Relationship Id="rId7" Type="http://schemas.openxmlformats.org/officeDocument/2006/relationships/image" Target="../media/image69.jpg"/><Relationship Id="rId8" Type="http://schemas.openxmlformats.org/officeDocument/2006/relationships/image" Target="../media/image65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3.png"/><Relationship Id="rId4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6.jpg"/><Relationship Id="rId4" Type="http://schemas.openxmlformats.org/officeDocument/2006/relationships/image" Target="../media/image71.png"/><Relationship Id="rId9" Type="http://schemas.openxmlformats.org/officeDocument/2006/relationships/image" Target="../media/image72.jp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5.png"/><Relationship Id="rId8" Type="http://schemas.openxmlformats.org/officeDocument/2006/relationships/image" Target="../media/image6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6.jpg"/><Relationship Id="rId4" Type="http://schemas.openxmlformats.org/officeDocument/2006/relationships/image" Target="../media/image71.png"/><Relationship Id="rId9" Type="http://schemas.openxmlformats.org/officeDocument/2006/relationships/image" Target="../media/image77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5.png"/><Relationship Id="rId8" Type="http://schemas.openxmlformats.org/officeDocument/2006/relationships/image" Target="../media/image75.jp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6.jpg"/><Relationship Id="rId4" Type="http://schemas.openxmlformats.org/officeDocument/2006/relationships/image" Target="../media/image71.png"/><Relationship Id="rId9" Type="http://schemas.openxmlformats.org/officeDocument/2006/relationships/image" Target="../media/image79.jpg"/><Relationship Id="rId5" Type="http://schemas.openxmlformats.org/officeDocument/2006/relationships/image" Target="../media/image58.png"/><Relationship Id="rId6" Type="http://schemas.openxmlformats.org/officeDocument/2006/relationships/image" Target="../media/image68.png"/><Relationship Id="rId7" Type="http://schemas.openxmlformats.org/officeDocument/2006/relationships/image" Target="../media/image5.png"/><Relationship Id="rId8" Type="http://schemas.openxmlformats.org/officeDocument/2006/relationships/image" Target="../media/image77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6.jpg"/><Relationship Id="rId4" Type="http://schemas.openxmlformats.org/officeDocument/2006/relationships/image" Target="../media/image71.png"/><Relationship Id="rId9" Type="http://schemas.openxmlformats.org/officeDocument/2006/relationships/image" Target="../media/image76.jpg"/><Relationship Id="rId5" Type="http://schemas.openxmlformats.org/officeDocument/2006/relationships/image" Target="../media/image58.png"/><Relationship Id="rId6" Type="http://schemas.openxmlformats.org/officeDocument/2006/relationships/image" Target="../media/image74.png"/><Relationship Id="rId7" Type="http://schemas.openxmlformats.org/officeDocument/2006/relationships/image" Target="../media/image5.png"/><Relationship Id="rId8" Type="http://schemas.openxmlformats.org/officeDocument/2006/relationships/image" Target="../media/image78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cover.png" id="27" name="Google Shape;2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28" name="Google Shape;2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"/>
          <p:cNvSpPr txBox="1"/>
          <p:nvPr/>
        </p:nvSpPr>
        <p:spPr>
          <a:xfrm>
            <a:off x="0" y="1975104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00"/>
              <a:buFont typeface="Montserrat Black"/>
              <a:buNone/>
            </a:pPr>
            <a:r>
              <a:rPr b="1" i="0" lang="en-US" sz="4100" u="none" cap="none" strike="noStrik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Neo Consulting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1289304" y="2971800"/>
            <a:ext cx="6565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1400"/>
              <a:buFont typeface="Montserrat Medium"/>
              <a:buNone/>
            </a:pPr>
            <a:r>
              <a:rPr b="0" i="0" lang="en-US" sz="1400" u="none" cap="none" strike="noStrike">
                <a:solidFill>
                  <a:srgbClr val="7E99F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Logra tus objetivos de negocio utilizando data e inteligencia artificial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0" y="4599432"/>
            <a:ext cx="9144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cover.png" id="37" name="Google Shape;3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38" name="Google Shape;3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2"/>
          <p:cNvSpPr txBox="1"/>
          <p:nvPr/>
        </p:nvSpPr>
        <p:spPr>
          <a:xfrm>
            <a:off x="571500" y="1737360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PROPUESTA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571500" y="2084832"/>
            <a:ext cx="8001000" cy="12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tserrat ExtraBold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Diseño y Piloto 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3600"/>
              <a:buFont typeface="Montserrat Black"/>
              <a:buNone/>
            </a:pPr>
            <a:r>
              <a:rPr b="1" i="1" lang="en-US" sz="36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Ruta Formativa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571500" y="3401568"/>
            <a:ext cx="585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400"/>
              <a:buFont typeface="Montserrat Medium"/>
              <a:buNone/>
            </a:pPr>
            <a:r>
              <a:rPr b="0" i="0" lang="en-US" sz="14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Nivel básico en Data, IA y Automatización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71500" y="3785616"/>
            <a:ext cx="1280100" cy="7200"/>
          </a:xfrm>
          <a:prstGeom prst="rect">
            <a:avLst/>
          </a:prstGeom>
          <a:solidFill>
            <a:srgbClr val="2B5BFC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571500" y="3950208"/>
            <a:ext cx="54864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Pacasmayo  ·  Agosto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0" name="Google Shape;5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775" y="2562225"/>
            <a:ext cx="8172451" cy="1576387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3"/>
          <p:cNvSpPr/>
          <p:nvPr/>
        </p:nvSpPr>
        <p:spPr>
          <a:xfrm>
            <a:off x="571500" y="4591050"/>
            <a:ext cx="1362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571500" y="1281113"/>
            <a:ext cx="80295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800"/>
              <a:buFont typeface="Montserrat ExtraBold"/>
              <a:buNone/>
            </a:pP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Logra tus objetivos de negocio utilizando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800"/>
              <a:buFont typeface="Montserrat ExtraBold"/>
              <a:buNone/>
            </a:pPr>
            <a:r>
              <a:rPr b="1" i="1" lang="en-US" sz="18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data e inteligencia artificial</a:t>
            </a: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571500" y="1947863"/>
            <a:ext cx="6000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8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Combinamos estrategia, tecnología y talento AI-first para transformar empresas líderes en LATAM y convertir su ambición digital en resultados medibles.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723900" y="2771775"/>
            <a:ext cx="7287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3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3000"/>
              <a:buFont typeface="Montserrat Black"/>
              <a:buNone/>
            </a:pPr>
            <a:r>
              <a:rPr b="1" i="0" lang="en-US" sz="30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+25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723900" y="3314700"/>
            <a:ext cx="16098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de experiencia transformando negocios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762250" y="2771775"/>
            <a:ext cx="10668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3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3000"/>
              <a:buFont typeface="Montserrat Black"/>
              <a:buNone/>
            </a:pPr>
            <a:r>
              <a:rPr b="1" i="0" lang="en-US" sz="30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+800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2762250" y="3314700"/>
            <a:ext cx="1609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Proyectos exitosos en los últimos 5 años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800600" y="2771775"/>
            <a:ext cx="9525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3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3000"/>
              <a:buFont typeface="Montserrat Black"/>
              <a:buNone/>
            </a:pPr>
            <a:r>
              <a:rPr b="1" i="0" lang="en-US" sz="30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+100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800600" y="3314700"/>
            <a:ext cx="1609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Clientes en 15 sectores distintos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6838950" y="2771775"/>
            <a:ext cx="10812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3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3000"/>
              <a:buFont typeface="Montserrat Black"/>
              <a:buNone/>
            </a:pPr>
            <a:r>
              <a:rPr b="1" i="0" lang="en-US" sz="30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100%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6838950" y="3314700"/>
            <a:ext cx="1609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Del staff certificado en IA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"/>
          <p:cNvSpPr/>
          <p:nvPr/>
        </p:nvSpPr>
        <p:spPr>
          <a:xfrm>
            <a:off x="495267" y="742125"/>
            <a:ext cx="8398200" cy="3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800"/>
              <a:buFont typeface="Montserrat ExtraBold"/>
              <a:buNone/>
            </a:pP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Licencias y productos </a:t>
            </a:r>
            <a:endParaRPr b="1" i="0" sz="18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800"/>
              <a:buFont typeface="Montserrat ExtraBold"/>
              <a:buNone/>
            </a:pPr>
            <a:r>
              <a:rPr b="1" i="1" lang="en-US" sz="18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Data + AI</a:t>
            </a:r>
            <a:endParaRPr b="1" i="1" sz="18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495267" y="1398274"/>
            <a:ext cx="40422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8C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LICENCIAS &amp; PARTNERS</a:t>
            </a:r>
            <a:endParaRPr b="0" i="0" sz="900" u="none" cap="none" strike="noStrike">
              <a:solidFill>
                <a:srgbClr val="2B5B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495267" y="1645907"/>
            <a:ext cx="3924300" cy="4800"/>
          </a:xfrm>
          <a:prstGeom prst="rect">
            <a:avLst/>
          </a:prstGeom>
          <a:solidFill>
            <a:srgbClr val="E2E1EE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95267" y="1753311"/>
            <a:ext cx="457200" cy="304800"/>
          </a:xfrm>
          <a:prstGeom prst="roundRect">
            <a:avLst>
              <a:gd fmla="val 18752" name="adj"/>
            </a:avLst>
          </a:prstGeom>
          <a:solidFill>
            <a:srgbClr val="FFFFFF"/>
          </a:solidFill>
          <a:ln cap="flat" cmpd="sng" w="9525">
            <a:solidFill>
              <a:srgbClr val="E2E1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71" name="Google Shape;7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0797" y="1803582"/>
            <a:ext cx="306091" cy="20418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4"/>
          <p:cNvSpPr/>
          <p:nvPr/>
        </p:nvSpPr>
        <p:spPr>
          <a:xfrm>
            <a:off x="1066725" y="1753311"/>
            <a:ext cx="3453300" cy="1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Google Cloud + Marketing Platform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1066725" y="1923678"/>
            <a:ext cx="34533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EB9"/>
              </a:buClr>
              <a:buSzPts val="900"/>
              <a:buFont typeface="PT Serif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Stack de data + IA con condiciones preferentes</a:t>
            </a:r>
            <a:endParaRPr b="1" i="0" sz="9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066725" y="2105166"/>
            <a:ext cx="34533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GA4 · BigQuery · Vertex AI · Looker · GMP. +30 migraciones a GA4 y acceso a modelos enterprise con descuento de partner.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495267" y="2680469"/>
            <a:ext cx="3924300" cy="4800"/>
          </a:xfrm>
          <a:prstGeom prst="rect">
            <a:avLst/>
          </a:prstGeom>
          <a:solidFill>
            <a:srgbClr val="E2E1EE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95267" y="2787874"/>
            <a:ext cx="457200" cy="304800"/>
          </a:xfrm>
          <a:prstGeom prst="roundRect">
            <a:avLst>
              <a:gd fmla="val 18752" name="adj"/>
            </a:avLst>
          </a:prstGeom>
          <a:solidFill>
            <a:srgbClr val="FFFFFF"/>
          </a:solidFill>
          <a:ln cap="flat" cmpd="sng" w="9525">
            <a:solidFill>
              <a:srgbClr val="E2E1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77" name="Google Shape;7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30" y="2838144"/>
            <a:ext cx="204226" cy="204226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4"/>
          <p:cNvSpPr/>
          <p:nvPr/>
        </p:nvSpPr>
        <p:spPr>
          <a:xfrm>
            <a:off x="1066725" y="2787874"/>
            <a:ext cx="3453300" cy="1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Salesforce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1066725" y="2958241"/>
            <a:ext cx="34533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EB9"/>
              </a:buClr>
              <a:buSzPts val="900"/>
              <a:buFont typeface="PT Serif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CRM enterprise con IA predictiva incluida</a:t>
            </a:r>
            <a:endParaRPr b="1" i="0" sz="9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1066725" y="3139728"/>
            <a:ext cx="34533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CRM + Marketing Cloud con Einstein AI. Modelos predictivos out-of-the-box y onboarding por consultores certificados Neo.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95267" y="3715032"/>
            <a:ext cx="3924300" cy="4800"/>
          </a:xfrm>
          <a:prstGeom prst="rect">
            <a:avLst/>
          </a:prstGeom>
          <a:solidFill>
            <a:srgbClr val="E2E1EE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95267" y="3822436"/>
            <a:ext cx="457200" cy="304800"/>
          </a:xfrm>
          <a:prstGeom prst="roundRect">
            <a:avLst>
              <a:gd fmla="val 18752" name="adj"/>
            </a:avLst>
          </a:prstGeom>
          <a:solidFill>
            <a:srgbClr val="FFFFFF"/>
          </a:solidFill>
          <a:ln cap="flat" cmpd="sng" w="9525">
            <a:solidFill>
              <a:srgbClr val="E2E1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545552" y="3815825"/>
            <a:ext cx="394800" cy="1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VWO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545538" y="3975067"/>
            <a:ext cx="3948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585A3"/>
              </a:buClr>
              <a:buSzPts val="500"/>
              <a:buFont typeface="Montserrat"/>
              <a:buNone/>
            </a:pPr>
            <a:r>
              <a:rPr b="0" i="0" lang="en-US" sz="5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 AB Tasty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066725" y="3822436"/>
            <a:ext cx="3453300" cy="1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VWO + AB Tasty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1066725" y="3992803"/>
            <a:ext cx="34533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EB9"/>
              </a:buClr>
              <a:buSzPts val="900"/>
              <a:buFont typeface="PT Serif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Experimentación + IA responsable</a:t>
            </a:r>
            <a:endParaRPr b="1" i="0" sz="9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1066725" y="4174290"/>
            <a:ext cx="3453300" cy="3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A/B testing avanzado con AI-powered experimentation y governance como garantía de ética y responsabilidad.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724383" y="1398274"/>
            <a:ext cx="40422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8C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PRODUCTOS NEO</a:t>
            </a:r>
            <a:endParaRPr b="0" i="0" sz="900" u="none" cap="none" strike="noStrike">
              <a:solidFill>
                <a:srgbClr val="2B5B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4724383" y="1645907"/>
            <a:ext cx="3924300" cy="1386600"/>
          </a:xfrm>
          <a:prstGeom prst="roundRect">
            <a:avLst>
              <a:gd fmla="val 6183" name="adj"/>
            </a:avLst>
          </a:prstGeom>
          <a:noFill/>
          <a:ln cap="flat" cmpd="sng" w="19050">
            <a:solidFill>
              <a:srgbClr val="2B5B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879413" y="1817597"/>
            <a:ext cx="228600" cy="228600"/>
          </a:xfrm>
          <a:prstGeom prst="roundRect">
            <a:avLst>
              <a:gd fmla="val 22919" name="adj"/>
            </a:avLst>
          </a:prstGeom>
          <a:solidFill>
            <a:srgbClr val="EEF3FF"/>
          </a:solidFill>
          <a:ln cap="flat" cmpd="sng" w="9525">
            <a:solidFill>
              <a:srgbClr val="C5D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1" name="Google Shape;9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34149" y="1872333"/>
            <a:ext cx="119063" cy="119063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"/>
          <p:cNvSpPr/>
          <p:nvPr/>
        </p:nvSpPr>
        <p:spPr>
          <a:xfrm>
            <a:off x="5193688" y="1781878"/>
            <a:ext cx="2583900" cy="1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NEO Suite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5193700" y="1947500"/>
            <a:ext cx="33630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B9"/>
              </a:buClr>
              <a:buSzPts val="900"/>
              <a:buFont typeface="PT Serif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GXO platform: SEO + AEO + GEO en un solo entorno</a:t>
            </a:r>
            <a:endParaRPr b="1" i="0" sz="9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801004" y="2148574"/>
            <a:ext cx="37308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Keyword Research con intención de búsqueda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Rank Tracker en Google + AI Overview + Gemini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AEO · GEO Tracker para visibilidad en asistentes AI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Audit SEO con diagnóstico técnico en &lt;5 minutos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724383" y="3137082"/>
            <a:ext cx="3924300" cy="1386600"/>
          </a:xfrm>
          <a:prstGeom prst="roundRect">
            <a:avLst>
              <a:gd fmla="val 6183" name="adj"/>
            </a:avLst>
          </a:prstGeom>
          <a:noFill/>
          <a:ln cap="flat" cmpd="sng" w="19050">
            <a:solidFill>
              <a:srgbClr val="2B5B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4879413" y="3308772"/>
            <a:ext cx="228600" cy="228600"/>
          </a:xfrm>
          <a:prstGeom prst="roundRect">
            <a:avLst>
              <a:gd fmla="val 22919" name="adj"/>
            </a:avLst>
          </a:prstGeom>
          <a:solidFill>
            <a:srgbClr val="EEF3FF"/>
          </a:solidFill>
          <a:ln cap="flat" cmpd="sng" w="9525">
            <a:solidFill>
              <a:srgbClr val="C5D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7" name="Google Shape;9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34149" y="3363507"/>
            <a:ext cx="119063" cy="11906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4"/>
          <p:cNvSpPr/>
          <p:nvPr/>
        </p:nvSpPr>
        <p:spPr>
          <a:xfrm>
            <a:off x="5193688" y="3273053"/>
            <a:ext cx="2341200" cy="1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NEO Creative Media Suite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193701" y="3438675"/>
            <a:ext cx="33060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B9"/>
              </a:buClr>
              <a:buSzPts val="900"/>
              <a:buFont typeface="PT Serif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Content factory autónomo para marketing y ads</a:t>
            </a:r>
            <a:endParaRPr b="1" i="0" sz="9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801004" y="3639749"/>
            <a:ext cx="37308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Genera contenido, briefs, visuales y ads en minutos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Hasta 600 adaptaciones mensuales por marca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Variantes de texto e imagen instantáneas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A4A6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Multi-formato: 16:9, 9:16, 4:3, 1:1, story, reel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1728269" y="505621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AÑOS </a:t>
            </a:r>
            <a:endParaRPr b="0" i="0" sz="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logo_navy.png" id="102" name="Google Shape;102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8" name="Google Shape;10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538" y="1604963"/>
            <a:ext cx="2771775" cy="14525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09" name="Google Shape;10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6113" y="1604963"/>
            <a:ext cx="2771775" cy="14525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0" name="Google Shape;11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81688" y="1604963"/>
            <a:ext cx="2776538" cy="14525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1" name="Google Shape;11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538" y="3086100"/>
            <a:ext cx="2771775" cy="14525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2" name="Google Shape;11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6113" y="3086100"/>
            <a:ext cx="2771775" cy="14525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3" name="Google Shape;11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81688" y="3086100"/>
            <a:ext cx="2776538" cy="145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5"/>
          <p:cNvSpPr/>
          <p:nvPr/>
        </p:nvSpPr>
        <p:spPr>
          <a:xfrm>
            <a:off x="571500" y="4591050"/>
            <a:ext cx="1362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143250" y="1052513"/>
            <a:ext cx="43767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8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+100 empresas líderes en 15 sectores confían en NEO para transformar su negocio con data e inteligencia artificial.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671513" y="1038225"/>
            <a:ext cx="17946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TRACK RECORD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671513" y="1214438"/>
            <a:ext cx="24147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800"/>
              <a:buFont typeface="Montserrat ExtraBold"/>
              <a:buNone/>
            </a:pP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Nuestros </a:t>
            </a:r>
            <a:r>
              <a:rPr b="1" i="1" lang="en-US" sz="18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Clientes</a:t>
            </a: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90563" y="1738313"/>
            <a:ext cx="24957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BANCA, SEGUROS &amp; FINANZAS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3386138" y="1738313"/>
            <a:ext cx="24957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RETAIL &amp; COMERCIO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081713" y="1738313"/>
            <a:ext cx="25002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CONSUMO MASIVO &amp; BELLEZA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690563" y="3219450"/>
            <a:ext cx="24957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TELECOM &amp; TECNOLOGÍA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3386138" y="3219450"/>
            <a:ext cx="24957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SALUD &amp; EDUCACIÓN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6019850" y="3221925"/>
            <a:ext cx="2500200" cy="1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Extra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INDUSTRIA, MEDIOS &amp; SERVICIOS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5204" y="2043472"/>
            <a:ext cx="535765" cy="13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15203" y="2026763"/>
            <a:ext cx="520563" cy="163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1767" y="2269021"/>
            <a:ext cx="634855" cy="331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50005" y="1995375"/>
            <a:ext cx="727248" cy="226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622104" y="2308271"/>
            <a:ext cx="425080" cy="2265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152672" y="2330112"/>
            <a:ext cx="734991" cy="2533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5"/>
          <p:cNvPicPr preferRelativeResize="0"/>
          <p:nvPr/>
        </p:nvPicPr>
        <p:blipFill rotWithShape="1">
          <a:blip r:embed="rId11">
            <a:alphaModFix/>
          </a:blip>
          <a:srcRect b="37814" l="2268" r="3232" t="40187"/>
          <a:stretch/>
        </p:blipFill>
        <p:spPr>
          <a:xfrm>
            <a:off x="895026" y="2641418"/>
            <a:ext cx="843625" cy="196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912875" y="2641418"/>
            <a:ext cx="964368" cy="163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474250" y="2002262"/>
            <a:ext cx="714419" cy="279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5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299885" y="1994602"/>
            <a:ext cx="714419" cy="26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5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5098812" y="1981026"/>
            <a:ext cx="557165" cy="292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5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492622" y="2346739"/>
            <a:ext cx="1072874" cy="1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5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697245" y="2319724"/>
            <a:ext cx="972554" cy="224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5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646432" y="2631481"/>
            <a:ext cx="792442" cy="14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5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3492640" y="2590918"/>
            <a:ext cx="979774" cy="224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5"/>
          <p:cNvPicPr preferRelativeResize="0"/>
          <p:nvPr/>
        </p:nvPicPr>
        <p:blipFill rotWithShape="1">
          <a:blip r:embed="rId20">
            <a:alphaModFix/>
          </a:blip>
          <a:srcRect b="10" l="23542" r="22953" t="-10"/>
          <a:stretch/>
        </p:blipFill>
        <p:spPr>
          <a:xfrm>
            <a:off x="7827175" y="1994599"/>
            <a:ext cx="464548" cy="488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5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6788042" y="2017794"/>
            <a:ext cx="763434" cy="2176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5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731050" y="2580662"/>
            <a:ext cx="691638" cy="125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5"/>
          <p:cNvPicPr preferRelativeResize="0"/>
          <p:nvPr/>
        </p:nvPicPr>
        <p:blipFill rotWithShape="1">
          <a:blip r:embed="rId23">
            <a:alphaModFix/>
          </a:blip>
          <a:srcRect b="21388" l="6969" r="7939" t="16018"/>
          <a:stretch/>
        </p:blipFill>
        <p:spPr>
          <a:xfrm>
            <a:off x="6203376" y="2408361"/>
            <a:ext cx="434714" cy="319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5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6794393" y="2288506"/>
            <a:ext cx="750742" cy="141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5"/>
          <p:cNvPicPr preferRelativeResize="0"/>
          <p:nvPr/>
        </p:nvPicPr>
        <p:blipFill rotWithShape="1">
          <a:blip r:embed="rId25">
            <a:alphaModFix/>
          </a:blip>
          <a:srcRect b="8537" l="3901" r="4515" t="8254"/>
          <a:stretch/>
        </p:blipFill>
        <p:spPr>
          <a:xfrm>
            <a:off x="6228735" y="1995375"/>
            <a:ext cx="384006" cy="34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5"/>
          <p:cNvPicPr preferRelativeResize="0"/>
          <p:nvPr/>
        </p:nvPicPr>
        <p:blipFill rotWithShape="1">
          <a:blip r:embed="rId26">
            <a:alphaModFix/>
          </a:blip>
          <a:srcRect b="37573" l="0" r="0" t="37834"/>
          <a:stretch/>
        </p:blipFill>
        <p:spPr>
          <a:xfrm>
            <a:off x="6744998" y="2537192"/>
            <a:ext cx="849538" cy="2089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5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764101" y="3518325"/>
            <a:ext cx="763610" cy="27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5"/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1662375" y="3523164"/>
            <a:ext cx="1086735" cy="265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5"/>
          <p:cNvPicPr preferRelativeResize="0"/>
          <p:nvPr/>
        </p:nvPicPr>
        <p:blipFill rotWithShape="1">
          <a:blip r:embed="rId29">
            <a:alphaModFix/>
          </a:blip>
          <a:srcRect b="0" l="0" r="0" t="0"/>
          <a:stretch/>
        </p:blipFill>
        <p:spPr>
          <a:xfrm>
            <a:off x="764101" y="3902836"/>
            <a:ext cx="1232892" cy="296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5"/>
          <p:cNvPicPr preferRelativeResize="0"/>
          <p:nvPr/>
        </p:nvPicPr>
        <p:blipFill rotWithShape="1">
          <a:blip r:embed="rId30">
            <a:alphaModFix/>
          </a:blip>
          <a:srcRect b="0" l="0" r="0" t="0"/>
          <a:stretch/>
        </p:blipFill>
        <p:spPr>
          <a:xfrm>
            <a:off x="2092126" y="3962305"/>
            <a:ext cx="838784" cy="17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5"/>
          <p:cNvPicPr preferRelativeResize="0"/>
          <p:nvPr/>
        </p:nvPicPr>
        <p:blipFill rotWithShape="1">
          <a:blip r:embed="rId31">
            <a:alphaModFix/>
          </a:blip>
          <a:srcRect b="0" l="0" r="0" t="0"/>
          <a:stretch/>
        </p:blipFill>
        <p:spPr>
          <a:xfrm>
            <a:off x="3419926" y="3492006"/>
            <a:ext cx="723469" cy="184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5"/>
          <p:cNvPicPr preferRelativeResize="0"/>
          <p:nvPr/>
        </p:nvPicPr>
        <p:blipFill rotWithShape="1">
          <a:blip r:embed="rId32">
            <a:alphaModFix/>
          </a:blip>
          <a:srcRect b="0" l="0" r="0" t="0"/>
          <a:stretch/>
        </p:blipFill>
        <p:spPr>
          <a:xfrm>
            <a:off x="4208060" y="3493173"/>
            <a:ext cx="732743" cy="182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5"/>
          <p:cNvPicPr preferRelativeResize="0"/>
          <p:nvPr/>
        </p:nvPicPr>
        <p:blipFill rotWithShape="1">
          <a:blip r:embed="rId33">
            <a:alphaModFix/>
          </a:blip>
          <a:srcRect b="0" l="0" r="0" t="0"/>
          <a:stretch/>
        </p:blipFill>
        <p:spPr>
          <a:xfrm>
            <a:off x="5013171" y="3461644"/>
            <a:ext cx="727654" cy="222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5"/>
          <p:cNvPicPr preferRelativeResize="0"/>
          <p:nvPr/>
        </p:nvPicPr>
        <p:blipFill rotWithShape="1">
          <a:blip r:embed="rId34">
            <a:alphaModFix/>
          </a:blip>
          <a:srcRect b="51161" l="-624" r="0" t="-784"/>
          <a:stretch/>
        </p:blipFill>
        <p:spPr>
          <a:xfrm>
            <a:off x="3413956" y="3758032"/>
            <a:ext cx="737490" cy="1292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5"/>
          <p:cNvPicPr preferRelativeResize="0"/>
          <p:nvPr/>
        </p:nvPicPr>
        <p:blipFill rotWithShape="1">
          <a:blip r:embed="rId35">
            <a:alphaModFix/>
          </a:blip>
          <a:srcRect b="14613" l="5819" r="3123" t="19856"/>
          <a:stretch/>
        </p:blipFill>
        <p:spPr>
          <a:xfrm>
            <a:off x="4208050" y="3758020"/>
            <a:ext cx="782976" cy="17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5"/>
          <p:cNvPicPr preferRelativeResize="0"/>
          <p:nvPr/>
        </p:nvPicPr>
        <p:blipFill rotWithShape="1">
          <a:blip r:embed="rId36">
            <a:alphaModFix/>
          </a:blip>
          <a:srcRect b="20058" l="0" r="0" t="19196"/>
          <a:stretch/>
        </p:blipFill>
        <p:spPr>
          <a:xfrm>
            <a:off x="5094187" y="3740663"/>
            <a:ext cx="607815" cy="192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5"/>
          <p:cNvPicPr preferRelativeResize="0"/>
          <p:nvPr/>
        </p:nvPicPr>
        <p:blipFill rotWithShape="1">
          <a:blip r:embed="rId37">
            <a:alphaModFix/>
          </a:blip>
          <a:srcRect b="37763" l="0" r="0" t="38973"/>
          <a:stretch/>
        </p:blipFill>
        <p:spPr>
          <a:xfrm>
            <a:off x="3419923" y="4034743"/>
            <a:ext cx="623867" cy="14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5"/>
          <p:cNvPicPr preferRelativeResize="0"/>
          <p:nvPr/>
        </p:nvPicPr>
        <p:blipFill rotWithShape="1">
          <a:blip r:embed="rId38">
            <a:alphaModFix/>
          </a:blip>
          <a:srcRect b="22704" l="0" r="0" t="23084"/>
          <a:stretch/>
        </p:blipFill>
        <p:spPr>
          <a:xfrm>
            <a:off x="4217718" y="3990110"/>
            <a:ext cx="884829" cy="20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5"/>
          <p:cNvPicPr preferRelativeResize="0"/>
          <p:nvPr/>
        </p:nvPicPr>
        <p:blipFill rotWithShape="1">
          <a:blip r:embed="rId39">
            <a:alphaModFix/>
          </a:blip>
          <a:srcRect b="30771" l="25863" r="25163" t="30371"/>
          <a:stretch/>
        </p:blipFill>
        <p:spPr>
          <a:xfrm>
            <a:off x="6137474" y="3468879"/>
            <a:ext cx="971443" cy="2231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5"/>
          <p:cNvPicPr preferRelativeResize="0"/>
          <p:nvPr/>
        </p:nvPicPr>
        <p:blipFill rotWithShape="1">
          <a:blip r:embed="rId40">
            <a:alphaModFix/>
          </a:blip>
          <a:srcRect b="20333" l="4272" r="5016" t="20161"/>
          <a:stretch/>
        </p:blipFill>
        <p:spPr>
          <a:xfrm>
            <a:off x="7292717" y="3476901"/>
            <a:ext cx="1043316" cy="2071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5"/>
          <p:cNvPicPr preferRelativeResize="0"/>
          <p:nvPr/>
        </p:nvPicPr>
        <p:blipFill rotWithShape="1">
          <a:blip r:embed="rId41">
            <a:alphaModFix/>
          </a:blip>
          <a:srcRect b="18913" l="3908" r="3491" t="15983"/>
          <a:stretch/>
        </p:blipFill>
        <p:spPr>
          <a:xfrm>
            <a:off x="6134400" y="3814688"/>
            <a:ext cx="1141516" cy="242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5"/>
          <p:cNvPicPr preferRelativeResize="0"/>
          <p:nvPr/>
        </p:nvPicPr>
        <p:blipFill rotWithShape="1">
          <a:blip r:embed="rId42">
            <a:alphaModFix/>
          </a:blip>
          <a:srcRect b="0" l="0" r="0" t="0"/>
          <a:stretch/>
        </p:blipFill>
        <p:spPr>
          <a:xfrm>
            <a:off x="7328036" y="3771360"/>
            <a:ext cx="1077464" cy="329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7" name="Google Shape;16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6363" y="2321613"/>
            <a:ext cx="2712792" cy="971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68" name="Google Shape;16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34849" y="2321613"/>
            <a:ext cx="2712792" cy="971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69" name="Google Shape;16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6363" y="3213490"/>
            <a:ext cx="2712792" cy="971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0" name="Google Shape;17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34849" y="3213490"/>
            <a:ext cx="2712792" cy="971509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6"/>
          <p:cNvSpPr/>
          <p:nvPr/>
        </p:nvSpPr>
        <p:spPr>
          <a:xfrm>
            <a:off x="571500" y="4591050"/>
            <a:ext cx="1362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571500" y="1085850"/>
            <a:ext cx="45912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666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800"/>
              <a:buFont typeface="Montserrat ExtraBold"/>
              <a:buNone/>
            </a:pP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Nuestros </a:t>
            </a:r>
            <a:r>
              <a:rPr b="1" i="1" lang="en-US" sz="18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partners</a:t>
            </a:r>
            <a:r>
              <a:rPr b="1" i="0" lang="en-US" sz="18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571500" y="1476375"/>
            <a:ext cx="6473100" cy="3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8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Somos partners certificados de las principales plataformas de data, marketing e IA del mundo — y trabajamos con los modelos frontera de la industria.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571509" y="2015738"/>
            <a:ext cx="3413700" cy="1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26"/>
              <a:buFont typeface="Montserrat"/>
              <a:buNone/>
            </a:pPr>
            <a:r>
              <a:rPr b="1" i="0" lang="en-US" sz="1226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PLATAFORMAS TECNOLÓGICAS &amp; IA: </a:t>
            </a:r>
            <a:endParaRPr b="0" i="0" sz="122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39304" y="2409215"/>
            <a:ext cx="2026927" cy="71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66391" y="3304477"/>
            <a:ext cx="2223933" cy="7167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7" name="Google Shape;177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75486" y="2351794"/>
            <a:ext cx="831543" cy="8315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97168" y="3515530"/>
            <a:ext cx="2388175" cy="3674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198662" scaled="0"/>
        </a:gra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"/>
          <p:cNvSpPr txBox="1"/>
          <p:nvPr/>
        </p:nvSpPr>
        <p:spPr>
          <a:xfrm>
            <a:off x="571500" y="890625"/>
            <a:ext cx="3210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CONTENIDO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 txBox="1"/>
          <p:nvPr/>
        </p:nvSpPr>
        <p:spPr>
          <a:xfrm>
            <a:off x="571500" y="1165651"/>
            <a:ext cx="3210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Agenda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589800" y="1740390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7"/>
          <p:cNvSpPr txBox="1"/>
          <p:nvPr/>
        </p:nvSpPr>
        <p:spPr>
          <a:xfrm>
            <a:off x="772680" y="1831830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 txBox="1"/>
          <p:nvPr/>
        </p:nvSpPr>
        <p:spPr>
          <a:xfrm>
            <a:off x="1193304" y="1831830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Contexto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589864" y="2395990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7"/>
          <p:cNvSpPr txBox="1"/>
          <p:nvPr/>
        </p:nvSpPr>
        <p:spPr>
          <a:xfrm>
            <a:off x="772744" y="2487430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 txBox="1"/>
          <p:nvPr/>
        </p:nvSpPr>
        <p:spPr>
          <a:xfrm>
            <a:off x="1193368" y="2487430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Diagnóstico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589803" y="3051640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 txBox="1"/>
          <p:nvPr/>
        </p:nvSpPr>
        <p:spPr>
          <a:xfrm>
            <a:off x="772683" y="3143080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 txBox="1"/>
          <p:nvPr/>
        </p:nvSpPr>
        <p:spPr>
          <a:xfrm>
            <a:off x="1193307" y="3143080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El reto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89800" y="3660607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772680" y="3752048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1193300" y="3752050"/>
            <a:ext cx="1974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lang="en-US" sz="1200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Objetivo y Componentes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3311664" y="1746858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3494544" y="1838297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3915168" y="1838297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Detalle del proceso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3311641" y="2410270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3494521" y="2501710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3915145" y="2501710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Cronograma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3311650" y="3051563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3494530" y="3143003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3915154" y="3143003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Consideraciones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3325414" y="3660588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3508294" y="3752028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3928918" y="3752028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Estimación de impacto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5997003" y="1746850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6179883" y="1838290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6600507" y="1838290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Inversión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5996988" y="2396005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6179868" y="2487445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6600491" y="2487445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El equipo asignado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5996989" y="3051643"/>
            <a:ext cx="25572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6179869" y="3143082"/>
            <a:ext cx="365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6600493" y="3143082"/>
            <a:ext cx="1770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¿Por qué NEO?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226" name="Google Shape;22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8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Contexto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Dónde está hoy Pacasmayo en su despliegue de Data, IA y Automatización.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9"/>
          <p:cNvSpPr/>
          <p:nvPr/>
        </p:nvSpPr>
        <p:spPr>
          <a:xfrm>
            <a:off x="571500" y="1557746"/>
            <a:ext cx="8090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900"/>
              <a:buFont typeface="Calibri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La estrategia de capacitación de Pacasmayo se organiza en tres pilares definidos desde el frente de Data.</a:t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550300" y="1861989"/>
            <a:ext cx="2626800" cy="1337400"/>
          </a:xfrm>
          <a:prstGeom prst="roundRect">
            <a:avLst>
              <a:gd fmla="val 4103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728608" y="2012865"/>
            <a:ext cx="2270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A7DA"/>
              </a:buClr>
              <a:buSzPts val="700"/>
              <a:buFont typeface="Calibri"/>
              <a:buNone/>
            </a:pPr>
            <a:r>
              <a:rPr b="1" i="0" lang="en-US" sz="1000" u="none" cap="none" strike="noStrike">
                <a:solidFill>
                  <a:srgbClr val="7E99FE"/>
                </a:solidFill>
                <a:latin typeface="Montserrat"/>
                <a:ea typeface="Montserrat"/>
                <a:cs typeface="Montserrat"/>
                <a:sym typeface="Montserrat"/>
              </a:rPr>
              <a:t>PILAR I</a:t>
            </a:r>
            <a:endParaRPr b="1" i="0" sz="1000" u="none" cap="none" strike="noStrike">
              <a:solidFill>
                <a:srgbClr val="7E99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728603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728570" y="2530307"/>
            <a:ext cx="2270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6D5EE"/>
              </a:buClr>
              <a:buSzPts val="800"/>
              <a:buFont typeface="Calibri"/>
              <a:buNone/>
            </a:pPr>
            <a:r>
              <a:rPr b="0" i="0" lang="en-US" sz="1100" u="none" cap="none" strike="noStrike">
                <a:solidFill>
                  <a:srgbClr val="EEF3FF"/>
                </a:solidFill>
                <a:latin typeface="Montserrat"/>
                <a:ea typeface="Montserrat"/>
                <a:cs typeface="Montserrat"/>
                <a:sym typeface="Montserrat"/>
              </a:rPr>
              <a:t>Leer, analizar y visualizar información para decidir con evidencia.</a:t>
            </a:r>
            <a:endParaRPr b="0" i="0" sz="1100" u="none" cap="none" strike="noStrike">
              <a:solidFill>
                <a:srgbClr val="EEF3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3389512" y="1861989"/>
            <a:ext cx="2626800" cy="1337400"/>
          </a:xfrm>
          <a:prstGeom prst="roundRect">
            <a:avLst>
              <a:gd fmla="val 4103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3567820" y="2012865"/>
            <a:ext cx="2270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A7DA"/>
              </a:buClr>
              <a:buSzPts val="700"/>
              <a:buFont typeface="Calibri"/>
              <a:buNone/>
            </a:pPr>
            <a:r>
              <a:rPr b="1" i="0" lang="en-US" sz="1000" u="none" cap="none" strike="noStrike">
                <a:solidFill>
                  <a:srgbClr val="7E99FE"/>
                </a:solidFill>
                <a:latin typeface="Montserrat"/>
                <a:ea typeface="Montserrat"/>
                <a:cs typeface="Montserrat"/>
                <a:sym typeface="Montserrat"/>
              </a:rPr>
              <a:t>PILAR II</a:t>
            </a:r>
            <a:endParaRPr b="1" i="0" sz="1000" u="none" cap="none" strike="noStrike">
              <a:solidFill>
                <a:srgbClr val="7E99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3567816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IA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3567820" y="2530307"/>
            <a:ext cx="2270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6D5EE"/>
              </a:buClr>
              <a:buSzPts val="800"/>
              <a:buFont typeface="Calibri"/>
              <a:buNone/>
            </a:pPr>
            <a:r>
              <a:rPr b="0" i="0" lang="en-US" sz="1100" u="none" cap="none" strike="noStrike">
                <a:solidFill>
                  <a:srgbClr val="EEF3FF"/>
                </a:solidFill>
                <a:latin typeface="Montserrat"/>
                <a:ea typeface="Montserrat"/>
                <a:cs typeface="Montserrat"/>
                <a:sym typeface="Montserrat"/>
              </a:rPr>
              <a:t>Uso de IA generativa en el trabajo diario: prompting, asistentes y agentes.</a:t>
            </a:r>
            <a:endParaRPr b="0" i="0" sz="1100" u="none" cap="none" strike="noStrike">
              <a:solidFill>
                <a:srgbClr val="EEF3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6228724" y="1861989"/>
            <a:ext cx="2626800" cy="1337400"/>
          </a:xfrm>
          <a:prstGeom prst="roundRect">
            <a:avLst>
              <a:gd fmla="val 4103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6407032" y="2012865"/>
            <a:ext cx="2270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A7DA"/>
              </a:buClr>
              <a:buSzPts val="700"/>
              <a:buFont typeface="Calibri"/>
              <a:buNone/>
            </a:pPr>
            <a:r>
              <a:rPr b="1" i="0" lang="en-US" sz="1000" u="none" cap="none" strike="noStrike">
                <a:solidFill>
                  <a:srgbClr val="7E99FE"/>
                </a:solidFill>
                <a:latin typeface="Montserrat"/>
                <a:ea typeface="Montserrat"/>
                <a:cs typeface="Montserrat"/>
                <a:sym typeface="Montserrat"/>
              </a:rPr>
              <a:t>PILAR III</a:t>
            </a:r>
            <a:endParaRPr b="1" i="0" sz="1000" u="none" cap="none" strike="noStrike">
              <a:solidFill>
                <a:srgbClr val="7E99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6407028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Automatización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6406994" y="2530307"/>
            <a:ext cx="2270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6D5EE"/>
              </a:buClr>
              <a:buSzPts val="800"/>
              <a:buFont typeface="Calibri"/>
              <a:buNone/>
            </a:pPr>
            <a:r>
              <a:rPr b="0" i="0" lang="en-US" sz="1100" u="none" cap="none" strike="noStrike">
                <a:solidFill>
                  <a:srgbClr val="EEF3FF"/>
                </a:solidFill>
                <a:latin typeface="Montserrat"/>
                <a:ea typeface="Montserrat"/>
                <a:cs typeface="Montserrat"/>
                <a:sym typeface="Montserrat"/>
              </a:rPr>
              <a:t>Eliminar tareas repetitivas y flujos manuales entre sistemas.</a:t>
            </a:r>
            <a:endParaRPr b="0" i="0" sz="1100" u="none" cap="none" strike="noStrike">
              <a:solidFill>
                <a:srgbClr val="EEF3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550275" y="3411026"/>
            <a:ext cx="41148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700"/>
              <a:buFont typeface="Calibri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CÓMO SE ABORDA HOY</a:t>
            </a:r>
            <a:endParaRPr b="1" i="0" sz="100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0" name="Google Shape;250;p9"/>
          <p:cNvCxnSpPr/>
          <p:nvPr/>
        </p:nvCxnSpPr>
        <p:spPr>
          <a:xfrm>
            <a:off x="550275" y="3654239"/>
            <a:ext cx="2626800" cy="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1" name="Google Shape;251;p9"/>
          <p:cNvSpPr/>
          <p:nvPr/>
        </p:nvSpPr>
        <p:spPr>
          <a:xfrm>
            <a:off x="550275" y="3795666"/>
            <a:ext cx="2626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900"/>
              <a:buFont typeface="Calibri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Rutas específicas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550287" y="4034933"/>
            <a:ext cx="26268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00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Se diseñan a pedido de los líderes de área, caso por caso.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3" name="Google Shape;253;p9"/>
          <p:cNvCxnSpPr/>
          <p:nvPr/>
        </p:nvCxnSpPr>
        <p:spPr>
          <a:xfrm>
            <a:off x="3389487" y="3654239"/>
            <a:ext cx="2626800" cy="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4" name="Google Shape;254;p9"/>
          <p:cNvSpPr/>
          <p:nvPr/>
        </p:nvSpPr>
        <p:spPr>
          <a:xfrm>
            <a:off x="3389487" y="3795666"/>
            <a:ext cx="2626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900"/>
              <a:buFont typeface="Calibri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Rutas transversales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3389499" y="4034933"/>
            <a:ext cx="26268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00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Contenido genérico disponible en Crehana para toda la organización.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6" name="Google Shape;256;p9"/>
          <p:cNvCxnSpPr/>
          <p:nvPr/>
        </p:nvCxnSpPr>
        <p:spPr>
          <a:xfrm>
            <a:off x="6228700" y="3654239"/>
            <a:ext cx="2626800" cy="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p9"/>
          <p:cNvSpPr/>
          <p:nvPr/>
        </p:nvSpPr>
        <p:spPr>
          <a:xfrm>
            <a:off x="6228700" y="3795666"/>
            <a:ext cx="2626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900"/>
              <a:buFont typeface="Calibri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Comunidad de Data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6228711" y="4034933"/>
            <a:ext cx="26268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00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~170 colaboradores con acceso a eventos exclusivos.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728641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3567853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IA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6407066" y="2266599"/>
            <a:ext cx="227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Automatización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 txBox="1"/>
          <p:nvPr/>
        </p:nvSpPr>
        <p:spPr>
          <a:xfrm>
            <a:off x="571500" y="888551"/>
            <a:ext cx="8001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CONTEXTO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571500" y="1126100"/>
            <a:ext cx="80010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lang="en-US" sz="2100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tres pilares de la estrategia de capacitación</a:t>
            </a:r>
            <a:endParaRPr b="1" sz="2100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0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CONTEXTO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Dónde entra esta propuesta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571525" y="1689338"/>
            <a:ext cx="2651700" cy="2651700"/>
          </a:xfrm>
          <a:prstGeom prst="roundRect">
            <a:avLst>
              <a:gd fmla="val 3279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809269" y="1940394"/>
            <a:ext cx="2194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100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ESTA PROPUESTA</a:t>
            </a:r>
            <a:endParaRPr b="1" i="0" sz="1000" u="none" cap="none" strike="noStrike">
              <a:solidFill>
                <a:srgbClr val="7E99F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809275" y="2555791"/>
            <a:ext cx="2194500" cy="60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Montserrat ExtraBold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Malla formativa Data + IA + Automatización</a:t>
            </a:r>
            <a:endParaRPr b="1" i="0" sz="1700" u="none" cap="none" strike="noStrike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Montserrat ExtraBold"/>
              <a:buNone/>
            </a:pPr>
            <a:r>
              <a:t/>
            </a:r>
            <a:endParaRPr b="1" i="0" sz="1700" u="none" cap="none" strike="noStrike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809275" y="3402191"/>
            <a:ext cx="2194500" cy="67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050"/>
              <a:buFont typeface="Montserrat"/>
              <a:buNone/>
            </a:pPr>
            <a:r>
              <a:rPr b="0" i="0" lang="en-US" sz="1050" u="none" cap="none" strike="noStrike">
                <a:solidFill>
                  <a:srgbClr val="EEF3FF"/>
                </a:solidFill>
                <a:latin typeface="Montserrat"/>
                <a:ea typeface="Montserrat"/>
                <a:cs typeface="Montserrat"/>
                <a:sym typeface="Montserrat"/>
              </a:rPr>
              <a:t>Diagnóstico de nivel, rutas por nivel y por rol, y cartera de casos priorizada.</a:t>
            </a:r>
            <a:endParaRPr b="0" i="0" sz="1050" u="none" cap="none" strike="noStrike">
              <a:solidFill>
                <a:srgbClr val="EEF3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050"/>
              <a:buFont typeface="Montserrat"/>
              <a:buNone/>
            </a:pPr>
            <a:r>
              <a:t/>
            </a:r>
            <a:endParaRPr b="0" i="0" sz="1050" u="none" cap="none" strike="noStrike">
              <a:solidFill>
                <a:srgbClr val="EEF3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3406175" y="1689338"/>
            <a:ext cx="5166300" cy="2651700"/>
          </a:xfrm>
          <a:prstGeom prst="roundRect">
            <a:avLst>
              <a:gd fmla="val 3279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3595718" y="1911611"/>
            <a:ext cx="4951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A4A5F"/>
              </a:buClr>
              <a:buSzPts val="1250"/>
              <a:buFont typeface="Calibri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Cubre el diseño de una malla curricular 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segmentada por nivel (básico, intermedio y avanzado) y por rol (staff, middle management y gerencia) para los tres pilares de la estrategia.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A4A5F"/>
              </a:buClr>
              <a:buSzPts val="1250"/>
              <a:buFont typeface="Calibri"/>
              <a:buNone/>
            </a:pPr>
            <a:r>
              <a:rPr b="1" lang="en-US" sz="1000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El punto de partida no es un catálogo preconstruido.</a:t>
            </a:r>
            <a:r>
              <a:rPr lang="en-US" sz="1000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La malla se levanta optimizando su base de madurez digital actual hacia un diagnóstico real y actualizado del nivel de cada área  y sobre los problemas concretos que hoy resuelve cada equipo, de modo que cada módulo tenga un uso identificado antes de dictarse.</a:t>
            </a:r>
            <a:endParaRPr sz="1000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A4A5F"/>
              </a:buClr>
              <a:buSzPts val="1250"/>
              <a:buFont typeface="Calibri"/>
              <a:buNone/>
            </a:pPr>
            <a:r>
              <a:rPr b="1" lang="en-US" sz="1000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El resultado es una ruta que Pacasmayo</a:t>
            </a:r>
            <a:r>
              <a:rPr lang="en-US" sz="1000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puede desplegar por su cuenta, con Champions identificados por área y una cartera de casos priorizada que conecta la formación con valor de negocio.</a:t>
            </a:r>
            <a:endParaRPr sz="1000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A4A5F"/>
              </a:buClr>
              <a:buSzPts val="1250"/>
              <a:buFont typeface="Calibri"/>
              <a:buNone/>
            </a:pPr>
            <a:r>
              <a:t/>
            </a:r>
            <a:endParaRPr sz="1000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284" name="Google Shape;28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285" name="Google Shape;28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1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Diagnóstico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Las cinco brechas que hoy impiden estructurar la ruta por niveles.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2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DIAGNÓSTICO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 txBox="1"/>
          <p:nvPr/>
        </p:nvSpPr>
        <p:spPr>
          <a:xfrm>
            <a:off x="571500" y="1097275"/>
            <a:ext cx="8001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Cinco brechas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2"/>
          <p:cNvSpPr/>
          <p:nvPr/>
        </p:nvSpPr>
        <p:spPr>
          <a:xfrm>
            <a:off x="571500" y="1574823"/>
            <a:ext cx="1518300" cy="29232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2"/>
          <p:cNvSpPr txBox="1"/>
          <p:nvPr/>
        </p:nvSpPr>
        <p:spPr>
          <a:xfrm>
            <a:off x="719450" y="1680883"/>
            <a:ext cx="12225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BRECHA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 txBox="1"/>
          <p:nvPr/>
        </p:nvSpPr>
        <p:spPr>
          <a:xfrm>
            <a:off x="719450" y="1930541"/>
            <a:ext cx="12225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Contenido sin segmentar</a:t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t/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719454" y="2597772"/>
            <a:ext cx="1222500" cy="72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 txBox="1"/>
          <p:nvPr/>
        </p:nvSpPr>
        <p:spPr>
          <a:xfrm>
            <a:off x="719450" y="2693934"/>
            <a:ext cx="1222500" cy="15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Hoy existe un bloque único de capacitación por temática, sin diferenciar por nivel de madurez del colaborador ni por rol.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t/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2223041" y="1574823"/>
            <a:ext cx="1518300" cy="29232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2370991" y="1680883"/>
            <a:ext cx="12225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BRECHA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2370991" y="1930541"/>
            <a:ext cx="12225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Necesidad de diagnóstico granular</a:t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2370994" y="2597772"/>
            <a:ext cx="1222500" cy="72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2371000" y="2693923"/>
            <a:ext cx="1264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Si bien se cuenta con una base sólida de madurez digital a nivel macro, es necesario actualizar y aterrizar una evaluación técnica y de perfil (ADN digital) específica.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3874582" y="1574823"/>
            <a:ext cx="1518300" cy="29232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2"/>
          <p:cNvSpPr txBox="1"/>
          <p:nvPr/>
        </p:nvSpPr>
        <p:spPr>
          <a:xfrm>
            <a:off x="4022533" y="1680883"/>
            <a:ext cx="12225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BRECHA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2"/>
          <p:cNvSpPr txBox="1"/>
          <p:nvPr/>
        </p:nvSpPr>
        <p:spPr>
          <a:xfrm>
            <a:off x="4022533" y="1930541"/>
            <a:ext cx="12225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Pilares sin malla</a:t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4022534" y="2597772"/>
            <a:ext cx="1222500" cy="72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2"/>
          <p:cNvSpPr txBox="1"/>
          <p:nvPr/>
        </p:nvSpPr>
        <p:spPr>
          <a:xfrm>
            <a:off x="4022525" y="2644298"/>
            <a:ext cx="1264200" cy="13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Data, IA y Automatización existen como frentes estratégicos, pero sin una malla curricular segmentada por nivel para cada uno.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5526124" y="1574823"/>
            <a:ext cx="1518300" cy="29232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5674073" y="1680883"/>
            <a:ext cx="12225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BRECHA 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5674073" y="1930541"/>
            <a:ext cx="12225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Brecha de base</a:t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5674073" y="2597772"/>
            <a:ext cx="1222500" cy="72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2"/>
          <p:cNvSpPr txBox="1"/>
          <p:nvPr/>
        </p:nvSpPr>
        <p:spPr>
          <a:xfrm>
            <a:off x="5674073" y="2644301"/>
            <a:ext cx="12225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Hay colaboradores sin nivel mínimo de Excel y alfabetización digital, lo que limita el avance en las rutas más avanzadas.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7" name="Google Shape;317;p12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7177675" y="1574823"/>
            <a:ext cx="1518300" cy="29232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 txBox="1"/>
          <p:nvPr/>
        </p:nvSpPr>
        <p:spPr>
          <a:xfrm>
            <a:off x="7325625" y="1680883"/>
            <a:ext cx="12225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BRECHA 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 txBox="1"/>
          <p:nvPr/>
        </p:nvSpPr>
        <p:spPr>
          <a:xfrm>
            <a:off x="7325625" y="1930541"/>
            <a:ext cx="12225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3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Alcance disperso</a:t>
            </a:r>
            <a:endParaRPr b="1" i="0" sz="12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7325623" y="2597772"/>
            <a:ext cx="1222500" cy="72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 txBox="1"/>
          <p:nvPr/>
        </p:nvSpPr>
        <p:spPr>
          <a:xfrm>
            <a:off x="7325625" y="2644298"/>
            <a:ext cx="1264200" cy="17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9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La Comunidad de Data reúne a 170 personas con eventos exclusivos, pero no hay un plan de escalamiento hacia los 1,200 colaboradores administrativos.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328" name="Google Shape;32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329" name="Google Shape;32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13"/>
          <p:cNvSpPr txBox="1"/>
          <p:nvPr/>
        </p:nvSpPr>
        <p:spPr>
          <a:xfrm>
            <a:off x="571500" y="1773936"/>
            <a:ext cx="2743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 txBox="1"/>
          <p:nvPr/>
        </p:nvSpPr>
        <p:spPr>
          <a:xfrm>
            <a:off x="571500" y="2157984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reto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 txBox="1"/>
          <p:nvPr/>
        </p:nvSpPr>
        <p:spPr>
          <a:xfrm>
            <a:off x="571500" y="3054096"/>
            <a:ext cx="4937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Una ruta de nivel básico validada antes de su despliegue.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4"/>
          <p:cNvSpPr txBox="1"/>
          <p:nvPr/>
        </p:nvSpPr>
        <p:spPr>
          <a:xfrm>
            <a:off x="571500" y="890626"/>
            <a:ext cx="8001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EL </a:t>
            </a:r>
            <a:r>
              <a:rPr b="1" lang="en-US" sz="1100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571500" y="1174090"/>
            <a:ext cx="8001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lang="en-US" sz="2100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Tres desafíos de la ruta formativa</a:t>
            </a:r>
            <a:endParaRPr b="1" sz="2100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1" name="Google Shape;341;p14"/>
          <p:cNvSpPr txBox="1"/>
          <p:nvPr/>
        </p:nvSpPr>
        <p:spPr>
          <a:xfrm>
            <a:off x="571500" y="1553979"/>
            <a:ext cx="8001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Pacasmayo ya tiene los tres pilares definidos, contenido transversal disponible y una Comunidad de Data de ~170 colaboradores. 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El siguiente paso es convertir esa base en rutas segmentadas que resuelvan problemas reales de cada área.</a:t>
            </a:r>
            <a:endParaRPr b="1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t/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571500" y="2215775"/>
            <a:ext cx="8001000" cy="699300"/>
          </a:xfrm>
          <a:prstGeom prst="roundRect">
            <a:avLst>
              <a:gd fmla="val 9524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772668" y="2398997"/>
            <a:ext cx="310800" cy="282900"/>
          </a:xfrm>
          <a:prstGeom prst="roundRect">
            <a:avLst>
              <a:gd fmla="val 20588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 txBox="1"/>
          <p:nvPr/>
        </p:nvSpPr>
        <p:spPr>
          <a:xfrm>
            <a:off x="772668" y="2448967"/>
            <a:ext cx="3108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 txBox="1"/>
          <p:nvPr/>
        </p:nvSpPr>
        <p:spPr>
          <a:xfrm>
            <a:off x="1229868" y="2332371"/>
            <a:ext cx="22311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Pasar de contenido único a rutas por nivel y por rol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46" name="Google Shape;346;p14"/>
          <p:cNvSpPr txBox="1"/>
          <p:nvPr/>
        </p:nvSpPr>
        <p:spPr>
          <a:xfrm>
            <a:off x="3625596" y="2332371"/>
            <a:ext cx="47184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Hoy existe un bloque genérico para toda la organización. La segmentación es lo que permite que cada colaborador avance desde donde está.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" name="Google Shape;347;p14"/>
          <p:cNvSpPr/>
          <p:nvPr/>
        </p:nvSpPr>
        <p:spPr>
          <a:xfrm>
            <a:off x="571500" y="2981976"/>
            <a:ext cx="8001000" cy="699300"/>
          </a:xfrm>
          <a:prstGeom prst="roundRect">
            <a:avLst>
              <a:gd fmla="val 9524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772668" y="3165198"/>
            <a:ext cx="310800" cy="282900"/>
          </a:xfrm>
          <a:prstGeom prst="roundRect">
            <a:avLst>
              <a:gd fmla="val 20588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4"/>
          <p:cNvSpPr txBox="1"/>
          <p:nvPr/>
        </p:nvSpPr>
        <p:spPr>
          <a:xfrm>
            <a:off x="772668" y="3215167"/>
            <a:ext cx="3108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4"/>
          <p:cNvSpPr txBox="1"/>
          <p:nvPr/>
        </p:nvSpPr>
        <p:spPr>
          <a:xfrm>
            <a:off x="1229868" y="3098572"/>
            <a:ext cx="22311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Profundizar y actualizar el punto de partida por colaborador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51" name="Google Shape;351;p14"/>
          <p:cNvSpPr txBox="1"/>
          <p:nvPr/>
        </p:nvSpPr>
        <p:spPr>
          <a:xfrm>
            <a:off x="3625596" y="3098572"/>
            <a:ext cx="47184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Tomando como base los diagnósticos de madurez digital previos (2024 y 2025), el desafío es llevar esa evaluación a un nivel granular (individual y por área) para trazar rutas de aprendizaje personalizadas.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2" name="Google Shape;352;p14"/>
          <p:cNvSpPr/>
          <p:nvPr/>
        </p:nvSpPr>
        <p:spPr>
          <a:xfrm>
            <a:off x="571500" y="3748176"/>
            <a:ext cx="8001000" cy="699300"/>
          </a:xfrm>
          <a:prstGeom prst="roundRect">
            <a:avLst>
              <a:gd fmla="val 9524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4"/>
          <p:cNvSpPr/>
          <p:nvPr/>
        </p:nvSpPr>
        <p:spPr>
          <a:xfrm>
            <a:off x="772668" y="3931398"/>
            <a:ext cx="310800" cy="282900"/>
          </a:xfrm>
          <a:prstGeom prst="roundRect">
            <a:avLst>
              <a:gd fmla="val 20588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4"/>
          <p:cNvSpPr txBox="1"/>
          <p:nvPr/>
        </p:nvSpPr>
        <p:spPr>
          <a:xfrm>
            <a:off x="772668" y="3981368"/>
            <a:ext cx="3108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4"/>
          <p:cNvSpPr txBox="1"/>
          <p:nvPr/>
        </p:nvSpPr>
        <p:spPr>
          <a:xfrm>
            <a:off x="1229868" y="3864772"/>
            <a:ext cx="22311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Resolver la nivelación básica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56" name="Google Shape;356;p14"/>
          <p:cNvSpPr txBox="1"/>
          <p:nvPr/>
        </p:nvSpPr>
        <p:spPr>
          <a:xfrm>
            <a:off x="3625596" y="3864772"/>
            <a:ext cx="47184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La necesidad base se atiende como ruta opcional, no como requisito para toda la organización.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7" name="Google Shape;357;p14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363" name="Google Shape;36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364" name="Google Shape;36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15"/>
          <p:cNvSpPr txBox="1"/>
          <p:nvPr/>
        </p:nvSpPr>
        <p:spPr>
          <a:xfrm>
            <a:off x="571500" y="1773936"/>
            <a:ext cx="2743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 txBox="1"/>
          <p:nvPr/>
        </p:nvSpPr>
        <p:spPr>
          <a:xfrm>
            <a:off x="571500" y="2157984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Objetivo y 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componentes</a:t>
            </a:r>
            <a:endParaRPr b="1" i="1" sz="4500" u="none" cap="none" strike="noStrike">
              <a:solidFill>
                <a:srgbClr val="7E99F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67" name="Google Shape;367;p15"/>
          <p:cNvSpPr txBox="1"/>
          <p:nvPr/>
        </p:nvSpPr>
        <p:spPr>
          <a:xfrm>
            <a:off x="571500" y="3054096"/>
            <a:ext cx="4937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Una ruta de nivel básico validada antes de su despliegue.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"/>
          <p:cNvSpPr txBox="1"/>
          <p:nvPr/>
        </p:nvSpPr>
        <p:spPr>
          <a:xfrm>
            <a:off x="571500" y="830051"/>
            <a:ext cx="8001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lang="en-US" sz="1100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OBJETIVO Y COMPONENTES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6"/>
          <p:cNvSpPr txBox="1"/>
          <p:nvPr/>
        </p:nvSpPr>
        <p:spPr>
          <a:xfrm>
            <a:off x="571500" y="1370965"/>
            <a:ext cx="8001000" cy="35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contenido genérico a rutas que resuelven </a:t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problemas reales</a:t>
            </a:r>
            <a:endParaRPr b="1" i="0" sz="21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t/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76" name="Google Shape;376;p16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6"/>
          <p:cNvSpPr/>
          <p:nvPr/>
        </p:nvSpPr>
        <p:spPr>
          <a:xfrm>
            <a:off x="571500" y="1819240"/>
            <a:ext cx="8109300" cy="35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909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Instalar en Pacasmayo una malla formativa diseñada a partir de los problemas reales de cada área, con diagnóstico de nivel, Champions identificados y una cartera de casos priorizada para escalar a valor de negocio.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8" name="Google Shape;378;p16"/>
          <p:cNvSpPr/>
          <p:nvPr/>
        </p:nvSpPr>
        <p:spPr>
          <a:xfrm>
            <a:off x="496500" y="2394475"/>
            <a:ext cx="4009800" cy="19254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72300" lIns="72300" spcFirstLastPara="1" rIns="72300" wrap="square" tIns="72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6"/>
          <p:cNvSpPr/>
          <p:nvPr/>
        </p:nvSpPr>
        <p:spPr>
          <a:xfrm>
            <a:off x="674721" y="2553547"/>
            <a:ext cx="36534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712"/>
              <a:buFont typeface="Calibri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COMPONENTE 1</a:t>
            </a:r>
            <a:endParaRPr b="1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0" name="Google Shape;380;p16"/>
          <p:cNvSpPr/>
          <p:nvPr/>
        </p:nvSpPr>
        <p:spPr>
          <a:xfrm>
            <a:off x="674721" y="2770459"/>
            <a:ext cx="36534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1067"/>
              <a:buFont typeface="Calibri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Diagnóstico optimizado</a:t>
            </a:r>
            <a:endParaRPr b="0" i="0" sz="12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1" name="Google Shape;381;p16"/>
          <p:cNvSpPr/>
          <p:nvPr/>
        </p:nvSpPr>
        <p:spPr>
          <a:xfrm>
            <a:off x="682700" y="3123230"/>
            <a:ext cx="3740400" cy="9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30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Apalancándonos en los estudios de madurez digital previos, realizaremos una medición actualizada y profunda del nivel actual (técnico y de perfil) por área y por rol, identificación de Champions e inventario de los casos de uso que ya existen en Data, IA y Automatización.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2" name="Google Shape;382;p16"/>
          <p:cNvSpPr/>
          <p:nvPr/>
        </p:nvSpPr>
        <p:spPr>
          <a:xfrm>
            <a:off x="4670999" y="2394475"/>
            <a:ext cx="4009800" cy="19254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72300" lIns="72300" spcFirstLastPara="1" rIns="72300" wrap="square" tIns="72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6"/>
          <p:cNvSpPr/>
          <p:nvPr/>
        </p:nvSpPr>
        <p:spPr>
          <a:xfrm>
            <a:off x="4849213" y="2553547"/>
            <a:ext cx="36534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712"/>
              <a:buFont typeface="Calibri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COMPONENTE 2</a:t>
            </a:r>
            <a:endParaRPr b="1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16"/>
          <p:cNvSpPr/>
          <p:nvPr/>
        </p:nvSpPr>
        <p:spPr>
          <a:xfrm>
            <a:off x="4849213" y="2770459"/>
            <a:ext cx="36534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1067"/>
              <a:buFont typeface="Calibri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Ruta formativa y cartera</a:t>
            </a:r>
            <a:endParaRPr b="0" i="0" sz="12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p16"/>
          <p:cNvSpPr/>
          <p:nvPr/>
        </p:nvSpPr>
        <p:spPr>
          <a:xfrm>
            <a:off x="4849225" y="3123230"/>
            <a:ext cx="3653400" cy="11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30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Diseño de la malla por nivel y por rol para los tres pilares, con catálogo costeado, cartera de casos priorizada y acompañamiento en el lanzamiento de los primeros casos.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391" name="Google Shape;39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392" name="Google Shape;39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7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Proceso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general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7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Tres fases, cada una con su entregable.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7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lang="en-US" sz="1100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NUESTRO PROCESO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8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060A2E"/>
                </a:solidFill>
                <a:latin typeface="Montserrat"/>
                <a:ea typeface="Montserrat"/>
                <a:cs typeface="Montserrat"/>
                <a:sym typeface="Montserrat"/>
              </a:rPr>
              <a:t>El proceso en 3 fases</a:t>
            </a:r>
            <a:endParaRPr b="1" sz="2100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04" name="Google Shape;404;p18"/>
          <p:cNvSpPr/>
          <p:nvPr/>
        </p:nvSpPr>
        <p:spPr>
          <a:xfrm>
            <a:off x="558000" y="1666975"/>
            <a:ext cx="2528100" cy="27630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8"/>
          <p:cNvSpPr txBox="1"/>
          <p:nvPr/>
        </p:nvSpPr>
        <p:spPr>
          <a:xfrm>
            <a:off x="730400" y="1849850"/>
            <a:ext cx="2183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8"/>
          <p:cNvSpPr txBox="1"/>
          <p:nvPr/>
        </p:nvSpPr>
        <p:spPr>
          <a:xfrm>
            <a:off x="730400" y="2032728"/>
            <a:ext cx="2183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Diagnóstico y línea base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07" name="Google Shape;407;p18"/>
          <p:cNvSpPr txBox="1"/>
          <p:nvPr/>
        </p:nvSpPr>
        <p:spPr>
          <a:xfrm>
            <a:off x="730400" y="2549998"/>
            <a:ext cx="21834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Se actualiza y profundiza la medición del nivel actual por área, se evalúan conocimientos y perfil, y se crearán los casos de Data, IA y Automatización.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730450" y="3596352"/>
            <a:ext cx="2183400" cy="772500"/>
          </a:xfrm>
          <a:prstGeom prst="roundRect">
            <a:avLst>
              <a:gd fmla="val 9677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8"/>
          <p:cNvSpPr txBox="1"/>
          <p:nvPr/>
        </p:nvSpPr>
        <p:spPr>
          <a:xfrm>
            <a:off x="838525" y="3638825"/>
            <a:ext cx="1967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750"/>
              <a:buFont typeface="Montserrat SemiBold"/>
              <a:buNone/>
            </a:pPr>
            <a:r>
              <a:rPr b="1" i="0" lang="en-US" sz="75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Entregable: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8"/>
          <p:cNvSpPr txBox="1"/>
          <p:nvPr/>
        </p:nvSpPr>
        <p:spPr>
          <a:xfrm>
            <a:off x="838525" y="3860897"/>
            <a:ext cx="1967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ontserrat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Informe de diagnóstico as is, mapa de Champions e inventario de casos.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8"/>
          <p:cNvSpPr/>
          <p:nvPr/>
        </p:nvSpPr>
        <p:spPr>
          <a:xfrm>
            <a:off x="3307953" y="1666975"/>
            <a:ext cx="2528100" cy="27630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8"/>
          <p:cNvSpPr txBox="1"/>
          <p:nvPr/>
        </p:nvSpPr>
        <p:spPr>
          <a:xfrm>
            <a:off x="3480350" y="1849850"/>
            <a:ext cx="2183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8"/>
          <p:cNvSpPr txBox="1"/>
          <p:nvPr/>
        </p:nvSpPr>
        <p:spPr>
          <a:xfrm>
            <a:off x="3480350" y="2032728"/>
            <a:ext cx="2183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Ruta formativa y cartera de casos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14" name="Google Shape;414;p18"/>
          <p:cNvSpPr txBox="1"/>
          <p:nvPr/>
        </p:nvSpPr>
        <p:spPr>
          <a:xfrm>
            <a:off x="3480350" y="2549998"/>
            <a:ext cx="21834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Dos subfases en paralelo: diseño de la malla por nivel y por rol para los tres pilares (podría incluirse el módulo Back to Basics como ruta cero opcional)  y acompañamiento en el lanzamiento de los casos priorizados.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18"/>
          <p:cNvSpPr/>
          <p:nvPr/>
        </p:nvSpPr>
        <p:spPr>
          <a:xfrm>
            <a:off x="3480401" y="3596352"/>
            <a:ext cx="2183400" cy="772500"/>
          </a:xfrm>
          <a:prstGeom prst="roundRect">
            <a:avLst>
              <a:gd fmla="val 9677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8"/>
          <p:cNvSpPr txBox="1"/>
          <p:nvPr/>
        </p:nvSpPr>
        <p:spPr>
          <a:xfrm>
            <a:off x="3603500" y="3638825"/>
            <a:ext cx="1937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750"/>
              <a:buFont typeface="Montserrat SemiBold"/>
              <a:buNone/>
            </a:pPr>
            <a:r>
              <a:rPr b="1" i="0" lang="en-US" sz="75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Entregable: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8"/>
          <p:cNvSpPr txBox="1"/>
          <p:nvPr/>
        </p:nvSpPr>
        <p:spPr>
          <a:xfrm>
            <a:off x="3603500" y="3860897"/>
            <a:ext cx="1937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ontserrat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Malla formativa diseñada, catálogo costeado, cartera priorizada y casos acompañados.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8"/>
          <p:cNvSpPr/>
          <p:nvPr/>
        </p:nvSpPr>
        <p:spPr>
          <a:xfrm>
            <a:off x="6057907" y="1666975"/>
            <a:ext cx="2528100" cy="2763000"/>
          </a:xfrm>
          <a:prstGeom prst="roundRect">
            <a:avLst>
              <a:gd fmla="val 389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8"/>
          <p:cNvSpPr txBox="1"/>
          <p:nvPr/>
        </p:nvSpPr>
        <p:spPr>
          <a:xfrm>
            <a:off x="6230350" y="1849850"/>
            <a:ext cx="21093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10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8"/>
          <p:cNvSpPr txBox="1"/>
          <p:nvPr/>
        </p:nvSpPr>
        <p:spPr>
          <a:xfrm>
            <a:off x="6230313" y="2032725"/>
            <a:ext cx="2183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Dictado de capacitaciones</a:t>
            </a:r>
            <a:endParaRPr b="1" i="0" sz="1200" u="none" cap="none" strike="noStrike">
              <a:solidFill>
                <a:srgbClr val="00003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21" name="Google Shape;421;p18"/>
          <p:cNvSpPr txBox="1"/>
          <p:nvPr/>
        </p:nvSpPr>
        <p:spPr>
          <a:xfrm>
            <a:off x="6230300" y="2536425"/>
            <a:ext cx="21834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Despliegue de los módulos formativos diseñados en la Fase 2. Pacasmayo define el ritmo, volumen y secuencia, pudiendo encargar a NEO el dictado total o parcial de las capacitaciones mediante la contratación flexible de paquetes a medida.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18"/>
          <p:cNvSpPr/>
          <p:nvPr/>
        </p:nvSpPr>
        <p:spPr>
          <a:xfrm>
            <a:off x="6230352" y="3596352"/>
            <a:ext cx="2183400" cy="772500"/>
          </a:xfrm>
          <a:prstGeom prst="roundRect">
            <a:avLst>
              <a:gd fmla="val 9677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8"/>
          <p:cNvSpPr txBox="1"/>
          <p:nvPr/>
        </p:nvSpPr>
        <p:spPr>
          <a:xfrm>
            <a:off x="6338375" y="3636975"/>
            <a:ext cx="1899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750"/>
              <a:buFont typeface="Montserrat SemiBold"/>
              <a:buNone/>
            </a:pPr>
            <a:r>
              <a:rPr b="1" i="0" lang="en-US" sz="75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Entregable: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8"/>
          <p:cNvSpPr txBox="1"/>
          <p:nvPr/>
        </p:nvSpPr>
        <p:spPr>
          <a:xfrm>
            <a:off x="6338400" y="3905907"/>
            <a:ext cx="2001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ontserrat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Sesiones de capacitación ejecutadas (según los paquetes), materiales de clase y métricas de satisfacción de los asistentes.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8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431" name="Google Shape;43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432" name="Google Shape;43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9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Detalle del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proceso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9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Actividades, requerimientos y entregables de cada paso.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9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0"/>
          <p:cNvSpPr txBox="1"/>
          <p:nvPr/>
        </p:nvSpPr>
        <p:spPr>
          <a:xfrm>
            <a:off x="571500" y="836455"/>
            <a:ext cx="8001000" cy="1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PASO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0"/>
          <p:cNvSpPr txBox="1"/>
          <p:nvPr/>
        </p:nvSpPr>
        <p:spPr>
          <a:xfrm>
            <a:off x="571500" y="1080262"/>
            <a:ext cx="80010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Diagnóstico y línea base</a:t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44" name="Google Shape;444;p20"/>
          <p:cNvSpPr txBox="1"/>
          <p:nvPr/>
        </p:nvSpPr>
        <p:spPr>
          <a:xfrm>
            <a:off x="571500" y="1446429"/>
            <a:ext cx="805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NEO capitaliza los diagnósticos de madurez digital previos de Pacasmayo para actualizar y medir con mayor precisión el punto de partida táctico de cada área.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5" name="Google Shape;445;p20"/>
          <p:cNvSpPr/>
          <p:nvPr/>
        </p:nvSpPr>
        <p:spPr>
          <a:xfrm>
            <a:off x="571500" y="1875250"/>
            <a:ext cx="3711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0"/>
          <p:cNvSpPr txBox="1"/>
          <p:nvPr/>
        </p:nvSpPr>
        <p:spPr>
          <a:xfrm>
            <a:off x="681800" y="1956307"/>
            <a:ext cx="34053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ACTIVIDADES CLAVE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0"/>
          <p:cNvSpPr txBox="1"/>
          <p:nvPr/>
        </p:nvSpPr>
        <p:spPr>
          <a:xfrm>
            <a:off x="681855" y="2097633"/>
            <a:ext cx="3601200" cy="18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Revisión, integración y calibración de los resultados de los análisis de madurez digital previos (2024/2025) como punto de partida.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Assessment de conocimientos en Data, IA y Automatización, con resultados por área y por rol.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Evaluación de perfil y motivación (ADN digital) para clusterizar la población objetivo.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Clusterización de perfiles e identificación de Champions por área.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Levantamiento de los problemas reales de cada área con sus líderes.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Inventario de casos de Data, IA y Automatización en operación, con estado y responsable. </a:t>
            </a:r>
            <a:endParaRPr b="0" i="0" sz="8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0"/>
          <p:cNvSpPr/>
          <p:nvPr/>
        </p:nvSpPr>
        <p:spPr>
          <a:xfrm>
            <a:off x="4405447" y="1875573"/>
            <a:ext cx="2214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0"/>
          <p:cNvSpPr txBox="1"/>
          <p:nvPr/>
        </p:nvSpPr>
        <p:spPr>
          <a:xfrm>
            <a:off x="4493827" y="1967226"/>
            <a:ext cx="22482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REQUERIMIENTOS AL CLIENTE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0"/>
          <p:cNvSpPr/>
          <p:nvPr/>
        </p:nvSpPr>
        <p:spPr>
          <a:xfrm>
            <a:off x="571500" y="4078300"/>
            <a:ext cx="8001000" cy="490200"/>
          </a:xfrm>
          <a:prstGeom prst="roundRect">
            <a:avLst>
              <a:gd fmla="val 12500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0"/>
          <p:cNvSpPr txBox="1"/>
          <p:nvPr/>
        </p:nvSpPr>
        <p:spPr>
          <a:xfrm>
            <a:off x="790956" y="4120306"/>
            <a:ext cx="1280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0"/>
          <p:cNvSpPr txBox="1"/>
          <p:nvPr/>
        </p:nvSpPr>
        <p:spPr>
          <a:xfrm>
            <a:off x="790950" y="4244300"/>
            <a:ext cx="7671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Informe de diagnóstico de nivel por área y por rol, técnico y de perfil.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Mapa de Champions e inventario de casos de Data, IA y Automatización en operación.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3" name="Google Shape;453;p20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0"/>
          <p:cNvSpPr txBox="1"/>
          <p:nvPr/>
        </p:nvSpPr>
        <p:spPr>
          <a:xfrm>
            <a:off x="4493822" y="2102116"/>
            <a:ext cx="2082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Disponibilidad del equipo de Data de Pacasmayo.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Convocatoria de la población objetivo: los 170 de la Comunidad de Data como piloto.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Disponibilidad de los líderes de área para entender los problemas reales.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Acceso al contenido y a las rutas hoy disponibles.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/home/claude/build/img/photo_f1.jpg" id="455" name="Google Shape;455;p20"/>
          <p:cNvPicPr preferRelativeResize="0"/>
          <p:nvPr/>
        </p:nvPicPr>
        <p:blipFill rotWithShape="1">
          <a:blip r:embed="rId3">
            <a:alphaModFix/>
          </a:blip>
          <a:srcRect b="0" l="0" r="18006" t="18093"/>
          <a:stretch/>
        </p:blipFill>
        <p:spPr>
          <a:xfrm>
            <a:off x="6710100" y="1909464"/>
            <a:ext cx="1862400" cy="2034900"/>
          </a:xfrm>
          <a:prstGeom prst="roundRect">
            <a:avLst>
              <a:gd fmla="val 6720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21"/>
          <p:cNvSpPr txBox="1"/>
          <p:nvPr/>
        </p:nvSpPr>
        <p:spPr>
          <a:xfrm>
            <a:off x="571500" y="836455"/>
            <a:ext cx="8001000" cy="1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PASO 2A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1"/>
          <p:cNvSpPr txBox="1"/>
          <p:nvPr/>
        </p:nvSpPr>
        <p:spPr>
          <a:xfrm>
            <a:off x="571500" y="1080262"/>
            <a:ext cx="80010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Malla formativa por nivel y por rol</a:t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3" name="Google Shape;463;p21"/>
          <p:cNvSpPr txBox="1"/>
          <p:nvPr/>
        </p:nvSpPr>
        <p:spPr>
          <a:xfrm>
            <a:off x="571500" y="1446429"/>
            <a:ext cx="805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NEO diseña la malla completa para los tres pilares y entrega su catálogo costeado. Pacasmayo define el ritmo y el volumen de dictado.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4" name="Google Shape;464;p21"/>
          <p:cNvSpPr/>
          <p:nvPr/>
        </p:nvSpPr>
        <p:spPr>
          <a:xfrm>
            <a:off x="571500" y="1875250"/>
            <a:ext cx="3711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21"/>
          <p:cNvSpPr txBox="1"/>
          <p:nvPr/>
        </p:nvSpPr>
        <p:spPr>
          <a:xfrm>
            <a:off x="681800" y="1956307"/>
            <a:ext cx="34053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ACTIVIDADES CLAVE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1"/>
          <p:cNvSpPr txBox="1"/>
          <p:nvPr/>
        </p:nvSpPr>
        <p:spPr>
          <a:xfrm>
            <a:off x="681855" y="2097633"/>
            <a:ext cx="3601200" cy="18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46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Rutas por nivel (básico, intermedio y avanzado) para Data, IA y Automatización.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Rutas por rol: staff, middle management y gerencia.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Módulo Back to Basics como ruta cero opcional (Excel y alfabetización digital), no obligatoria para toda la organización.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Diseño de la malla: objetivos, contenidos, duración y entregable por módulo.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7" name="Google Shape;467;p21"/>
          <p:cNvSpPr/>
          <p:nvPr/>
        </p:nvSpPr>
        <p:spPr>
          <a:xfrm>
            <a:off x="4405447" y="1875573"/>
            <a:ext cx="2214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1"/>
          <p:cNvSpPr txBox="1"/>
          <p:nvPr/>
        </p:nvSpPr>
        <p:spPr>
          <a:xfrm>
            <a:off x="4493827" y="1967226"/>
            <a:ext cx="22482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REQUERIMIENTOS AL CLIENTE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1"/>
          <p:cNvSpPr/>
          <p:nvPr/>
        </p:nvSpPr>
        <p:spPr>
          <a:xfrm>
            <a:off x="571500" y="4078300"/>
            <a:ext cx="8001000" cy="490200"/>
          </a:xfrm>
          <a:prstGeom prst="roundRect">
            <a:avLst>
              <a:gd fmla="val 12500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1"/>
          <p:cNvSpPr txBox="1"/>
          <p:nvPr/>
        </p:nvSpPr>
        <p:spPr>
          <a:xfrm>
            <a:off x="790956" y="4120306"/>
            <a:ext cx="1280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1"/>
          <p:cNvSpPr txBox="1"/>
          <p:nvPr/>
        </p:nvSpPr>
        <p:spPr>
          <a:xfrm>
            <a:off x="790950" y="4244300"/>
            <a:ext cx="7671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Malla formativa por nivel y por rol para los tres pilares, con entregable por módulo.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Catálogo de capacitaciones costeado.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2" name="Google Shape;472;p21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1"/>
          <p:cNvSpPr txBox="1"/>
          <p:nvPr/>
        </p:nvSpPr>
        <p:spPr>
          <a:xfrm>
            <a:off x="4493822" y="2102116"/>
            <a:ext cx="2082900" cy="19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09550" lvl="0" marL="22860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Validación de la malla por Desarrollo de Talento y por el frente de Data.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Definición de la población objetivo por ruta.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formatos de dictado y duración máxima por sesión.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Designación de líderes de área para las sesiones de validación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4" name="Google Shape;474;p21" title="Captura de pantalla 2026-08-06 a las 23.20.09.png"/>
          <p:cNvPicPr preferRelativeResize="0"/>
          <p:nvPr/>
        </p:nvPicPr>
        <p:blipFill rotWithShape="1">
          <a:blip r:embed="rId3">
            <a:alphaModFix/>
          </a:blip>
          <a:srcRect b="836" l="29178" r="8153" t="826"/>
          <a:stretch/>
        </p:blipFill>
        <p:spPr>
          <a:xfrm>
            <a:off x="6681000" y="1884675"/>
            <a:ext cx="1891500" cy="2066100"/>
          </a:xfrm>
          <a:prstGeom prst="roundRect">
            <a:avLst>
              <a:gd fmla="val 7088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2"/>
          <p:cNvSpPr txBox="1"/>
          <p:nvPr/>
        </p:nvSpPr>
        <p:spPr>
          <a:xfrm>
            <a:off x="571500" y="836455"/>
            <a:ext cx="8001000" cy="1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PASO 2B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2"/>
          <p:cNvSpPr txBox="1"/>
          <p:nvPr/>
        </p:nvSpPr>
        <p:spPr>
          <a:xfrm>
            <a:off x="571500" y="1080262"/>
            <a:ext cx="80010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Cartera de casos y acompañamiento</a:t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82" name="Google Shape;482;p22"/>
          <p:cNvSpPr txBox="1"/>
          <p:nvPr/>
        </p:nvSpPr>
        <p:spPr>
          <a:xfrm>
            <a:off x="571500" y="1446429"/>
            <a:ext cx="805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Esta subfase existe para que la malla no quede en el papel: ordena los casos que ya existen y aplica desarrollo sobre los primeros de la lista.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3" name="Google Shape;483;p22"/>
          <p:cNvSpPr/>
          <p:nvPr/>
        </p:nvSpPr>
        <p:spPr>
          <a:xfrm>
            <a:off x="571500" y="1875250"/>
            <a:ext cx="3711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22"/>
          <p:cNvSpPr txBox="1"/>
          <p:nvPr/>
        </p:nvSpPr>
        <p:spPr>
          <a:xfrm>
            <a:off x="681800" y="1956307"/>
            <a:ext cx="34053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ACTIVIDADES CLAVE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2"/>
          <p:cNvSpPr txBox="1"/>
          <p:nvPr/>
        </p:nvSpPr>
        <p:spPr>
          <a:xfrm>
            <a:off x="681855" y="2097633"/>
            <a:ext cx="3601200" cy="18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Documentación de los casos inventariados y relevados en la Fase 1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Valorización de cada caso: esfuerzo, impacto esperado y área dueña.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Priorización de la cartera bajo un mismo criterio, incorporando los casos que surjan.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Acompañamiento sobre los casos priorizados: definición funcional, configuración y puesta en marcha. Bolsa de horas 10 horas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6" name="Google Shape;486;p22"/>
          <p:cNvSpPr/>
          <p:nvPr/>
        </p:nvSpPr>
        <p:spPr>
          <a:xfrm>
            <a:off x="4405447" y="1875573"/>
            <a:ext cx="2214300" cy="21027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22"/>
          <p:cNvSpPr txBox="1"/>
          <p:nvPr/>
        </p:nvSpPr>
        <p:spPr>
          <a:xfrm>
            <a:off x="4493827" y="1967226"/>
            <a:ext cx="2248200" cy="1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REQUERIMIENTOS AL CLIENTE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2"/>
          <p:cNvSpPr/>
          <p:nvPr/>
        </p:nvSpPr>
        <p:spPr>
          <a:xfrm>
            <a:off x="571500" y="4078300"/>
            <a:ext cx="8001000" cy="490200"/>
          </a:xfrm>
          <a:prstGeom prst="roundRect">
            <a:avLst>
              <a:gd fmla="val 12500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22"/>
          <p:cNvSpPr txBox="1"/>
          <p:nvPr/>
        </p:nvSpPr>
        <p:spPr>
          <a:xfrm>
            <a:off x="790956" y="4120306"/>
            <a:ext cx="1280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2"/>
          <p:cNvSpPr txBox="1"/>
          <p:nvPr/>
        </p:nvSpPr>
        <p:spPr>
          <a:xfrm>
            <a:off x="790950" y="4244300"/>
            <a:ext cx="7671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Cartera de casos documentados, valorizada y priorizada.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Casos priorizados acompañados y en marcha, dentro de la bolsa de horas acordada.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1" name="Google Shape;491;p22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2"/>
          <p:cNvSpPr txBox="1"/>
          <p:nvPr/>
        </p:nvSpPr>
        <p:spPr>
          <a:xfrm>
            <a:off x="4493822" y="2102116"/>
            <a:ext cx="2082900" cy="17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09550" lvl="0" marL="22860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Disponibilidad de los responsables de los casos existentes.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Designación de los casos que reciben acompañamiento sobre la cartera priorizada.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9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Accesos técnicos y licencias necesarias para los casos acompañados.</a:t>
            </a:r>
            <a:endParaRPr b="0" i="0" sz="9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3" name="Google Shape;493;p22" title="ChatGPT Image 4 mar 2026, 09_13_34 p.m..png"/>
          <p:cNvPicPr preferRelativeResize="0"/>
          <p:nvPr/>
        </p:nvPicPr>
        <p:blipFill rotWithShape="1">
          <a:blip r:embed="rId3">
            <a:alphaModFix/>
          </a:blip>
          <a:srcRect b="20865" l="0" r="1235" t="6361"/>
          <a:stretch/>
        </p:blipFill>
        <p:spPr>
          <a:xfrm>
            <a:off x="6695100" y="1897950"/>
            <a:ext cx="1828800" cy="2079900"/>
          </a:xfrm>
          <a:prstGeom prst="roundRect">
            <a:avLst>
              <a:gd fmla="val 692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3"/>
          <p:cNvSpPr txBox="1"/>
          <p:nvPr/>
        </p:nvSpPr>
        <p:spPr>
          <a:xfrm>
            <a:off x="571500" y="836455"/>
            <a:ext cx="8001000" cy="1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PASO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3"/>
          <p:cNvSpPr txBox="1"/>
          <p:nvPr/>
        </p:nvSpPr>
        <p:spPr>
          <a:xfrm>
            <a:off x="571500" y="1040156"/>
            <a:ext cx="80010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Dictado de capacitaciones</a:t>
            </a:r>
            <a:endParaRPr b="1" i="0" sz="2100" u="none" cap="none" strike="noStrike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501" name="Google Shape;501;p23"/>
          <p:cNvSpPr txBox="1"/>
          <p:nvPr/>
        </p:nvSpPr>
        <p:spPr>
          <a:xfrm>
            <a:off x="571500" y="1446424"/>
            <a:ext cx="8055300" cy="38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Despliegue de la malla formativa diseñada. Esta fase ofrece total flexibilidad: Pacasmayo define qué módulos, a qué ritmo y en qué volumen se ejecutan, pudiendo encargar a NEO el dictado del 100% del programa o solo de sesiones estratégicas parciales, mediante paquetes on-demand.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t/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2" name="Google Shape;502;p23"/>
          <p:cNvSpPr/>
          <p:nvPr/>
        </p:nvSpPr>
        <p:spPr>
          <a:xfrm>
            <a:off x="571500" y="1912175"/>
            <a:ext cx="3711300" cy="20658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23"/>
          <p:cNvSpPr txBox="1"/>
          <p:nvPr/>
        </p:nvSpPr>
        <p:spPr>
          <a:xfrm>
            <a:off x="681800" y="1991808"/>
            <a:ext cx="3405300" cy="1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ACTIVIDADES CLAVE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3"/>
          <p:cNvSpPr txBox="1"/>
          <p:nvPr/>
        </p:nvSpPr>
        <p:spPr>
          <a:xfrm>
            <a:off x="681855" y="2162760"/>
            <a:ext cx="3601200" cy="17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Desarrollo de contenidos a medida: Creación de materiales de clase, ejercicios prácticos y dinámicas adaptadas a los módulos definidos en la malla.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Ejecución flexible: Dictado del 100% o parcial de las capacitaciones (por nivel o por rol), según la selección de paquetes elegida por el cliente.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Facilitación experta: Sesiones lideradas por consultores senior y especialistas de NEO (incluye rol de jurados para dinámicas tipo "Battle").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174625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Evaluación de impacto: Medición de satisfacción y aprendizaje al cierre de cada módulo dictado para asegurar el ROI formativo.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23"/>
          <p:cNvSpPr/>
          <p:nvPr/>
        </p:nvSpPr>
        <p:spPr>
          <a:xfrm>
            <a:off x="4405446" y="1912492"/>
            <a:ext cx="2214300" cy="2065800"/>
          </a:xfrm>
          <a:prstGeom prst="roundRect">
            <a:avLst>
              <a:gd fmla="val 404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3"/>
          <p:cNvSpPr txBox="1"/>
          <p:nvPr/>
        </p:nvSpPr>
        <p:spPr>
          <a:xfrm>
            <a:off x="4493826" y="2002536"/>
            <a:ext cx="2248200" cy="1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REQUERIMIENTOS AL CLIENTE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3"/>
          <p:cNvSpPr/>
          <p:nvPr/>
        </p:nvSpPr>
        <p:spPr>
          <a:xfrm>
            <a:off x="571500" y="4078300"/>
            <a:ext cx="8001000" cy="490200"/>
          </a:xfrm>
          <a:prstGeom prst="roundRect">
            <a:avLst>
              <a:gd fmla="val 12500" name="adj"/>
            </a:avLst>
          </a:prstGeom>
          <a:solidFill>
            <a:srgbClr val="00003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23"/>
          <p:cNvSpPr txBox="1"/>
          <p:nvPr/>
        </p:nvSpPr>
        <p:spPr>
          <a:xfrm>
            <a:off x="790956" y="4120306"/>
            <a:ext cx="1280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7E9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790950" y="4244300"/>
            <a:ext cx="7671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Sesiones ejecutadas: Capacitaciones dictadas según el alcance contratado, con facilitadores expertos.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800"/>
              <a:buFont typeface="Montserrat"/>
              <a:buChar char="➔"/>
            </a:pPr>
            <a:r>
              <a:rPr b="0" i="0" lang="en-US" sz="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Kit de transferencia: Materiales de soporte, recursos de clase y reporte de métricas de satisfacción por módulo.</a:t>
            </a:r>
            <a:endParaRPr b="0" i="0" sz="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0" name="Google Shape;510;p23"/>
          <p:cNvSpPr txBox="1"/>
          <p:nvPr/>
        </p:nvSpPr>
        <p:spPr>
          <a:xfrm>
            <a:off x="571500" y="459028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3"/>
          <p:cNvSpPr txBox="1"/>
          <p:nvPr/>
        </p:nvSpPr>
        <p:spPr>
          <a:xfrm>
            <a:off x="4493821" y="2167165"/>
            <a:ext cx="2082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09550" lvl="0" marL="22860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Definición estratégica del volumen, cronograma y módulos específicos que NEO dictará.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Aprobación y contratación de los paquetes de capacitación (modelo on-demand, grupos de hasta 30 personas).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0955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500"/>
              <a:buFont typeface="Montserrat"/>
              <a:buChar char="●"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Gestión logística integral: convocatoria, local, catering, laptops y accesos.</a:t>
            </a:r>
            <a:endParaRPr b="0" i="0" sz="8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12" name="Google Shape;512;p23" title="Captura de pantalla 2026-08-06 a las 23.20.09.png"/>
          <p:cNvPicPr preferRelativeResize="0"/>
          <p:nvPr/>
        </p:nvPicPr>
        <p:blipFill rotWithShape="1">
          <a:blip r:embed="rId3">
            <a:alphaModFix/>
          </a:blip>
          <a:srcRect b="836" l="29178" r="8153" t="826"/>
          <a:stretch/>
        </p:blipFill>
        <p:spPr>
          <a:xfrm>
            <a:off x="6681000" y="1884675"/>
            <a:ext cx="1891500" cy="2066100"/>
          </a:xfrm>
          <a:prstGeom prst="roundRect">
            <a:avLst>
              <a:gd fmla="val 7088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518" name="Google Shape;51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519" name="Google Shape;51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520" name="Google Shape;520;p24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4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Cronograma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4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Fases, entregables e hitos de control mes a mes.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4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_navy.png" id="529" name="Google Shape;52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25"/>
          <p:cNvSpPr txBox="1"/>
          <p:nvPr/>
        </p:nvSpPr>
        <p:spPr>
          <a:xfrm>
            <a:off x="571500" y="870500"/>
            <a:ext cx="8001000" cy="11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CRONOGRAMA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 txBox="1"/>
          <p:nvPr/>
        </p:nvSpPr>
        <p:spPr>
          <a:xfrm>
            <a:off x="571500" y="1098164"/>
            <a:ext cx="8001000" cy="20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Cronograma del</a:t>
            </a:r>
            <a:r>
              <a:rPr b="1" i="1" lang="en-US" sz="2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programa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569675" y="1417350"/>
            <a:ext cx="7971000" cy="2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701"/>
              <a:buFont typeface="Calibri"/>
              <a:buNone/>
            </a:pPr>
            <a:r>
              <a:rPr b="0" i="0" lang="en-US" sz="701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Duración estimada: 6 a 8 semanas.</a:t>
            </a:r>
            <a:endParaRPr b="0" i="0" sz="70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701"/>
              <a:buFont typeface="Calibri"/>
              <a:buNone/>
            </a:pPr>
            <a:r>
              <a:rPr b="0" i="0" lang="en-US" sz="701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Dictado de capacitaciones: 3 meses</a:t>
            </a:r>
            <a:endParaRPr b="0" i="0" sz="70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4" name="Google Shape;534;p25"/>
          <p:cNvSpPr/>
          <p:nvPr/>
        </p:nvSpPr>
        <p:spPr>
          <a:xfrm>
            <a:off x="569675" y="1704266"/>
            <a:ext cx="7971000" cy="248700"/>
          </a:xfrm>
          <a:prstGeom prst="rect">
            <a:avLst/>
          </a:prstGeom>
          <a:solidFill>
            <a:srgbClr val="02021F"/>
          </a:solidFill>
          <a:ln cap="flat" cmpd="sng" w="9525">
            <a:solidFill>
              <a:srgbClr val="020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5" name="Google Shape;535;p25"/>
          <p:cNvSpPr/>
          <p:nvPr/>
        </p:nvSpPr>
        <p:spPr>
          <a:xfrm>
            <a:off x="663510" y="1704266"/>
            <a:ext cx="15747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Fase e iniciativa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6" name="Google Shape;536;p25"/>
          <p:cNvSpPr/>
          <p:nvPr/>
        </p:nvSpPr>
        <p:spPr>
          <a:xfrm>
            <a:off x="2394247" y="1704266"/>
            <a:ext cx="18246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Entregable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7" name="Google Shape;537;p25"/>
          <p:cNvSpPr/>
          <p:nvPr/>
        </p:nvSpPr>
        <p:spPr>
          <a:xfrm>
            <a:off x="4281377" y="1704266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Semana 1-2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8" name="Google Shape;538;p25"/>
          <p:cNvSpPr/>
          <p:nvPr/>
        </p:nvSpPr>
        <p:spPr>
          <a:xfrm>
            <a:off x="6138531" y="1704266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Semana 7-8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9" name="Google Shape;539;p25"/>
          <p:cNvSpPr/>
          <p:nvPr/>
        </p:nvSpPr>
        <p:spPr>
          <a:xfrm>
            <a:off x="4900428" y="1704266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Semana 3-4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0" name="Google Shape;540;p25"/>
          <p:cNvSpPr/>
          <p:nvPr/>
        </p:nvSpPr>
        <p:spPr>
          <a:xfrm>
            <a:off x="5519479" y="1704266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Semana 5-6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1" name="Google Shape;541;p25"/>
          <p:cNvSpPr/>
          <p:nvPr/>
        </p:nvSpPr>
        <p:spPr>
          <a:xfrm>
            <a:off x="569675" y="1952932"/>
            <a:ext cx="7971000" cy="430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2" name="Google Shape;542;p25"/>
          <p:cNvCxnSpPr/>
          <p:nvPr/>
        </p:nvCxnSpPr>
        <p:spPr>
          <a:xfrm>
            <a:off x="2300412" y="195292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3" name="Google Shape;543;p25"/>
          <p:cNvCxnSpPr/>
          <p:nvPr/>
        </p:nvCxnSpPr>
        <p:spPr>
          <a:xfrm>
            <a:off x="4281377" y="195292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4" name="Google Shape;544;p25"/>
          <p:cNvCxnSpPr/>
          <p:nvPr/>
        </p:nvCxnSpPr>
        <p:spPr>
          <a:xfrm>
            <a:off x="4900428" y="195292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5" name="Google Shape;545;p25"/>
          <p:cNvCxnSpPr/>
          <p:nvPr/>
        </p:nvCxnSpPr>
        <p:spPr>
          <a:xfrm>
            <a:off x="5519479" y="195292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6" name="Google Shape;546;p25"/>
          <p:cNvCxnSpPr/>
          <p:nvPr/>
        </p:nvCxnSpPr>
        <p:spPr>
          <a:xfrm>
            <a:off x="6138531" y="195292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7" name="Google Shape;547;p25"/>
          <p:cNvSpPr/>
          <p:nvPr/>
        </p:nvSpPr>
        <p:spPr>
          <a:xfrm>
            <a:off x="663510" y="1952927"/>
            <a:ext cx="15747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640"/>
              <a:buFont typeface="Calibri"/>
              <a:buNone/>
            </a:pPr>
            <a:r>
              <a:rPr b="1" i="0" lang="en-US" sz="64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Fase 1 · Diagnóstico optimizado y línea base</a:t>
            </a:r>
            <a:endParaRPr b="0" i="0" sz="64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8" name="Google Shape;548;p25"/>
          <p:cNvSpPr/>
          <p:nvPr/>
        </p:nvSpPr>
        <p:spPr>
          <a:xfrm>
            <a:off x="2338547" y="1952932"/>
            <a:ext cx="1954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Informe de diagnóstico de nivel por área y por rol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Mapa de Champions e inventario de casos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9" name="Google Shape;549;p25"/>
          <p:cNvSpPr/>
          <p:nvPr/>
        </p:nvSpPr>
        <p:spPr>
          <a:xfrm>
            <a:off x="4412968" y="2091542"/>
            <a:ext cx="1026300" cy="153000"/>
          </a:xfrm>
          <a:prstGeom prst="roundRect">
            <a:avLst>
              <a:gd fmla="val 50000" name="adj"/>
            </a:avLst>
          </a:prstGeom>
          <a:solidFill>
            <a:srgbClr val="02021F"/>
          </a:solidFill>
          <a:ln>
            <a:noFill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5"/>
          <p:cNvSpPr/>
          <p:nvPr/>
        </p:nvSpPr>
        <p:spPr>
          <a:xfrm>
            <a:off x="569675" y="2383306"/>
            <a:ext cx="7971000" cy="238800"/>
          </a:xfrm>
          <a:prstGeom prst="rect">
            <a:avLst/>
          </a:prstGeom>
          <a:solidFill>
            <a:srgbClr val="EEF3FF"/>
          </a:solidFill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25"/>
          <p:cNvCxnSpPr/>
          <p:nvPr/>
        </p:nvCxnSpPr>
        <p:spPr>
          <a:xfrm>
            <a:off x="2300412" y="2383302"/>
            <a:ext cx="0" cy="2388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2" name="Google Shape;552;p25"/>
          <p:cNvCxnSpPr/>
          <p:nvPr/>
        </p:nvCxnSpPr>
        <p:spPr>
          <a:xfrm>
            <a:off x="4281377" y="2383302"/>
            <a:ext cx="0" cy="2388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3" name="Google Shape;553;p25"/>
          <p:cNvCxnSpPr/>
          <p:nvPr/>
        </p:nvCxnSpPr>
        <p:spPr>
          <a:xfrm>
            <a:off x="4900428" y="2383302"/>
            <a:ext cx="0" cy="2388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4" name="Google Shape;554;p25"/>
          <p:cNvCxnSpPr/>
          <p:nvPr/>
        </p:nvCxnSpPr>
        <p:spPr>
          <a:xfrm>
            <a:off x="5519479" y="2383302"/>
            <a:ext cx="0" cy="2388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5" name="Google Shape;555;p25"/>
          <p:cNvCxnSpPr/>
          <p:nvPr/>
        </p:nvCxnSpPr>
        <p:spPr>
          <a:xfrm>
            <a:off x="6138531" y="2383302"/>
            <a:ext cx="0" cy="2388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6" name="Google Shape;556;p25"/>
          <p:cNvSpPr/>
          <p:nvPr/>
        </p:nvSpPr>
        <p:spPr>
          <a:xfrm>
            <a:off x="663510" y="2383302"/>
            <a:ext cx="15747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640"/>
              <a:buFont typeface="Calibri"/>
              <a:buNone/>
            </a:pPr>
            <a:r>
              <a:rPr b="1" i="0" lang="en-US" sz="64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Fase 2 · Ruta formativa y cartera</a:t>
            </a:r>
            <a:endParaRPr b="0" i="0" sz="64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7" name="Google Shape;557;p25"/>
          <p:cNvSpPr/>
          <p:nvPr/>
        </p:nvSpPr>
        <p:spPr>
          <a:xfrm>
            <a:off x="569675" y="2622398"/>
            <a:ext cx="7971000" cy="430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8" name="Google Shape;558;p25"/>
          <p:cNvCxnSpPr/>
          <p:nvPr/>
        </p:nvCxnSpPr>
        <p:spPr>
          <a:xfrm>
            <a:off x="2300412" y="2622399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9" name="Google Shape;559;p25"/>
          <p:cNvCxnSpPr/>
          <p:nvPr/>
        </p:nvCxnSpPr>
        <p:spPr>
          <a:xfrm>
            <a:off x="4281377" y="2622399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0" name="Google Shape;560;p25"/>
          <p:cNvCxnSpPr/>
          <p:nvPr/>
        </p:nvCxnSpPr>
        <p:spPr>
          <a:xfrm>
            <a:off x="4900428" y="2622399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1" name="Google Shape;561;p25"/>
          <p:cNvCxnSpPr/>
          <p:nvPr/>
        </p:nvCxnSpPr>
        <p:spPr>
          <a:xfrm>
            <a:off x="5519479" y="2622399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2" name="Google Shape;562;p25"/>
          <p:cNvCxnSpPr/>
          <p:nvPr/>
        </p:nvCxnSpPr>
        <p:spPr>
          <a:xfrm>
            <a:off x="6138531" y="2622399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3" name="Google Shape;563;p25"/>
          <p:cNvSpPr/>
          <p:nvPr/>
        </p:nvSpPr>
        <p:spPr>
          <a:xfrm>
            <a:off x="709692" y="2622400"/>
            <a:ext cx="15228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640"/>
              <a:buFont typeface="Calibri"/>
              <a:buNone/>
            </a:pPr>
            <a:r>
              <a:rPr b="1" i="0" lang="en-US" sz="64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Fase 2A · Malla y catálogo</a:t>
            </a:r>
            <a:endParaRPr b="0" i="0" sz="64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4" name="Google Shape;564;p25"/>
          <p:cNvSpPr/>
          <p:nvPr/>
        </p:nvSpPr>
        <p:spPr>
          <a:xfrm>
            <a:off x="2394247" y="2622399"/>
            <a:ext cx="18039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Malla por nivel y por rol para los tres pilares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Catálogo de capacitaciones costeado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5" name="Google Shape;565;p25"/>
          <p:cNvSpPr/>
          <p:nvPr/>
        </p:nvSpPr>
        <p:spPr>
          <a:xfrm>
            <a:off x="4977479" y="2760947"/>
            <a:ext cx="1091400" cy="153000"/>
          </a:xfrm>
          <a:prstGeom prst="roundRect">
            <a:avLst>
              <a:gd fmla="val 50000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5"/>
          <p:cNvSpPr/>
          <p:nvPr/>
        </p:nvSpPr>
        <p:spPr>
          <a:xfrm>
            <a:off x="569675" y="3052772"/>
            <a:ext cx="7971000" cy="430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7" name="Google Shape;567;p25"/>
          <p:cNvCxnSpPr/>
          <p:nvPr/>
        </p:nvCxnSpPr>
        <p:spPr>
          <a:xfrm>
            <a:off x="2300412" y="3052774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8" name="Google Shape;568;p25"/>
          <p:cNvCxnSpPr/>
          <p:nvPr/>
        </p:nvCxnSpPr>
        <p:spPr>
          <a:xfrm>
            <a:off x="4281377" y="3052774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9" name="Google Shape;569;p25"/>
          <p:cNvCxnSpPr/>
          <p:nvPr/>
        </p:nvCxnSpPr>
        <p:spPr>
          <a:xfrm>
            <a:off x="4900428" y="3052774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0" name="Google Shape;570;p25"/>
          <p:cNvCxnSpPr/>
          <p:nvPr/>
        </p:nvCxnSpPr>
        <p:spPr>
          <a:xfrm>
            <a:off x="5519479" y="3052774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1" name="Google Shape;571;p25"/>
          <p:cNvCxnSpPr/>
          <p:nvPr/>
        </p:nvCxnSpPr>
        <p:spPr>
          <a:xfrm>
            <a:off x="6138531" y="3052774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2" name="Google Shape;572;p25"/>
          <p:cNvSpPr/>
          <p:nvPr/>
        </p:nvSpPr>
        <p:spPr>
          <a:xfrm>
            <a:off x="709692" y="3052775"/>
            <a:ext cx="15228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640"/>
              <a:buFont typeface="Calibri"/>
              <a:buNone/>
            </a:pPr>
            <a:r>
              <a:rPr b="1" i="0" lang="en-US" sz="64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Fase 2B · Cartera y acompañamiento</a:t>
            </a:r>
            <a:endParaRPr b="0" i="0" sz="640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3" name="Google Shape;573;p25"/>
          <p:cNvSpPr/>
          <p:nvPr/>
        </p:nvSpPr>
        <p:spPr>
          <a:xfrm>
            <a:off x="2394247" y="3052774"/>
            <a:ext cx="18039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Cartera priorizada y casos acompañados dentro de la bolsa de horas 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5"/>
          <p:cNvSpPr/>
          <p:nvPr/>
        </p:nvSpPr>
        <p:spPr>
          <a:xfrm>
            <a:off x="5598951" y="3189751"/>
            <a:ext cx="1158600" cy="153000"/>
          </a:xfrm>
          <a:prstGeom prst="roundRect">
            <a:avLst>
              <a:gd fmla="val 50000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25"/>
          <p:cNvSpPr/>
          <p:nvPr/>
        </p:nvSpPr>
        <p:spPr>
          <a:xfrm>
            <a:off x="569675" y="4093806"/>
            <a:ext cx="13995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549"/>
              <a:buFont typeface="Calibri"/>
              <a:buNone/>
            </a:pPr>
            <a:r>
              <a:rPr b="1" i="0" lang="en-US" sz="54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HITOS DE CONTROL</a:t>
            </a:r>
            <a:endParaRPr b="0" i="0" sz="54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5"/>
          <p:cNvSpPr/>
          <p:nvPr/>
        </p:nvSpPr>
        <p:spPr>
          <a:xfrm>
            <a:off x="1450843" y="4017925"/>
            <a:ext cx="1728900" cy="507900"/>
          </a:xfrm>
          <a:prstGeom prst="roundRect">
            <a:avLst>
              <a:gd fmla="val 5714" name="adj"/>
            </a:avLst>
          </a:prstGeom>
          <a:solidFill>
            <a:srgbClr val="EEF3FF"/>
          </a:solidFill>
          <a:ln cap="flat" cmpd="sng" w="9525">
            <a:solidFill>
              <a:srgbClr val="F4F2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25"/>
          <p:cNvSpPr/>
          <p:nvPr/>
        </p:nvSpPr>
        <p:spPr>
          <a:xfrm>
            <a:off x="1551205" y="4066305"/>
            <a:ext cx="1527900" cy="1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549"/>
              <a:buFont typeface="Calibri"/>
              <a:buNone/>
            </a:pPr>
            <a:r>
              <a:rPr b="1" i="0" lang="en-US" sz="549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◆  SEMANA 3</a:t>
            </a:r>
            <a:endParaRPr b="0" i="0" sz="549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5"/>
          <p:cNvSpPr/>
          <p:nvPr/>
        </p:nvSpPr>
        <p:spPr>
          <a:xfrm>
            <a:off x="1551205" y="4201769"/>
            <a:ext cx="1527900" cy="2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Línea base de nivel por área y por rol, mapa de Champions e inventario de casos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9" name="Google Shape;579;p25"/>
          <p:cNvSpPr/>
          <p:nvPr/>
        </p:nvSpPr>
        <p:spPr>
          <a:xfrm>
            <a:off x="3261885" y="4019750"/>
            <a:ext cx="1728900" cy="507900"/>
          </a:xfrm>
          <a:prstGeom prst="roundRect">
            <a:avLst>
              <a:gd fmla="val 5714" name="adj"/>
            </a:avLst>
          </a:prstGeom>
          <a:solidFill>
            <a:srgbClr val="EEF3FF"/>
          </a:solidFill>
          <a:ln cap="flat" cmpd="sng" w="9525">
            <a:solidFill>
              <a:srgbClr val="F4F2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5"/>
          <p:cNvSpPr/>
          <p:nvPr/>
        </p:nvSpPr>
        <p:spPr>
          <a:xfrm>
            <a:off x="3362246" y="4068130"/>
            <a:ext cx="1527900" cy="1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549"/>
              <a:buFont typeface="Calibri"/>
              <a:buNone/>
            </a:pPr>
            <a:r>
              <a:rPr b="1" i="0" lang="en-US" sz="549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◆  SEMANA 6</a:t>
            </a:r>
            <a:endParaRPr b="0" i="0" sz="549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1" name="Google Shape;581;p25"/>
          <p:cNvSpPr/>
          <p:nvPr/>
        </p:nvSpPr>
        <p:spPr>
          <a:xfrm>
            <a:off x="3362246" y="4203594"/>
            <a:ext cx="1527900" cy="2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Malla formativa por nivel y rol para los tres pilares, con catálogo costeado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2" name="Google Shape;582;p25"/>
          <p:cNvSpPr/>
          <p:nvPr/>
        </p:nvSpPr>
        <p:spPr>
          <a:xfrm>
            <a:off x="5068642" y="4021625"/>
            <a:ext cx="1728900" cy="507900"/>
          </a:xfrm>
          <a:prstGeom prst="roundRect">
            <a:avLst>
              <a:gd fmla="val 5714" name="adj"/>
            </a:avLst>
          </a:prstGeom>
          <a:solidFill>
            <a:srgbClr val="EEF3FF"/>
          </a:solidFill>
          <a:ln cap="flat" cmpd="sng" w="9525">
            <a:solidFill>
              <a:srgbClr val="F4F2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5"/>
          <p:cNvSpPr/>
          <p:nvPr/>
        </p:nvSpPr>
        <p:spPr>
          <a:xfrm>
            <a:off x="5169004" y="4070005"/>
            <a:ext cx="1527900" cy="1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549"/>
              <a:buFont typeface="Calibri"/>
              <a:buNone/>
            </a:pPr>
            <a:r>
              <a:rPr b="1" i="0" lang="en-US" sz="549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◆  SEMANA 8</a:t>
            </a:r>
            <a:endParaRPr b="0" i="0" sz="549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4" name="Google Shape;584;p25"/>
          <p:cNvSpPr/>
          <p:nvPr/>
        </p:nvSpPr>
        <p:spPr>
          <a:xfrm>
            <a:off x="5169004" y="4205469"/>
            <a:ext cx="1527900" cy="2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Cartera priorizada y casos priorizados en marcha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5" name="Google Shape;585;p25"/>
          <p:cNvSpPr/>
          <p:nvPr/>
        </p:nvSpPr>
        <p:spPr>
          <a:xfrm>
            <a:off x="569675" y="3479762"/>
            <a:ext cx="7971000" cy="430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6" name="Google Shape;586;p25"/>
          <p:cNvCxnSpPr/>
          <p:nvPr/>
        </p:nvCxnSpPr>
        <p:spPr>
          <a:xfrm>
            <a:off x="2299878" y="3479772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7" name="Google Shape;587;p25"/>
          <p:cNvCxnSpPr/>
          <p:nvPr/>
        </p:nvCxnSpPr>
        <p:spPr>
          <a:xfrm>
            <a:off x="4281372" y="3479772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8" name="Google Shape;588;p25"/>
          <p:cNvCxnSpPr/>
          <p:nvPr/>
        </p:nvCxnSpPr>
        <p:spPr>
          <a:xfrm>
            <a:off x="4900424" y="3485387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9" name="Google Shape;589;p25"/>
          <p:cNvCxnSpPr/>
          <p:nvPr/>
        </p:nvCxnSpPr>
        <p:spPr>
          <a:xfrm>
            <a:off x="5519475" y="3475621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0" name="Google Shape;590;p25"/>
          <p:cNvCxnSpPr/>
          <p:nvPr/>
        </p:nvCxnSpPr>
        <p:spPr>
          <a:xfrm>
            <a:off x="6138526" y="3479772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1" name="Google Shape;591;p25"/>
          <p:cNvSpPr/>
          <p:nvPr/>
        </p:nvSpPr>
        <p:spPr>
          <a:xfrm>
            <a:off x="635803" y="3581157"/>
            <a:ext cx="15747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640"/>
              <a:buFont typeface="Calibri"/>
              <a:buNone/>
            </a:pPr>
            <a:r>
              <a:rPr b="1" i="0" lang="en-US" sz="64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Fase 3 · Dictado de capacitaciones</a:t>
            </a:r>
            <a:endParaRPr b="1" i="0" sz="64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2" name="Google Shape;592;p25"/>
          <p:cNvSpPr/>
          <p:nvPr/>
        </p:nvSpPr>
        <p:spPr>
          <a:xfrm>
            <a:off x="2327303" y="3475615"/>
            <a:ext cx="1954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Despliegue de la malla formativa diseñada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– Dictado del 100% o parcial de las capacitaciones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93" name="Google Shape;593;p25"/>
          <p:cNvCxnSpPr/>
          <p:nvPr/>
        </p:nvCxnSpPr>
        <p:spPr>
          <a:xfrm>
            <a:off x="6757650" y="1952915"/>
            <a:ext cx="0" cy="430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4" name="Google Shape;594;p25"/>
          <p:cNvCxnSpPr/>
          <p:nvPr/>
        </p:nvCxnSpPr>
        <p:spPr>
          <a:xfrm>
            <a:off x="6757575" y="1974001"/>
            <a:ext cx="0" cy="1963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5" name="Google Shape;595;p25"/>
          <p:cNvSpPr/>
          <p:nvPr/>
        </p:nvSpPr>
        <p:spPr>
          <a:xfrm>
            <a:off x="6887251" y="4045425"/>
            <a:ext cx="1653300" cy="507900"/>
          </a:xfrm>
          <a:prstGeom prst="roundRect">
            <a:avLst>
              <a:gd fmla="val 5714" name="adj"/>
            </a:avLst>
          </a:prstGeom>
          <a:solidFill>
            <a:srgbClr val="EEF3FF"/>
          </a:solidFill>
          <a:ln cap="flat" cmpd="sng" w="9525">
            <a:solidFill>
              <a:srgbClr val="F4F2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25"/>
          <p:cNvSpPr/>
          <p:nvPr/>
        </p:nvSpPr>
        <p:spPr>
          <a:xfrm>
            <a:off x="6987604" y="4093805"/>
            <a:ext cx="1527900" cy="1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549"/>
              <a:buFont typeface="Calibri"/>
              <a:buNone/>
            </a:pPr>
            <a:r>
              <a:rPr b="1" i="0" lang="en-US" sz="549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◆  SEMANA 9+</a:t>
            </a:r>
            <a:endParaRPr b="0" i="0" sz="549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7" name="Google Shape;597;p25"/>
          <p:cNvSpPr/>
          <p:nvPr/>
        </p:nvSpPr>
        <p:spPr>
          <a:xfrm>
            <a:off x="6987604" y="4229269"/>
            <a:ext cx="1527900" cy="2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579"/>
              <a:buFont typeface="Calibri"/>
              <a:buNone/>
            </a:pPr>
            <a:r>
              <a:rPr b="0" i="0" lang="en-US" sz="579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Dictado de capacitaciones guiada de la malla formativa diseñada</a:t>
            </a:r>
            <a:endParaRPr b="0" i="0" sz="579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8" name="Google Shape;598;p25"/>
          <p:cNvSpPr/>
          <p:nvPr/>
        </p:nvSpPr>
        <p:spPr>
          <a:xfrm>
            <a:off x="6773333" y="1704144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Mes 3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99" name="Google Shape;599;p25"/>
          <p:cNvCxnSpPr/>
          <p:nvPr/>
        </p:nvCxnSpPr>
        <p:spPr>
          <a:xfrm>
            <a:off x="7376646" y="1969548"/>
            <a:ext cx="0" cy="1963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25"/>
          <p:cNvCxnSpPr/>
          <p:nvPr/>
        </p:nvCxnSpPr>
        <p:spPr>
          <a:xfrm>
            <a:off x="7951720" y="1967239"/>
            <a:ext cx="0" cy="1963500"/>
          </a:xfrm>
          <a:prstGeom prst="straightConnector1">
            <a:avLst/>
          </a:prstGeom>
          <a:noFill/>
          <a:ln cap="flat" cmpd="sng" w="9525">
            <a:solidFill>
              <a:srgbClr val="D9D7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1" name="Google Shape;601;p25"/>
          <p:cNvSpPr/>
          <p:nvPr/>
        </p:nvSpPr>
        <p:spPr>
          <a:xfrm>
            <a:off x="7376766" y="1704144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Mes 4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2" name="Google Shape;602;p25"/>
          <p:cNvSpPr/>
          <p:nvPr/>
        </p:nvSpPr>
        <p:spPr>
          <a:xfrm>
            <a:off x="7951720" y="1704144"/>
            <a:ext cx="6189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1"/>
              <a:buFont typeface="Calibri"/>
              <a:buNone/>
            </a:pPr>
            <a:r>
              <a:rPr b="1" i="0" lang="en-US" sz="671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Mes 5</a:t>
            </a:r>
            <a:endParaRPr b="0" i="0" sz="671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3" name="Google Shape;603;p25"/>
          <p:cNvSpPr/>
          <p:nvPr/>
        </p:nvSpPr>
        <p:spPr>
          <a:xfrm>
            <a:off x="6785158" y="3614134"/>
            <a:ext cx="1767900" cy="153000"/>
          </a:xfrm>
          <a:prstGeom prst="roundRect">
            <a:avLst>
              <a:gd fmla="val 50000" name="adj"/>
            </a:avLst>
          </a:prstGeom>
          <a:solidFill>
            <a:srgbClr val="7E99FE"/>
          </a:solidFill>
          <a:ln>
            <a:noFill/>
          </a:ln>
        </p:spPr>
        <p:txBody>
          <a:bodyPr anchorCtr="0" anchor="ctr" bIns="55750" lIns="55750" spcFirstLastPara="1" rIns="55750" wrap="square" tIns="55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609" name="Google Shape;60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610" name="Google Shape;61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26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6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Consideraciones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6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Lo que entrega NEO y lo que ejecuta Pacasmayo.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6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content.png" id="620" name="Google Shape;62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navy.png" id="621" name="Google Shape;62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Google Shape;622;p27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CONSIDERACIONES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7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Consideraciones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7"/>
          <p:cNvSpPr txBox="1"/>
          <p:nvPr/>
        </p:nvSpPr>
        <p:spPr>
          <a:xfrm>
            <a:off x="571500" y="1539850"/>
            <a:ext cx="6560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Lo que entrega NEO y lo que ejecuta Pacasmayo a lo largo de la ruta.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7"/>
          <p:cNvSpPr/>
          <p:nvPr/>
        </p:nvSpPr>
        <p:spPr>
          <a:xfrm>
            <a:off x="571500" y="2011680"/>
            <a:ext cx="3890772" cy="2139696"/>
          </a:xfrm>
          <a:prstGeom prst="roundRect">
            <a:avLst>
              <a:gd fmla="val 3419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27"/>
          <p:cNvSpPr/>
          <p:nvPr/>
        </p:nvSpPr>
        <p:spPr>
          <a:xfrm>
            <a:off x="809244" y="2231136"/>
            <a:ext cx="1773936" cy="292608"/>
          </a:xfrm>
          <a:prstGeom prst="roundRect">
            <a:avLst>
              <a:gd fmla="val 50000" name="adj"/>
            </a:avLst>
          </a:prstGeom>
          <a:solidFill>
            <a:srgbClr val="2B5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27"/>
          <p:cNvSpPr txBox="1"/>
          <p:nvPr/>
        </p:nvSpPr>
        <p:spPr>
          <a:xfrm>
            <a:off x="809244" y="2304288"/>
            <a:ext cx="17739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 ENTREGA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/>
          <p:nvPr/>
        </p:nvSpPr>
        <p:spPr>
          <a:xfrm>
            <a:off x="4681725" y="2011675"/>
            <a:ext cx="4089000" cy="2139600"/>
          </a:xfrm>
          <a:prstGeom prst="roundRect">
            <a:avLst>
              <a:gd fmla="val 3419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27"/>
          <p:cNvSpPr/>
          <p:nvPr/>
        </p:nvSpPr>
        <p:spPr>
          <a:xfrm>
            <a:off x="4919472" y="2231136"/>
            <a:ext cx="1773936" cy="292608"/>
          </a:xfrm>
          <a:prstGeom prst="roundRect">
            <a:avLst>
              <a:gd fmla="val 50000" name="adj"/>
            </a:avLst>
          </a:prstGeom>
          <a:solidFill>
            <a:srgbClr val="EEF3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27"/>
          <p:cNvSpPr txBox="1"/>
          <p:nvPr/>
        </p:nvSpPr>
        <p:spPr>
          <a:xfrm>
            <a:off x="4919472" y="2304288"/>
            <a:ext cx="17739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EL CLIENTE EJECUTA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7"/>
          <p:cNvSpPr/>
          <p:nvPr/>
        </p:nvSpPr>
        <p:spPr>
          <a:xfrm>
            <a:off x="809251" y="2662426"/>
            <a:ext cx="37158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1029"/>
              <a:buFont typeface="Calibri"/>
              <a:buNone/>
            </a:pPr>
            <a:r>
              <a:rPr b="1" i="0" lang="en-US" sz="14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Diagnóstico, malla y cartera</a:t>
            </a:r>
            <a:endParaRPr b="0" i="0" sz="14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3" name="Google Shape;633;p27"/>
          <p:cNvSpPr/>
          <p:nvPr/>
        </p:nvSpPr>
        <p:spPr>
          <a:xfrm>
            <a:off x="809250" y="2981888"/>
            <a:ext cx="3492000" cy="11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801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La actualización del diagnóstico de nivel por área y por rol, la malla formativa para los tres pilares, el catálogo de capacitaciones costeado, la cartera de casos priorizada y el acompañamiento en el lanzamiento de los casos priorizados.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4" name="Google Shape;634;p27"/>
          <p:cNvSpPr/>
          <p:nvPr/>
        </p:nvSpPr>
        <p:spPr>
          <a:xfrm>
            <a:off x="4993100" y="2662425"/>
            <a:ext cx="3777600" cy="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29"/>
              <a:buFont typeface="Calibri"/>
              <a:buNone/>
            </a:pPr>
            <a:r>
              <a:rPr b="1" i="0" lang="en-US" sz="14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Despliegue y dictado</a:t>
            </a:r>
            <a:endParaRPr b="0" i="0" sz="14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5" name="Google Shape;635;p27"/>
          <p:cNvSpPr/>
          <p:nvPr/>
        </p:nvSpPr>
        <p:spPr>
          <a:xfrm>
            <a:off x="4993100" y="2981901"/>
            <a:ext cx="3777600" cy="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D6D5EE"/>
              </a:buClr>
              <a:buSzPts val="801"/>
              <a:buFont typeface="Calibri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El despliegue de las rutas apoyado en sus Champions, el dictado de las capacitaciones al ritmo, volumen y secuencia que defina (contratando los paquetes que decida) y la designación de Champions y líderes de área para las sesiones de validación.</a:t>
            </a:r>
            <a:endParaRPr b="0" i="0" sz="1000" u="none" cap="none" strike="noStrike">
              <a:solidFill>
                <a:srgbClr val="0000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641" name="Google Shape;64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642" name="Google Shape;64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643" name="Google Shape;643;p28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8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Estimación de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impacto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8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 impacto esperado de la ruta, a completar con Pacasmayo.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8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9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ESTIMACIÓN DE IMPACTO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9"/>
          <p:cNvSpPr txBox="1"/>
          <p:nvPr/>
        </p:nvSpPr>
        <p:spPr>
          <a:xfrm>
            <a:off x="571500" y="1174090"/>
            <a:ext cx="8001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lang="en-US" sz="2100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Referencias de programas equivalentes de capacitación</a:t>
            </a:r>
            <a:endParaRPr b="1" sz="2100">
              <a:solidFill>
                <a:srgbClr val="0000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54" name="Google Shape;654;p29"/>
          <p:cNvSpPr/>
          <p:nvPr/>
        </p:nvSpPr>
        <p:spPr>
          <a:xfrm>
            <a:off x="571500" y="1992762"/>
            <a:ext cx="2479200" cy="205650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29"/>
          <p:cNvSpPr/>
          <p:nvPr/>
        </p:nvSpPr>
        <p:spPr>
          <a:xfrm>
            <a:off x="3332400" y="1992762"/>
            <a:ext cx="2479200" cy="205650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29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29"/>
          <p:cNvSpPr/>
          <p:nvPr/>
        </p:nvSpPr>
        <p:spPr>
          <a:xfrm>
            <a:off x="6093300" y="1992762"/>
            <a:ext cx="2479200" cy="205650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29"/>
          <p:cNvSpPr/>
          <p:nvPr/>
        </p:nvSpPr>
        <p:spPr>
          <a:xfrm>
            <a:off x="731804" y="2070950"/>
            <a:ext cx="24291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2774"/>
              <a:buFont typeface="Calibri"/>
              <a:buNone/>
            </a:pPr>
            <a:r>
              <a:rPr b="1" i="0" lang="en-US" sz="2544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+12</a:t>
            </a:r>
            <a:endParaRPr i="0" sz="2544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9" name="Google Shape;659;p29"/>
          <p:cNvSpPr/>
          <p:nvPr/>
        </p:nvSpPr>
        <p:spPr>
          <a:xfrm>
            <a:off x="731812" y="2555847"/>
            <a:ext cx="21489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867"/>
              <a:buFont typeface="Calibri"/>
              <a:buNone/>
            </a:pPr>
            <a:r>
              <a:rPr b="1" i="0" lang="en-US" sz="1200" u="none" cap="none" strike="noStrike">
                <a:solidFill>
                  <a:srgbClr val="060A2E"/>
                </a:solidFill>
                <a:latin typeface="Montserrat"/>
                <a:ea typeface="Montserrat"/>
                <a:cs typeface="Montserrat"/>
                <a:sym typeface="Montserrat"/>
              </a:rPr>
              <a:t>Proyectos de alto impacto identificados</a:t>
            </a:r>
            <a:endParaRPr i="0" sz="12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0" name="Google Shape;660;p29"/>
          <p:cNvSpPr/>
          <p:nvPr/>
        </p:nvSpPr>
        <p:spPr>
          <a:xfrm>
            <a:off x="731824" y="3013788"/>
            <a:ext cx="2148900" cy="7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728"/>
              <a:buFont typeface="Calibri"/>
              <a:buNone/>
            </a:pPr>
            <a:r>
              <a:rPr i="0" lang="en-US" sz="1000" u="none" cap="none" strike="noStrike">
                <a:solidFill>
                  <a:srgbClr val="4A4A5F"/>
                </a:solidFill>
                <a:latin typeface="Montserrat"/>
                <a:ea typeface="Montserrat"/>
                <a:cs typeface="Montserrat"/>
                <a:sym typeface="Montserrat"/>
              </a:rPr>
              <a:t>Pacífico Seguros · Prompt Battle. Nivel 1: primer contacto estructurado del equipo con prompt engineering aplicado al negocio.</a:t>
            </a:r>
            <a:endParaRPr i="0" sz="10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1" name="Google Shape;661;p29"/>
          <p:cNvSpPr/>
          <p:nvPr/>
        </p:nvSpPr>
        <p:spPr>
          <a:xfrm>
            <a:off x="3491238" y="2070952"/>
            <a:ext cx="22953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2774"/>
              <a:buFont typeface="Calibri"/>
              <a:buNone/>
            </a:pPr>
            <a:r>
              <a:rPr b="1" i="0" lang="en-US" sz="2544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-40%</a:t>
            </a:r>
            <a:endParaRPr i="0" sz="2544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2" name="Google Shape;662;p29"/>
          <p:cNvSpPr/>
          <p:nvPr/>
        </p:nvSpPr>
        <p:spPr>
          <a:xfrm>
            <a:off x="3424338" y="2555847"/>
            <a:ext cx="22953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867"/>
              <a:buFont typeface="Calibri"/>
              <a:buNone/>
            </a:pPr>
            <a:r>
              <a:rPr b="1" i="0" lang="en-US" sz="1200" u="none" cap="none" strike="noStrike">
                <a:solidFill>
                  <a:srgbClr val="060A2E"/>
                </a:solidFill>
                <a:latin typeface="Montserrat"/>
                <a:ea typeface="Montserrat"/>
                <a:cs typeface="Montserrat"/>
                <a:sym typeface="Montserrat"/>
              </a:rPr>
              <a:t>Menos tiempo en tareas operativas</a:t>
            </a:r>
            <a:endParaRPr i="0" sz="12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3" name="Google Shape;663;p29"/>
          <p:cNvSpPr/>
          <p:nvPr/>
        </p:nvSpPr>
        <p:spPr>
          <a:xfrm>
            <a:off x="3424350" y="3013788"/>
            <a:ext cx="2295300" cy="7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728"/>
              <a:buFont typeface="Calibri"/>
              <a:buNone/>
            </a:pPr>
            <a:r>
              <a:rPr i="0" lang="en-US" sz="1000" u="none" cap="none" strike="noStrike">
                <a:solidFill>
                  <a:srgbClr val="4A4A5F"/>
                </a:solidFill>
                <a:latin typeface="Montserrat"/>
                <a:ea typeface="Montserrat"/>
                <a:cs typeface="Montserrat"/>
                <a:sym typeface="Montserrat"/>
              </a:rPr>
              <a:t>BCP · Ciclo de capacitación y Agent Battle. El 100% del equipo quedó habilitado para crear y gestionar sus propios agentes.</a:t>
            </a:r>
            <a:endParaRPr i="0" sz="10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4" name="Google Shape;664;p29"/>
          <p:cNvSpPr/>
          <p:nvPr/>
        </p:nvSpPr>
        <p:spPr>
          <a:xfrm>
            <a:off x="6263287" y="2070952"/>
            <a:ext cx="2148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2774"/>
              <a:buFont typeface="Calibri"/>
              <a:buNone/>
            </a:pPr>
            <a:r>
              <a:rPr b="1" i="0" lang="en-US" sz="2544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+1000</a:t>
            </a:r>
            <a:endParaRPr i="0" sz="2544" u="none" cap="none" strike="noStrike">
              <a:solidFill>
                <a:srgbClr val="2B5B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5" name="Google Shape;665;p29"/>
          <p:cNvSpPr/>
          <p:nvPr/>
        </p:nvSpPr>
        <p:spPr>
          <a:xfrm>
            <a:off x="6263287" y="2555854"/>
            <a:ext cx="21489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60A2E"/>
              </a:buClr>
              <a:buSzPts val="867"/>
              <a:buFont typeface="Calibri"/>
              <a:buNone/>
            </a:pPr>
            <a:r>
              <a:rPr b="1" i="0" lang="en-US" sz="1200" u="none" cap="none" strike="noStrike">
                <a:solidFill>
                  <a:srgbClr val="060A2E"/>
                </a:solidFill>
                <a:latin typeface="Montserrat"/>
                <a:ea typeface="Montserrat"/>
                <a:cs typeface="Montserrat"/>
                <a:sym typeface="Montserrat"/>
              </a:rPr>
              <a:t>Horas ahorradas al mes</a:t>
            </a:r>
            <a:endParaRPr i="0" sz="12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6" name="Google Shape;666;p29"/>
          <p:cNvSpPr/>
          <p:nvPr/>
        </p:nvSpPr>
        <p:spPr>
          <a:xfrm>
            <a:off x="6263299" y="3013790"/>
            <a:ext cx="2148900" cy="7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728"/>
              <a:buFont typeface="Calibri"/>
              <a:buNone/>
            </a:pPr>
            <a:r>
              <a:rPr i="0" lang="en-US" sz="1000" u="none" cap="none" strike="noStrike">
                <a:solidFill>
                  <a:srgbClr val="4A4A5F"/>
                </a:solidFill>
                <a:latin typeface="Montserrat"/>
                <a:ea typeface="Montserrat"/>
                <a:cs typeface="Montserrat"/>
                <a:sym typeface="Montserrat"/>
              </a:rPr>
              <a:t>Intercorp · Vibe Coding Workshop. Reporting manual y tareas repetitivas, entre todas las soluciones construidas.</a:t>
            </a:r>
            <a:endParaRPr i="0" sz="10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7" name="Google Shape;667;p29"/>
          <p:cNvSpPr/>
          <p:nvPr/>
        </p:nvSpPr>
        <p:spPr>
          <a:xfrm>
            <a:off x="571500" y="1600327"/>
            <a:ext cx="8001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A4A5F"/>
              </a:buClr>
              <a:buSzPts val="1150"/>
              <a:buFont typeface="Calibri"/>
              <a:buNone/>
            </a:pPr>
            <a:r>
              <a:rPr i="0" lang="en-US" sz="1000" u="none" cap="none" strike="noStrike">
                <a:solidFill>
                  <a:srgbClr val="4A4A5F"/>
                </a:solidFill>
                <a:latin typeface="Montserrat"/>
                <a:ea typeface="Montserrat"/>
                <a:cs typeface="Montserrat"/>
                <a:sym typeface="Montserrat"/>
              </a:rPr>
              <a:t>Resultados obtenidos por NEO en programas de formación en IA con clientes de arranque comparable.</a:t>
            </a:r>
            <a:endParaRPr i="0" sz="10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8" name="Google Shape;668;p29"/>
          <p:cNvSpPr/>
          <p:nvPr/>
        </p:nvSpPr>
        <p:spPr>
          <a:xfrm>
            <a:off x="645400" y="4061850"/>
            <a:ext cx="78387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BBF"/>
              </a:buClr>
              <a:buSzPts val="950"/>
              <a:buFont typeface="Calibri"/>
              <a:buNone/>
            </a:pPr>
            <a:r>
              <a:rPr b="1" i="1" lang="en-US" sz="600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Nota:</a:t>
            </a:r>
            <a:r>
              <a:rPr b="1" i="1" lang="en-US" sz="550" u="none" cap="none" strike="noStrike">
                <a:solidFill>
                  <a:srgbClr val="6E6BBF"/>
                </a:solidFill>
                <a:latin typeface="Montserrat"/>
                <a:ea typeface="Montserrat"/>
                <a:cs typeface="Montserrat"/>
                <a:sym typeface="Montserrat"/>
              </a:rPr>
              <a:t>   </a:t>
            </a:r>
            <a:r>
              <a:rPr i="1" lang="en-US" sz="600" u="none" cap="none" strike="noStrike">
                <a:solidFill>
                  <a:srgbClr val="4A4A5F"/>
                </a:solidFill>
                <a:latin typeface="Montserrat"/>
                <a:ea typeface="Montserrat"/>
                <a:cs typeface="Montserrat"/>
                <a:sym typeface="Montserrat"/>
              </a:rPr>
              <a:t>No existe todavía una cifra de impacto verificada para Cementos Pacasmayo. Las cifras de arriba corresponden a otros clientes y no son una proyección de resultados. Las metas de Pacasmayo se fijan en la Fase 1 contra la línea base medida.</a:t>
            </a:r>
            <a:endParaRPr i="1" sz="55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675" name="Google Shape;67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676" name="Google Shape;676;p30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09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0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Inversión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Inversión por fase y paquetes de capacitaciones.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0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31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INVERSIÓN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1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Inversión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1"/>
          <p:cNvSpPr/>
          <p:nvPr/>
        </p:nvSpPr>
        <p:spPr>
          <a:xfrm>
            <a:off x="571500" y="1664208"/>
            <a:ext cx="8001000" cy="2194560"/>
          </a:xfrm>
          <a:prstGeom prst="roundRect">
            <a:avLst>
              <a:gd fmla="val 3333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31"/>
          <p:cNvSpPr txBox="1"/>
          <p:nvPr/>
        </p:nvSpPr>
        <p:spPr>
          <a:xfrm>
            <a:off x="790956" y="181051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Etapa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1"/>
          <p:cNvSpPr txBox="1"/>
          <p:nvPr/>
        </p:nvSpPr>
        <p:spPr>
          <a:xfrm>
            <a:off x="3186684" y="1810512"/>
            <a:ext cx="3657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Entregable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31"/>
          <p:cNvSpPr txBox="1"/>
          <p:nvPr/>
        </p:nvSpPr>
        <p:spPr>
          <a:xfrm>
            <a:off x="6890015" y="1797712"/>
            <a:ext cx="1463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850"/>
              <a:buFont typeface="Montserrat SemiBold"/>
              <a:buNone/>
            </a:pPr>
            <a:r>
              <a:rPr b="1" i="0" lang="en-US" sz="85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Inversión / Total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1"/>
          <p:cNvSpPr/>
          <p:nvPr/>
        </p:nvSpPr>
        <p:spPr>
          <a:xfrm>
            <a:off x="790956" y="2048256"/>
            <a:ext cx="7562088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1"/>
          <p:cNvSpPr txBox="1"/>
          <p:nvPr/>
        </p:nvSpPr>
        <p:spPr>
          <a:xfrm>
            <a:off x="790956" y="2108096"/>
            <a:ext cx="2286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1: Diagnóstico As-is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31"/>
          <p:cNvSpPr txBox="1"/>
          <p:nvPr/>
        </p:nvSpPr>
        <p:spPr>
          <a:xfrm>
            <a:off x="3186684" y="2108096"/>
            <a:ext cx="374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Informe de diagnóstico As-is.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Mapa de perfiles y niveles de partida.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1"/>
          <p:cNvSpPr txBox="1"/>
          <p:nvPr/>
        </p:nvSpPr>
        <p:spPr>
          <a:xfrm>
            <a:off x="6914765" y="2155064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31"/>
          <p:cNvSpPr/>
          <p:nvPr/>
        </p:nvSpPr>
        <p:spPr>
          <a:xfrm>
            <a:off x="790956" y="2432304"/>
            <a:ext cx="7562088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1"/>
          <p:cNvSpPr txBox="1"/>
          <p:nvPr/>
        </p:nvSpPr>
        <p:spPr>
          <a:xfrm>
            <a:off x="790956" y="2437280"/>
            <a:ext cx="2286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2: Diseño de la ruta formativa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1"/>
          <p:cNvSpPr txBox="1"/>
          <p:nvPr/>
        </p:nvSpPr>
        <p:spPr>
          <a:xfrm>
            <a:off x="3186684" y="2437280"/>
            <a:ext cx="374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Malla curricular del nivel básico, con objetivos, contenidos y duración.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Temario aprobado.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1"/>
          <p:cNvSpPr txBox="1"/>
          <p:nvPr/>
        </p:nvSpPr>
        <p:spPr>
          <a:xfrm>
            <a:off x="6914765" y="2511333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31"/>
          <p:cNvSpPr/>
          <p:nvPr/>
        </p:nvSpPr>
        <p:spPr>
          <a:xfrm>
            <a:off x="790956" y="2761488"/>
            <a:ext cx="7562088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31"/>
          <p:cNvSpPr txBox="1"/>
          <p:nvPr/>
        </p:nvSpPr>
        <p:spPr>
          <a:xfrm>
            <a:off x="790956" y="2766464"/>
            <a:ext cx="2286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3: Piloto con la Comunidad de Data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31"/>
          <p:cNvSpPr txBox="1"/>
          <p:nvPr/>
        </p:nvSpPr>
        <p:spPr>
          <a:xfrm>
            <a:off x="3186684" y="2766464"/>
            <a:ext cx="374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Sesiones dictadas y materiales de apoyo por sesión.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Informe de participación y primeros Champions identificados.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31"/>
          <p:cNvSpPr txBox="1"/>
          <p:nvPr/>
        </p:nvSpPr>
        <p:spPr>
          <a:xfrm>
            <a:off x="6914765" y="2840517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1"/>
          <p:cNvSpPr/>
          <p:nvPr/>
        </p:nvSpPr>
        <p:spPr>
          <a:xfrm>
            <a:off x="790956" y="3090672"/>
            <a:ext cx="7562088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31"/>
          <p:cNvSpPr txBox="1"/>
          <p:nvPr/>
        </p:nvSpPr>
        <p:spPr>
          <a:xfrm>
            <a:off x="790956" y="3095648"/>
            <a:ext cx="22860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 SemiBold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Fase 4: Entrega de materiales y cierre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1"/>
          <p:cNvSpPr txBox="1"/>
          <p:nvPr/>
        </p:nvSpPr>
        <p:spPr>
          <a:xfrm>
            <a:off x="3186684" y="3095648"/>
            <a:ext cx="37491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Repositorio con la malla curricular, materiales y guías.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Criterios de certificación interna para la ruta básica.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-  Informe de cierre con participación y resultados del piloto.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31"/>
          <p:cNvSpPr txBox="1"/>
          <p:nvPr/>
        </p:nvSpPr>
        <p:spPr>
          <a:xfrm>
            <a:off x="6914765" y="3223872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00"/>
              <a:buFont typeface="Montserrat"/>
              <a:buNone/>
            </a:pPr>
            <a:r>
              <a:rPr b="0" i="0" lang="en-US" sz="8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31"/>
          <p:cNvSpPr/>
          <p:nvPr/>
        </p:nvSpPr>
        <p:spPr>
          <a:xfrm>
            <a:off x="790956" y="3529584"/>
            <a:ext cx="7562088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31"/>
          <p:cNvSpPr txBox="1"/>
          <p:nvPr/>
        </p:nvSpPr>
        <p:spPr>
          <a:xfrm>
            <a:off x="790956" y="3621024"/>
            <a:ext cx="2286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 ExtraBold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Total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14802" y="362111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[a completar a mano]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1"/>
          <p:cNvSpPr txBox="1"/>
          <p:nvPr/>
        </p:nvSpPr>
        <p:spPr>
          <a:xfrm>
            <a:off x="571500" y="3950208"/>
            <a:ext cx="8001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73050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Char char="●"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Facturación: 50% al inicio del proyecto, 50% al terminar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Char char="●"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Los precios no incluyen impuestos (IGV).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Char char="●"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No incluye el dictado de capacitaciones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Char char="●"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No incluye el costo de licencias de IA ni de servicios de terceros.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Char char="●"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Nota adicional de alcance.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content.png" id="717" name="Google Shape;71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navy.png" id="718" name="Google Shape;718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p32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INVERSIÓN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2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Paquetes de</a:t>
            </a:r>
            <a:r>
              <a:rPr b="1" i="1" lang="en-US" sz="2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capacitaciones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2"/>
          <p:cNvSpPr txBox="1"/>
          <p:nvPr/>
        </p:nvSpPr>
        <p:spPr>
          <a:xfrm>
            <a:off x="571500" y="1539850"/>
            <a:ext cx="65608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Bloques de capacitaciones con descuento por volumen (5% a 10%).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2"/>
          <p:cNvSpPr/>
          <p:nvPr/>
        </p:nvSpPr>
        <p:spPr>
          <a:xfrm>
            <a:off x="571500" y="2011680"/>
            <a:ext cx="4754880" cy="2103120"/>
          </a:xfrm>
          <a:prstGeom prst="roundRect">
            <a:avLst>
              <a:gd fmla="val 347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32"/>
          <p:cNvSpPr txBox="1"/>
          <p:nvPr/>
        </p:nvSpPr>
        <p:spPr>
          <a:xfrm>
            <a:off x="827532" y="2212848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Paquetes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32"/>
          <p:cNvSpPr txBox="1"/>
          <p:nvPr/>
        </p:nvSpPr>
        <p:spPr>
          <a:xfrm>
            <a:off x="2948940" y="2212848"/>
            <a:ext cx="1371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Precio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2"/>
          <p:cNvSpPr txBox="1"/>
          <p:nvPr/>
        </p:nvSpPr>
        <p:spPr>
          <a:xfrm>
            <a:off x="4411980" y="2212848"/>
            <a:ext cx="6400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Dscto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2"/>
          <p:cNvSpPr/>
          <p:nvPr/>
        </p:nvSpPr>
        <p:spPr>
          <a:xfrm>
            <a:off x="827532" y="2450592"/>
            <a:ext cx="4242816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32"/>
          <p:cNvSpPr txBox="1"/>
          <p:nvPr/>
        </p:nvSpPr>
        <p:spPr>
          <a:xfrm>
            <a:off x="827532" y="257860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 Capacitación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2"/>
          <p:cNvSpPr txBox="1"/>
          <p:nvPr/>
        </p:nvSpPr>
        <p:spPr>
          <a:xfrm>
            <a:off x="2948940" y="259689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None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32"/>
          <p:cNvSpPr txBox="1"/>
          <p:nvPr/>
        </p:nvSpPr>
        <p:spPr>
          <a:xfrm>
            <a:off x="4411980" y="257860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-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2"/>
          <p:cNvSpPr/>
          <p:nvPr/>
        </p:nvSpPr>
        <p:spPr>
          <a:xfrm>
            <a:off x="827532" y="2834640"/>
            <a:ext cx="4242816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32"/>
          <p:cNvSpPr txBox="1"/>
          <p:nvPr/>
        </p:nvSpPr>
        <p:spPr>
          <a:xfrm>
            <a:off x="827532" y="294436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 Capacitaciones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2"/>
          <p:cNvSpPr txBox="1"/>
          <p:nvPr/>
        </p:nvSpPr>
        <p:spPr>
          <a:xfrm>
            <a:off x="2948940" y="296265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None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2"/>
          <p:cNvSpPr txBox="1"/>
          <p:nvPr/>
        </p:nvSpPr>
        <p:spPr>
          <a:xfrm>
            <a:off x="4411980" y="294436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2"/>
          <p:cNvSpPr/>
          <p:nvPr/>
        </p:nvSpPr>
        <p:spPr>
          <a:xfrm>
            <a:off x="827532" y="3200400"/>
            <a:ext cx="4242816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32"/>
          <p:cNvSpPr txBox="1"/>
          <p:nvPr/>
        </p:nvSpPr>
        <p:spPr>
          <a:xfrm>
            <a:off x="827532" y="331012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 Capacitaciones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2"/>
          <p:cNvSpPr txBox="1"/>
          <p:nvPr/>
        </p:nvSpPr>
        <p:spPr>
          <a:xfrm>
            <a:off x="2948940" y="332841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None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2"/>
          <p:cNvSpPr txBox="1"/>
          <p:nvPr/>
        </p:nvSpPr>
        <p:spPr>
          <a:xfrm>
            <a:off x="4411980" y="331012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2"/>
          <p:cNvSpPr/>
          <p:nvPr/>
        </p:nvSpPr>
        <p:spPr>
          <a:xfrm>
            <a:off x="827532" y="3566160"/>
            <a:ext cx="4242816" cy="7315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2"/>
          <p:cNvSpPr txBox="1"/>
          <p:nvPr/>
        </p:nvSpPr>
        <p:spPr>
          <a:xfrm>
            <a:off x="827532" y="367588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 Capacitaciones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2"/>
          <p:cNvSpPr txBox="1"/>
          <p:nvPr/>
        </p:nvSpPr>
        <p:spPr>
          <a:xfrm>
            <a:off x="2948940" y="369417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None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[a completar a mano]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2"/>
          <p:cNvSpPr txBox="1"/>
          <p:nvPr/>
        </p:nvSpPr>
        <p:spPr>
          <a:xfrm>
            <a:off x="4411980" y="367588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2"/>
          <p:cNvSpPr/>
          <p:nvPr/>
        </p:nvSpPr>
        <p:spPr>
          <a:xfrm>
            <a:off x="5545836" y="2011680"/>
            <a:ext cx="3026664" cy="2103120"/>
          </a:xfrm>
          <a:prstGeom prst="roundRect">
            <a:avLst>
              <a:gd fmla="val 3478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2"/>
          <p:cNvSpPr txBox="1"/>
          <p:nvPr/>
        </p:nvSpPr>
        <p:spPr>
          <a:xfrm>
            <a:off x="5783580" y="2212848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CONDICIONES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2"/>
          <p:cNvSpPr txBox="1"/>
          <p:nvPr/>
        </p:nvSpPr>
        <p:spPr>
          <a:xfrm>
            <a:off x="5783575" y="2487175"/>
            <a:ext cx="2596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2575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Char char="●"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Capacitaciones de hasta 30 personas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2"/>
          <p:cNvSpPr txBox="1"/>
          <p:nvPr/>
        </p:nvSpPr>
        <p:spPr>
          <a:xfrm>
            <a:off x="5783575" y="2798070"/>
            <a:ext cx="2596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2575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Char char="●"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Neo asume desarrollo de contenido, facilitadores y jurados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2"/>
          <p:cNvSpPr txBox="1"/>
          <p:nvPr/>
        </p:nvSpPr>
        <p:spPr>
          <a:xfrm>
            <a:off x="5783575" y="3108965"/>
            <a:ext cx="2596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2575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Char char="●"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El cliente deberá facilitar local, catering, laptops y licencias.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2"/>
          <p:cNvSpPr txBox="1"/>
          <p:nvPr/>
        </p:nvSpPr>
        <p:spPr>
          <a:xfrm>
            <a:off x="5783575" y="3419861"/>
            <a:ext cx="2596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2575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Char char="●"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Los precios no incluyen impuestos (IGV)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2"/>
          <p:cNvSpPr txBox="1"/>
          <p:nvPr/>
        </p:nvSpPr>
        <p:spPr>
          <a:xfrm>
            <a:off x="5783575" y="3730756"/>
            <a:ext cx="2596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2575" lvl="0" marL="4572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850"/>
              <a:buFont typeface="Montserrat"/>
              <a:buChar char="●"/>
            </a:pPr>
            <a:r>
              <a:rPr b="0" i="0" lang="en-US" sz="8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Forma de facturación: 100% on demand del paquete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2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55" name="Google Shape;75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56" name="Google Shape;75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99117"/>
            <a:ext cx="8001000" cy="244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57" name="Google Shape;757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6013" y="1209675"/>
            <a:ext cx="8016488" cy="3178646"/>
          </a:xfrm>
          <a:prstGeom prst="rect">
            <a:avLst/>
          </a:prstGeom>
          <a:noFill/>
          <a:ln>
            <a:noFill/>
          </a:ln>
        </p:spPr>
      </p:pic>
      <p:sp>
        <p:nvSpPr>
          <p:cNvPr id="758" name="Google Shape;758;p33"/>
          <p:cNvSpPr/>
          <p:nvPr/>
        </p:nvSpPr>
        <p:spPr>
          <a:xfrm>
            <a:off x="1676140" y="506083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</a:t>
            </a:r>
            <a:endParaRPr b="0" i="0" sz="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33"/>
          <p:cNvSpPr/>
          <p:nvPr/>
        </p:nvSpPr>
        <p:spPr>
          <a:xfrm>
            <a:off x="571500" y="4591050"/>
            <a:ext cx="1362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33"/>
          <p:cNvSpPr/>
          <p:nvPr/>
        </p:nvSpPr>
        <p:spPr>
          <a:xfrm>
            <a:off x="571500" y="871538"/>
            <a:ext cx="6048300" cy="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1"/>
              </a:lnSpc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700"/>
              <a:buFont typeface="Montserrat ExtraBold"/>
              <a:buNone/>
            </a:pPr>
            <a:r>
              <a:rPr b="1" i="0" lang="en-US" sz="17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Cláusulas </a:t>
            </a:r>
            <a:r>
              <a:rPr b="1" i="1" lang="en-US" sz="17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generales</a:t>
            </a:r>
            <a:r>
              <a:rPr b="1" i="0" lang="en-US" sz="17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3"/>
          <p:cNvSpPr/>
          <p:nvPr/>
        </p:nvSpPr>
        <p:spPr>
          <a:xfrm>
            <a:off x="571500" y="1209675"/>
            <a:ext cx="3524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Sobre los alcances y tiempos del proyecto: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33"/>
          <p:cNvSpPr/>
          <p:nvPr/>
        </p:nvSpPr>
        <p:spPr>
          <a:xfrm>
            <a:off x="557213" y="1471613"/>
            <a:ext cx="4353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Tiempos de aceptación: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El cliente tendrá hasta 5 días útiles para solicitar ajustes justificados a los entregables. Pasado este plazo, se considerará la etapa finalizada.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33"/>
          <p:cNvSpPr/>
          <p:nvPr/>
        </p:nvSpPr>
        <p:spPr>
          <a:xfrm>
            <a:off x="557213" y="2057400"/>
            <a:ext cx="44814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Conformidad de cierre: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Al finalizar, se enviará un acta de conformidad para revisión y aceptación. Si no hay respuesta en 5 días útiles, el proyecto se considerará finalizado.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3"/>
          <p:cNvSpPr/>
          <p:nvPr/>
        </p:nvSpPr>
        <p:spPr>
          <a:xfrm>
            <a:off x="557224" y="2643200"/>
            <a:ext cx="4481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Alcance adicional: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Requerimientos fuera del alcance generarán un cobro adicional basado en la tarifa por hora promedio del proyecto.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3"/>
          <p:cNvSpPr/>
          <p:nvPr/>
        </p:nvSpPr>
        <p:spPr>
          <a:xfrm>
            <a:off x="557213" y="3057525"/>
            <a:ext cx="44814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Implementaciones: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Serán responsabilidad del equipo del cliente. Cualquier retraso por no ejecutar las mejoras en el tiempo estimado será responsabilidad del cliente.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3"/>
          <p:cNvSpPr/>
          <p:nvPr/>
        </p:nvSpPr>
        <p:spPr>
          <a:xfrm>
            <a:off x="557213" y="3643313"/>
            <a:ext cx="4481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Retrasos del cliente: 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Si el retraso es atribuible al cliente, las fechas de facturación se mantienen según contrato.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33"/>
          <p:cNvSpPr/>
          <p:nvPr/>
        </p:nvSpPr>
        <p:spPr>
          <a:xfrm>
            <a:off x="557213" y="4057650"/>
            <a:ext cx="4476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14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Inicio de proyecto: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El proyecto se dará inicio una vez se tenga la firma formal del contrato correspondiente.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33"/>
          <p:cNvSpPr/>
          <p:nvPr/>
        </p:nvSpPr>
        <p:spPr>
          <a:xfrm>
            <a:off x="5414963" y="1323975"/>
            <a:ext cx="18288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Horario &amp; Colaboración: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3"/>
          <p:cNvSpPr/>
          <p:nvPr/>
        </p:nvSpPr>
        <p:spPr>
          <a:xfrm>
            <a:off x="5414963" y="1576388"/>
            <a:ext cx="27669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• Horario de atención: Lunes a Viernes de 9:00 am a 6:00 pm.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3"/>
          <p:cNvSpPr/>
          <p:nvPr/>
        </p:nvSpPr>
        <p:spPr>
          <a:xfrm>
            <a:off x="5414963" y="2024063"/>
            <a:ext cx="27669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• Cláusula de no contratación de personal del equipo asignado durante el proyecto y hasta 6 meses después.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33"/>
          <p:cNvSpPr/>
          <p:nvPr/>
        </p:nvSpPr>
        <p:spPr>
          <a:xfrm>
            <a:off x="5414963" y="2924175"/>
            <a:ext cx="2148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Sobre las formas de pago: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3"/>
          <p:cNvSpPr/>
          <p:nvPr/>
        </p:nvSpPr>
        <p:spPr>
          <a:xfrm>
            <a:off x="5414963" y="3186113"/>
            <a:ext cx="22098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• Los precios </a:t>
            </a:r>
            <a:r>
              <a:rPr b="1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no incluyen IGV</a:t>
            </a: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3"/>
          <p:cNvSpPr/>
          <p:nvPr/>
        </p:nvSpPr>
        <p:spPr>
          <a:xfrm>
            <a:off x="5414963" y="3448050"/>
            <a:ext cx="27669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• Vigencia de propuesta: 30 días calendario.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33"/>
          <p:cNvSpPr/>
          <p:nvPr/>
        </p:nvSpPr>
        <p:spPr>
          <a:xfrm>
            <a:off x="5414963" y="3895725"/>
            <a:ext cx="27003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733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Facturación del Proyecto: 100% al inicio del proyecto.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80" name="Google Shape;78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200150"/>
            <a:ext cx="8001000" cy="3057525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p34"/>
          <p:cNvSpPr/>
          <p:nvPr/>
        </p:nvSpPr>
        <p:spPr>
          <a:xfrm>
            <a:off x="571500" y="4591050"/>
            <a:ext cx="13620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34"/>
          <p:cNvSpPr/>
          <p:nvPr/>
        </p:nvSpPr>
        <p:spPr>
          <a:xfrm>
            <a:off x="571500" y="871538"/>
            <a:ext cx="6048300" cy="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81"/>
              </a:lnSpc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700"/>
              <a:buFont typeface="Montserrat ExtraBold"/>
              <a:buNone/>
            </a:pPr>
            <a:r>
              <a:rPr b="1" i="0" lang="en-US" sz="17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Facturación por </a:t>
            </a:r>
            <a:r>
              <a:rPr b="1" i="1" lang="en-US" sz="17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retrasos y pausas</a:t>
            </a:r>
            <a:r>
              <a:rPr b="1" i="0" lang="en-US" sz="17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4"/>
          <p:cNvSpPr/>
          <p:nvPr/>
        </p:nvSpPr>
        <p:spPr>
          <a:xfrm>
            <a:off x="685800" y="1314450"/>
            <a:ext cx="36861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Retrasos y periodos de Stand By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4"/>
          <p:cNvSpPr/>
          <p:nvPr/>
        </p:nvSpPr>
        <p:spPr>
          <a:xfrm>
            <a:off x="685800" y="1557350"/>
            <a:ext cx="37788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Retrasos de cliente: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Si el proyecto tiene facturación por hitos o entregables y el retraso del cliente supera los </a:t>
            </a:r>
            <a:r>
              <a:rPr b="1" i="0" lang="en-US" sz="10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15 días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, este no afectará la facturación programada.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34"/>
          <p:cNvSpPr/>
          <p:nvPr/>
        </p:nvSpPr>
        <p:spPr>
          <a:xfrm>
            <a:off x="685800" y="2171700"/>
            <a:ext cx="36861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Ingreso a Stand By: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 Si el proyecto presenta un retraso del lado del cliente mayor a </a:t>
            </a:r>
            <a:r>
              <a:rPr b="1" i="0" lang="en-US" sz="10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30 días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, ingresará automáticamente en stand by, periodo durante el cual no se realizarán avances en su ejecución.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4"/>
          <p:cNvSpPr/>
          <p:nvPr/>
        </p:nvSpPr>
        <p:spPr>
          <a:xfrm>
            <a:off x="685800" y="2971800"/>
            <a:ext cx="36861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Periodo Mínimo: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Una vez iniciado el proyecto, se establece un periodo mínimo de </a:t>
            </a:r>
            <a:r>
              <a:rPr b="1" i="0" lang="en-US" sz="10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20 días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de stand by, durante el cual no se realizarán avances significativos.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4"/>
          <p:cNvSpPr/>
          <p:nvPr/>
        </p:nvSpPr>
        <p:spPr>
          <a:xfrm>
            <a:off x="685800" y="3586163"/>
            <a:ext cx="36861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Periodo Máximo: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 El periodo máximo será acordado entre ambas partes al firmar el contrato y especificado en días o semanas, con un límite de</a:t>
            </a:r>
            <a:r>
              <a:rPr b="1" i="0" lang="en-US" sz="10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 3 meses</a:t>
            </a: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4"/>
          <p:cNvSpPr/>
          <p:nvPr/>
        </p:nvSpPr>
        <p:spPr>
          <a:xfrm>
            <a:off x="4800600" y="1314450"/>
            <a:ext cx="36861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Gestión Financiera &amp; Retorno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4"/>
          <p:cNvSpPr/>
          <p:nvPr/>
        </p:nvSpPr>
        <p:spPr>
          <a:xfrm>
            <a:off x="4800600" y="1557350"/>
            <a:ext cx="37305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Facturación: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Los pagos pendientes deberán realizarse antes del stand by o según el cronograma de facturación mensual.</a:t>
            </a: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4"/>
          <p:cNvSpPr/>
          <p:nvPr/>
        </p:nvSpPr>
        <p:spPr>
          <a:xfrm>
            <a:off x="4800600" y="2171712"/>
            <a:ext cx="37788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Revisión y renegociación: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Si el proyecto no se reanuda tras el periodo máximo de stand by, ambas partes revisarán y renegociarán los términos del contrato.</a:t>
            </a: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34"/>
          <p:cNvSpPr/>
          <p:nvPr/>
        </p:nvSpPr>
        <p:spPr>
          <a:xfrm>
            <a:off x="4800600" y="2786074"/>
            <a:ext cx="37305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Notificación y comunicación: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El stand by deberá notificarse por escrito con </a:t>
            </a:r>
            <a:r>
              <a:rPr b="1" i="0" lang="en-US" sz="105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15 días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de anticipación y mantenerse una comunicación regular durante el </a:t>
            </a:r>
            <a:r>
              <a:rPr b="0" i="0" lang="en-US" sz="105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dicho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periodo.</a:t>
            </a: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4"/>
          <p:cNvSpPr/>
          <p:nvPr/>
        </p:nvSpPr>
        <p:spPr>
          <a:xfrm>
            <a:off x="4800600" y="3586173"/>
            <a:ext cx="37305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61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Reanudación: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El cliente deberá solicitar la reanudación por correo. El proyecto se reanudará en un máximo de </a:t>
            </a:r>
            <a:r>
              <a:rPr b="1" i="0" lang="en-US" sz="1050" u="none" cap="none" strike="noStrike">
                <a:solidFill>
                  <a:srgbClr val="2B5BFC"/>
                </a:solidFill>
                <a:latin typeface="Montserrat"/>
                <a:ea typeface="Montserrat"/>
                <a:cs typeface="Montserrat"/>
                <a:sym typeface="Montserrat"/>
              </a:rPr>
              <a:t>15 días</a:t>
            </a:r>
            <a:r>
              <a:rPr b="0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hábiles.</a:t>
            </a:r>
            <a:r>
              <a:rPr b="1" i="0" lang="en-US" sz="105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798" name="Google Shape;79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799" name="Google Shape;79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Google Shape;800;p35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10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35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asignado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35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[a completar a mano]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35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EEF3FF"/>
            </a:gs>
          </a:gsLst>
          <a:lin ang="16200038" scaled="0"/>
        </a:gradFill>
      </p:bgPr>
    </p:bg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6"/>
          <p:cNvSpPr txBox="1"/>
          <p:nvPr/>
        </p:nvSpPr>
        <p:spPr>
          <a:xfrm>
            <a:off x="571500" y="890626"/>
            <a:ext cx="8001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EQUIPO NEO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6"/>
          <p:cNvSpPr txBox="1"/>
          <p:nvPr/>
        </p:nvSpPr>
        <p:spPr>
          <a:xfrm>
            <a:off x="571500" y="1174090"/>
            <a:ext cx="8001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 ExtraBold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r>
              <a:rPr b="1" i="1" lang="en-US" sz="2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NEO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6"/>
          <p:cNvSpPr txBox="1"/>
          <p:nvPr/>
        </p:nvSpPr>
        <p:spPr>
          <a:xfrm>
            <a:off x="571500" y="1539850"/>
            <a:ext cx="791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Montserrat"/>
              <a:buNone/>
            </a:pPr>
            <a:r>
              <a:rPr b="0" i="0" lang="en-US" sz="10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Un equipo dedicado que combina liderazgo de cuenta, arquitectura de IA, integración, adopción y gestión.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6"/>
          <p:cNvSpPr/>
          <p:nvPr/>
        </p:nvSpPr>
        <p:spPr>
          <a:xfrm>
            <a:off x="571538" y="1898549"/>
            <a:ext cx="2557200" cy="12306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0.jpg" id="813" name="Google Shape;81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417" y="2090816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14" name="Google Shape;814;p36"/>
          <p:cNvSpPr txBox="1"/>
          <p:nvPr/>
        </p:nvSpPr>
        <p:spPr>
          <a:xfrm>
            <a:off x="717842" y="2763749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Liderazgo de cuenta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6"/>
          <p:cNvSpPr txBox="1"/>
          <p:nvPr/>
        </p:nvSpPr>
        <p:spPr>
          <a:xfrm>
            <a:off x="1449361" y="207158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Ricardo Caballero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6"/>
          <p:cNvSpPr txBox="1"/>
          <p:nvPr/>
        </p:nvSpPr>
        <p:spPr>
          <a:xfrm>
            <a:off x="1449361" y="2302309"/>
            <a:ext cx="151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Gerente de Clientes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36"/>
          <p:cNvSpPr/>
          <p:nvPr/>
        </p:nvSpPr>
        <p:spPr>
          <a:xfrm>
            <a:off x="1449361" y="2552256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36"/>
          <p:cNvSpPr txBox="1"/>
          <p:nvPr/>
        </p:nvSpPr>
        <p:spPr>
          <a:xfrm>
            <a:off x="1449361" y="262916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+8 años de experiencia en proyectos de Analytics, Growth &amp; AI. Profesor de Analytics en la PBS.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6"/>
          <p:cNvSpPr/>
          <p:nvPr/>
        </p:nvSpPr>
        <p:spPr>
          <a:xfrm>
            <a:off x="3293402" y="1890875"/>
            <a:ext cx="2557200" cy="12303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1.jpg" id="820" name="Google Shape;820;p36"/>
          <p:cNvPicPr preferRelativeResize="0"/>
          <p:nvPr/>
        </p:nvPicPr>
        <p:blipFill rotWithShape="1">
          <a:blip r:embed="rId4">
            <a:alphaModFix/>
          </a:blip>
          <a:srcRect b="10653" l="0" r="0" t="9552"/>
          <a:stretch/>
        </p:blipFill>
        <p:spPr>
          <a:xfrm>
            <a:off x="3476282" y="2090816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1" name="Google Shape;821;p36"/>
          <p:cNvSpPr txBox="1"/>
          <p:nvPr/>
        </p:nvSpPr>
        <p:spPr>
          <a:xfrm>
            <a:off x="3439706" y="2763749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GenAI &amp; Agentic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6"/>
          <p:cNvSpPr txBox="1"/>
          <p:nvPr/>
        </p:nvSpPr>
        <p:spPr>
          <a:xfrm>
            <a:off x="4171226" y="207158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Daniel Vicente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36"/>
          <p:cNvSpPr txBox="1"/>
          <p:nvPr/>
        </p:nvSpPr>
        <p:spPr>
          <a:xfrm>
            <a:off x="4171226" y="2302309"/>
            <a:ext cx="151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IA Lead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36"/>
          <p:cNvSpPr/>
          <p:nvPr/>
        </p:nvSpPr>
        <p:spPr>
          <a:xfrm>
            <a:off x="4171226" y="2552256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36"/>
          <p:cNvSpPr txBox="1"/>
          <p:nvPr/>
        </p:nvSpPr>
        <p:spPr>
          <a:xfrm>
            <a:off x="4171226" y="262916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+8 años de experiencia en digital, ML &amp; AI. Certificado en GCP, Anthropic y AWS.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6"/>
          <p:cNvSpPr/>
          <p:nvPr/>
        </p:nvSpPr>
        <p:spPr>
          <a:xfrm>
            <a:off x="6015266" y="1898549"/>
            <a:ext cx="2557200" cy="12306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2.jpg" id="827" name="Google Shape;827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8146" y="2090816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8" name="Google Shape;828;p36"/>
          <p:cNvSpPr txBox="1"/>
          <p:nvPr/>
        </p:nvSpPr>
        <p:spPr>
          <a:xfrm>
            <a:off x="6161569" y="2763749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Prompt &amp; RAG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6"/>
          <p:cNvSpPr txBox="1"/>
          <p:nvPr/>
        </p:nvSpPr>
        <p:spPr>
          <a:xfrm>
            <a:off x="6893090" y="207158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Yeltsin García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6"/>
          <p:cNvSpPr txBox="1"/>
          <p:nvPr/>
        </p:nvSpPr>
        <p:spPr>
          <a:xfrm>
            <a:off x="6893090" y="2302309"/>
            <a:ext cx="151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Ingeniero de 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36"/>
          <p:cNvSpPr/>
          <p:nvPr/>
        </p:nvSpPr>
        <p:spPr>
          <a:xfrm>
            <a:off x="6893090" y="2552256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36"/>
          <p:cNvSpPr txBox="1"/>
          <p:nvPr/>
        </p:nvSpPr>
        <p:spPr>
          <a:xfrm>
            <a:off x="6893090" y="262916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+6 años de experiencia en digital, ML &amp; AI. Docente de IA en UCAL. Miembro activo de DCN Global e Internet Society.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6"/>
          <p:cNvSpPr/>
          <p:nvPr/>
        </p:nvSpPr>
        <p:spPr>
          <a:xfrm>
            <a:off x="571538" y="3282869"/>
            <a:ext cx="2557200" cy="12306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3.jpg" id="834" name="Google Shape;834;p36"/>
          <p:cNvPicPr preferRelativeResize="0"/>
          <p:nvPr/>
        </p:nvPicPr>
        <p:blipFill rotWithShape="1">
          <a:blip r:embed="rId6">
            <a:alphaModFix/>
          </a:blip>
          <a:srcRect b="10938" l="-520" r="520" t="2460"/>
          <a:stretch/>
        </p:blipFill>
        <p:spPr>
          <a:xfrm>
            <a:off x="754417" y="3475135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35" name="Google Shape;835;p36"/>
          <p:cNvSpPr txBox="1"/>
          <p:nvPr/>
        </p:nvSpPr>
        <p:spPr>
          <a:xfrm>
            <a:off x="717842" y="4148068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Data Architect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6"/>
          <p:cNvSpPr txBox="1"/>
          <p:nvPr/>
        </p:nvSpPr>
        <p:spPr>
          <a:xfrm>
            <a:off x="1449361" y="345590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Jean Pierre Merino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36"/>
          <p:cNvSpPr txBox="1"/>
          <p:nvPr/>
        </p:nvSpPr>
        <p:spPr>
          <a:xfrm>
            <a:off x="1449349" y="3686625"/>
            <a:ext cx="1679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Arquitecto de Integración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6"/>
          <p:cNvSpPr/>
          <p:nvPr/>
        </p:nvSpPr>
        <p:spPr>
          <a:xfrm>
            <a:off x="1449361" y="3936575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36"/>
          <p:cNvSpPr txBox="1"/>
          <p:nvPr/>
        </p:nvSpPr>
        <p:spPr>
          <a:xfrm>
            <a:off x="1449361" y="401348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+10 años de experiencia en data, analítica digital, ML &amp; AI.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36"/>
          <p:cNvSpPr/>
          <p:nvPr/>
        </p:nvSpPr>
        <p:spPr>
          <a:xfrm>
            <a:off x="3293402" y="3282869"/>
            <a:ext cx="2557200" cy="12306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4.jpg" id="841" name="Google Shape;841;p36"/>
          <p:cNvPicPr preferRelativeResize="0"/>
          <p:nvPr/>
        </p:nvPicPr>
        <p:blipFill rotWithShape="1">
          <a:blip r:embed="rId7">
            <a:alphaModFix/>
          </a:blip>
          <a:srcRect b="18122" l="0" r="0" t="939"/>
          <a:stretch/>
        </p:blipFill>
        <p:spPr>
          <a:xfrm>
            <a:off x="3476282" y="3475135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42" name="Google Shape;842;p36"/>
          <p:cNvSpPr txBox="1"/>
          <p:nvPr/>
        </p:nvSpPr>
        <p:spPr>
          <a:xfrm>
            <a:off x="3439706" y="4148068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Change Management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36"/>
          <p:cNvSpPr txBox="1"/>
          <p:nvPr/>
        </p:nvSpPr>
        <p:spPr>
          <a:xfrm>
            <a:off x="4171226" y="345590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Franco Pastorelli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36"/>
          <p:cNvSpPr txBox="1"/>
          <p:nvPr/>
        </p:nvSpPr>
        <p:spPr>
          <a:xfrm>
            <a:off x="4171226" y="3686629"/>
            <a:ext cx="151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Especialista de Adopción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36"/>
          <p:cNvSpPr/>
          <p:nvPr/>
        </p:nvSpPr>
        <p:spPr>
          <a:xfrm>
            <a:off x="4171226" y="3936575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36"/>
          <p:cNvSpPr txBox="1"/>
          <p:nvPr/>
        </p:nvSpPr>
        <p:spPr>
          <a:xfrm>
            <a:off x="4171226" y="401348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+6 años de experiencia en gestión de proyectos de Transformación Digital, educación ejecutiva, GenAI y Agentic.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36"/>
          <p:cNvSpPr/>
          <p:nvPr/>
        </p:nvSpPr>
        <p:spPr>
          <a:xfrm>
            <a:off x="6015266" y="3282869"/>
            <a:ext cx="2557200" cy="12306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33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/s30_5.jpg" id="848" name="Google Shape;848;p36"/>
          <p:cNvPicPr preferRelativeResize="0"/>
          <p:nvPr/>
        </p:nvPicPr>
        <p:blipFill rotWithShape="1">
          <a:blip r:embed="rId8">
            <a:alphaModFix/>
          </a:blip>
          <a:srcRect b="9896" l="0" r="0" t="3979"/>
          <a:stretch/>
        </p:blipFill>
        <p:spPr>
          <a:xfrm>
            <a:off x="6198146" y="3475135"/>
            <a:ext cx="567000" cy="59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49" name="Google Shape;849;p36"/>
          <p:cNvSpPr txBox="1"/>
          <p:nvPr/>
        </p:nvSpPr>
        <p:spPr>
          <a:xfrm>
            <a:off x="6161569" y="4148068"/>
            <a:ext cx="6402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6"/>
          <p:cNvSpPr txBox="1"/>
          <p:nvPr/>
        </p:nvSpPr>
        <p:spPr>
          <a:xfrm>
            <a:off x="6893090" y="3455909"/>
            <a:ext cx="15150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Daniela Tamayo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36"/>
          <p:cNvSpPr txBox="1"/>
          <p:nvPr/>
        </p:nvSpPr>
        <p:spPr>
          <a:xfrm>
            <a:off x="6893090" y="3686629"/>
            <a:ext cx="151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900"/>
              <a:buFont typeface="Montserrat SemiBold"/>
              <a:buNone/>
            </a:pPr>
            <a:r>
              <a:rPr b="1" i="0" lang="en-US" sz="9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Gestor de Proyecto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6"/>
          <p:cNvSpPr/>
          <p:nvPr/>
        </p:nvSpPr>
        <p:spPr>
          <a:xfrm>
            <a:off x="6893090" y="3936575"/>
            <a:ext cx="1496700" cy="7800"/>
          </a:xfrm>
          <a:prstGeom prst="rect">
            <a:avLst/>
          </a:prstGeom>
          <a:solidFill>
            <a:srgbClr val="D8E0F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36"/>
          <p:cNvSpPr txBox="1"/>
          <p:nvPr/>
        </p:nvSpPr>
        <p:spPr>
          <a:xfrm>
            <a:off x="6893090" y="4013482"/>
            <a:ext cx="1515000" cy="44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700"/>
              <a:buFont typeface="Montserrat"/>
              <a:buNone/>
            </a:pPr>
            <a:r>
              <a:rPr b="0" i="0" lang="en-US" sz="7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+5 años de experiencia en gestión de proyectos digitales de IA, Growth y Analytics.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36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divider.png" id="860" name="Google Shape;86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861" name="Google Shape;861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37"/>
          <p:cNvSpPr txBox="1"/>
          <p:nvPr/>
        </p:nvSpPr>
        <p:spPr>
          <a:xfrm>
            <a:off x="571500" y="177393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200"/>
              <a:buFont typeface="Montserrat SemiBold"/>
              <a:buNone/>
            </a:pPr>
            <a:r>
              <a:rPr b="1" i="0" lang="en-US" sz="12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SECCIÓN 11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37"/>
          <p:cNvSpPr txBox="1"/>
          <p:nvPr/>
        </p:nvSpPr>
        <p:spPr>
          <a:xfrm>
            <a:off x="571500" y="2157984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Montserrat ExtraBold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¿Por qué</a:t>
            </a:r>
            <a:r>
              <a:rPr b="1" i="1" lang="en-US" sz="45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NEO?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37"/>
          <p:cNvSpPr txBox="1"/>
          <p:nvPr/>
        </p:nvSpPr>
        <p:spPr>
          <a:xfrm>
            <a:off x="571500" y="3054096"/>
            <a:ext cx="4937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300"/>
              <a:buFont typeface="Montserrat Medium"/>
              <a:buNone/>
            </a:pPr>
            <a:r>
              <a:rPr b="0" i="0" lang="en-US" sz="1300" u="none" cap="none" strike="noStrike">
                <a:solidFill>
                  <a:srgbClr val="C5D5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Cuatro casos de capacitación y adopción de IA, de menor a mayor nivel.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37"/>
          <p:cNvSpPr txBox="1"/>
          <p:nvPr/>
        </p:nvSpPr>
        <p:spPr>
          <a:xfrm>
            <a:off x="571500" y="459028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ondo" id="870" name="Google Shape;870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parador titulo" id="871" name="Google Shape;871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49606"/>
            <a:ext cx="8001000" cy="871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rco imagen" id="872" name="Google Shape;872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9580" y="1537499"/>
            <a:ext cx="8520600" cy="2602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ndo resultados" id="873" name="Google Shape;873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00000"/>
            <a:ext cx="8001000" cy="56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 NEO" id="874" name="Google Shape;874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65650" y="223639"/>
            <a:ext cx="1228470" cy="244749"/>
          </a:xfrm>
          <a:prstGeom prst="rect">
            <a:avLst/>
          </a:prstGeom>
          <a:noFill/>
          <a:ln>
            <a:noFill/>
          </a:ln>
        </p:spPr>
      </p:pic>
      <p:sp>
        <p:nvSpPr>
          <p:cNvPr id="875" name="Google Shape;875;p38"/>
          <p:cNvSpPr/>
          <p:nvPr/>
        </p:nvSpPr>
        <p:spPr>
          <a:xfrm>
            <a:off x="571500" y="290550"/>
            <a:ext cx="15726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CASO DE ÉXITO</a:t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t/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76" name="Google Shape;876;p38"/>
          <p:cNvSpPr/>
          <p:nvPr/>
        </p:nvSpPr>
        <p:spPr>
          <a:xfrm>
            <a:off x="8670294" y="330604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</a:t>
            </a:r>
            <a:endParaRPr b="0" i="0" sz="3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 del cliente" id="877" name="Google Shape;877;p3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877600" y="273600"/>
            <a:ext cx="954905" cy="2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8"/>
          <p:cNvSpPr txBox="1"/>
          <p:nvPr/>
        </p:nvSpPr>
        <p:spPr>
          <a:xfrm>
            <a:off x="571500" y="882968"/>
            <a:ext cx="80295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9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Prompt Battle, </a:t>
            </a:r>
            <a:r>
              <a:rPr b="1" i="1" lang="en-US" sz="2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la base del conocimiento AI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38"/>
          <p:cNvSpPr txBox="1"/>
          <p:nvPr/>
        </p:nvSpPr>
        <p:spPr>
          <a:xfrm>
            <a:off x="571500" y="1321118"/>
            <a:ext cx="8024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Industria: Seguros. Competencia de prompt engineering con Copilot para todo 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n del caso" id="880" name="Google Shape;880;p3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650" y="2011050"/>
            <a:ext cx="2906700" cy="1575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881" name="Google Shape;881;p38"/>
          <p:cNvSpPr/>
          <p:nvPr/>
        </p:nvSpPr>
        <p:spPr>
          <a:xfrm>
            <a:off x="4191000" y="1780935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RETO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38"/>
          <p:cNvSpPr txBox="1"/>
          <p:nvPr/>
        </p:nvSpPr>
        <p:spPr>
          <a:xfrm>
            <a:off x="4191000" y="2023835"/>
            <a:ext cx="4106400" cy="6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Aplicar técnicas de prompt engineering para retos del negocio utilizando Copilot como generar contenido y diseñar una plataforma de automatización de tareas y el análisis de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38"/>
          <p:cNvSpPr/>
          <p:nvPr/>
        </p:nvSpPr>
        <p:spPr>
          <a:xfrm>
            <a:off x="4191000" y="2857486"/>
            <a:ext cx="2252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SOLUCIÓN</a:t>
            </a:r>
            <a:endParaRPr b="1" i="0" sz="12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884" name="Google Shape;884;p38"/>
          <p:cNvSpPr txBox="1"/>
          <p:nvPr/>
        </p:nvSpPr>
        <p:spPr>
          <a:xfrm>
            <a:off x="4191000" y="3133711"/>
            <a:ext cx="41064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Se realizó una competencia de prompt engineering para identificar oportunidades de negocio y automatizar tareas en el sector seguros usando Copilot.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38"/>
          <p:cNvSpPr/>
          <p:nvPr/>
        </p:nvSpPr>
        <p:spPr>
          <a:xfrm>
            <a:off x="571500" y="4076474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RESULTADOS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38"/>
          <p:cNvSpPr txBox="1"/>
          <p:nvPr/>
        </p:nvSpPr>
        <p:spPr>
          <a:xfrm>
            <a:off x="670012" y="4362000"/>
            <a:ext cx="331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+12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38"/>
          <p:cNvSpPr txBox="1"/>
          <p:nvPr/>
        </p:nvSpPr>
        <p:spPr>
          <a:xfrm>
            <a:off x="1056466" y="4362000"/>
            <a:ext cx="20511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Proyectos identificados de alto impacto para el negocio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38"/>
          <p:cNvSpPr txBox="1"/>
          <p:nvPr/>
        </p:nvSpPr>
        <p:spPr>
          <a:xfrm>
            <a:off x="3356062" y="4362000"/>
            <a:ext cx="24318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Identificación de desafíos, oportunidades y tendencias de la IA en el sector seguros.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38"/>
          <p:cNvSpPr txBox="1"/>
          <p:nvPr/>
        </p:nvSpPr>
        <p:spPr>
          <a:xfrm>
            <a:off x="6036397" y="4362000"/>
            <a:ext cx="2437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Mejor comprensión de la IA con casos prácticos de prompt engineering que ayudaron al equipo a perfeccionar la creación de instrucciones claras y efectivas.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ondo" id="894" name="Google Shape;894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parador titulo" id="895" name="Google Shape;895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49606"/>
            <a:ext cx="8001000" cy="871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rco imagen" id="896" name="Google Shape;896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9580" y="1537499"/>
            <a:ext cx="8520600" cy="2602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ndo resultados" id="897" name="Google Shape;897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00000"/>
            <a:ext cx="8001000" cy="56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 NEO" id="898" name="Google Shape;898;p3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65650" y="223639"/>
            <a:ext cx="1228470" cy="244749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p39"/>
          <p:cNvSpPr/>
          <p:nvPr/>
        </p:nvSpPr>
        <p:spPr>
          <a:xfrm>
            <a:off x="571500" y="290550"/>
            <a:ext cx="15726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CASO DE ÉXITO</a:t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t/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900" name="Google Shape;900;p39"/>
          <p:cNvSpPr/>
          <p:nvPr/>
        </p:nvSpPr>
        <p:spPr>
          <a:xfrm>
            <a:off x="8670294" y="330604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</a:t>
            </a:r>
            <a:endParaRPr b="0" i="0" sz="3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39"/>
          <p:cNvSpPr txBox="1"/>
          <p:nvPr/>
        </p:nvSpPr>
        <p:spPr>
          <a:xfrm>
            <a:off x="571500" y="882968"/>
            <a:ext cx="80295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9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900"/>
              <a:buFont typeface="Montserrat"/>
              <a:buNone/>
            </a:pPr>
            <a:r>
              <a:rPr b="1" i="0" lang="en-US" sz="19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Desarrollo de capacidades IA y </a:t>
            </a:r>
            <a:r>
              <a:rPr b="1" i="1" lang="en-US" sz="19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ownership de soluciones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39"/>
          <p:cNvSpPr txBox="1"/>
          <p:nvPr/>
        </p:nvSpPr>
        <p:spPr>
          <a:xfrm>
            <a:off x="571500" y="1321118"/>
            <a:ext cx="8024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Industria: Banca. Ciclo de aprendizaje en IA que cerró con la competencia interna Agent Battle.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n del caso" id="903" name="Google Shape;903;p3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2650" y="2011050"/>
            <a:ext cx="2906700" cy="1575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904" name="Google Shape;904;p39"/>
          <p:cNvSpPr/>
          <p:nvPr/>
        </p:nvSpPr>
        <p:spPr>
          <a:xfrm>
            <a:off x="4191000" y="1780935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RETO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39"/>
          <p:cNvSpPr txBox="1"/>
          <p:nvPr/>
        </p:nvSpPr>
        <p:spPr>
          <a:xfrm>
            <a:off x="4191000" y="2023835"/>
            <a:ext cx="4106400" cy="6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Superar la gestión tradicional y la falta de conocimientos técnicos para que el equipo deje de depender de terceros y se convierta en dueño y creador de su propia tecnología.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39"/>
          <p:cNvSpPr/>
          <p:nvPr/>
        </p:nvSpPr>
        <p:spPr>
          <a:xfrm>
            <a:off x="4191000" y="2857486"/>
            <a:ext cx="2252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SOLUCIÓN</a:t>
            </a:r>
            <a:endParaRPr b="1" i="0" sz="12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07" name="Google Shape;907;p39"/>
          <p:cNvSpPr txBox="1"/>
          <p:nvPr/>
        </p:nvSpPr>
        <p:spPr>
          <a:xfrm>
            <a:off x="4191000" y="3133711"/>
            <a:ext cx="4106400" cy="6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Un ciclo de aprendizaje que incluyó diagnósticos de habilidades, capacitación en Copilot Studio y una competencia final (Agent Battle) donde el equipo creó y lanzó sus propios agentes de 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39"/>
          <p:cNvSpPr/>
          <p:nvPr/>
        </p:nvSpPr>
        <p:spPr>
          <a:xfrm>
            <a:off x="571500" y="4076474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RESULTADOS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39"/>
          <p:cNvSpPr txBox="1"/>
          <p:nvPr/>
        </p:nvSpPr>
        <p:spPr>
          <a:xfrm>
            <a:off x="670012" y="4362000"/>
            <a:ext cx="412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-40%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39"/>
          <p:cNvSpPr txBox="1"/>
          <p:nvPr/>
        </p:nvSpPr>
        <p:spPr>
          <a:xfrm>
            <a:off x="1137372" y="4362000"/>
            <a:ext cx="19701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Reducción del 40% en las tareas operativas diarias del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39"/>
          <p:cNvSpPr txBox="1"/>
          <p:nvPr/>
        </p:nvSpPr>
        <p:spPr>
          <a:xfrm>
            <a:off x="3356062" y="4362000"/>
            <a:ext cx="24318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77%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de los macro-procesos ahora son ejecutados con asistencia de 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39"/>
          <p:cNvSpPr txBox="1"/>
          <p:nvPr/>
        </p:nvSpPr>
        <p:spPr>
          <a:xfrm>
            <a:off x="6036397" y="4362000"/>
            <a:ext cx="2437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100% </a:t>
            </a: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del equipo capacitado para crear y gestionar sus propios agentes de forma autónoma.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 del cliente" id="913" name="Google Shape;913;p3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877600" y="273600"/>
            <a:ext cx="711351" cy="18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ondo" id="918" name="Google Shape;918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parador titulo" id="919" name="Google Shape;919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49606"/>
            <a:ext cx="8001000" cy="871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rco imagen" id="920" name="Google Shape;920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9580" y="1537499"/>
            <a:ext cx="8520600" cy="2602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ndo resultados" id="921" name="Google Shape;921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00000"/>
            <a:ext cx="8001000" cy="56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 NEO" id="922" name="Google Shape;922;p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65650" y="223639"/>
            <a:ext cx="1228470" cy="244749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40"/>
          <p:cNvSpPr/>
          <p:nvPr/>
        </p:nvSpPr>
        <p:spPr>
          <a:xfrm>
            <a:off x="571500" y="290550"/>
            <a:ext cx="15726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CASO DE ÉXITO</a:t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t/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924" name="Google Shape;924;p40"/>
          <p:cNvSpPr/>
          <p:nvPr/>
        </p:nvSpPr>
        <p:spPr>
          <a:xfrm>
            <a:off x="8670294" y="330604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</a:t>
            </a:r>
            <a:endParaRPr b="0" i="0" sz="3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 del cliente" id="925" name="Google Shape;925;p4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877600" y="273600"/>
            <a:ext cx="711351" cy="1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926" name="Google Shape;926;p40"/>
          <p:cNvSpPr txBox="1"/>
          <p:nvPr/>
        </p:nvSpPr>
        <p:spPr>
          <a:xfrm>
            <a:off x="571500" y="882968"/>
            <a:ext cx="80295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9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Agentes IA </a:t>
            </a:r>
            <a:r>
              <a:rPr b="1" i="1" lang="en-US" sz="2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desarrollados e implementados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40"/>
          <p:cNvSpPr txBox="1"/>
          <p:nvPr/>
        </p:nvSpPr>
        <p:spPr>
          <a:xfrm>
            <a:off x="571500" y="1321118"/>
            <a:ext cx="8024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Industria: Banca. Agentes de IA construidos por el propio equipo para automatizar el flujo operativo.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n del caso" id="928" name="Google Shape;928;p4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650" y="2011050"/>
            <a:ext cx="2906700" cy="1575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929" name="Google Shape;929;p40"/>
          <p:cNvSpPr/>
          <p:nvPr/>
        </p:nvSpPr>
        <p:spPr>
          <a:xfrm>
            <a:off x="4191000" y="1780935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RETO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40"/>
          <p:cNvSpPr txBox="1"/>
          <p:nvPr/>
        </p:nvSpPr>
        <p:spPr>
          <a:xfrm>
            <a:off x="4191000" y="2023835"/>
            <a:ext cx="41064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Enfrentar procesos manuales lentos y cuellos de botella que rompen la coherencia de marca y retrasan la entrega de resultados.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40"/>
          <p:cNvSpPr/>
          <p:nvPr/>
        </p:nvSpPr>
        <p:spPr>
          <a:xfrm>
            <a:off x="4191000" y="2691933"/>
            <a:ext cx="2252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SOLUCIÓN</a:t>
            </a:r>
            <a:endParaRPr b="1" i="0" sz="12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32" name="Google Shape;932;p40"/>
          <p:cNvSpPr txBox="1"/>
          <p:nvPr/>
        </p:nvSpPr>
        <p:spPr>
          <a:xfrm>
            <a:off x="4191000" y="2968158"/>
            <a:ext cx="4106400" cy="6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Implementamos IA operativa para automatizar todo el flujo de trabajo. Eliminamos las esperas y aseguramos que cada resultado sea perfecto y coherente en pocos segundos.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40"/>
          <p:cNvSpPr/>
          <p:nvPr/>
        </p:nvSpPr>
        <p:spPr>
          <a:xfrm>
            <a:off x="571500" y="4076474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RESULTADOS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40"/>
          <p:cNvSpPr txBox="1"/>
          <p:nvPr/>
        </p:nvSpPr>
        <p:spPr>
          <a:xfrm>
            <a:off x="670012" y="4362000"/>
            <a:ext cx="37806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Pipeline de innovación (+4 agentes): el equipo ya construye nuevas soluciones de forma autónoma, escalando la capacidad instalada.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40"/>
          <p:cNvSpPr txBox="1"/>
          <p:nvPr/>
        </p:nvSpPr>
        <p:spPr>
          <a:xfrm>
            <a:off x="4693372" y="4362000"/>
            <a:ext cx="37806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Automatizar mensajes y pedidos eliminando esperas y reprocesos innecesarios.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ondo" id="940" name="Google Shape;94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parador titulo" id="941" name="Google Shape;941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36756"/>
            <a:ext cx="8001000" cy="871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rco imagen" id="942" name="Google Shape;942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9580" y="1537499"/>
            <a:ext cx="8520600" cy="2602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ndo resultados" id="943" name="Google Shape;943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00000"/>
            <a:ext cx="8001000" cy="56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 NEO" id="944" name="Google Shape;944;p4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65650" y="223639"/>
            <a:ext cx="1228470" cy="244749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p41"/>
          <p:cNvSpPr/>
          <p:nvPr/>
        </p:nvSpPr>
        <p:spPr>
          <a:xfrm>
            <a:off x="571500" y="290550"/>
            <a:ext cx="15726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CASO DE ÉXITO</a:t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100"/>
              <a:buFont typeface="Montserrat SemiBold"/>
              <a:buNone/>
            </a:pPr>
            <a:r>
              <a:t/>
            </a:r>
            <a:endParaRPr b="1" i="0" sz="1100" u="none" cap="none" strike="noStrike">
              <a:solidFill>
                <a:srgbClr val="2B5BF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946" name="Google Shape;946;p41"/>
          <p:cNvSpPr/>
          <p:nvPr/>
        </p:nvSpPr>
        <p:spPr>
          <a:xfrm>
            <a:off x="8670294" y="330604"/>
            <a:ext cx="162000" cy="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449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300"/>
              <a:buFont typeface="Montserrat SemiBold"/>
              <a:buNone/>
            </a:pPr>
            <a:r>
              <a:rPr b="1" i="0" lang="en-US" sz="3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AÑOS </a:t>
            </a:r>
            <a:endParaRPr b="0" i="0" sz="3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 del cliente" id="947" name="Google Shape;947;p4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877600" y="273600"/>
            <a:ext cx="1071235" cy="2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8" name="Google Shape;948;p41"/>
          <p:cNvSpPr txBox="1"/>
          <p:nvPr/>
        </p:nvSpPr>
        <p:spPr>
          <a:xfrm>
            <a:off x="571500" y="710304"/>
            <a:ext cx="80295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190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0000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Construimos 7 soluciones funcionales en el primer </a:t>
            </a:r>
            <a:r>
              <a:rPr b="1" i="1" lang="en-US" sz="15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AI-Powered Vibe Coding Workshop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41"/>
          <p:cNvSpPr txBox="1"/>
          <p:nvPr/>
        </p:nvSpPr>
        <p:spPr>
          <a:xfrm>
            <a:off x="571500" y="1321118"/>
            <a:ext cx="8024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Equipos de negocio de Intercorp se convirtieron en "AI Builders" en un workshop de vibe coding.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n del caso" id="950" name="Google Shape;950;p4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650" y="2011050"/>
            <a:ext cx="2906700" cy="1575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951" name="Google Shape;951;p41"/>
          <p:cNvSpPr/>
          <p:nvPr/>
        </p:nvSpPr>
        <p:spPr>
          <a:xfrm>
            <a:off x="4191000" y="1780935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RETO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41"/>
          <p:cNvSpPr txBox="1"/>
          <p:nvPr/>
        </p:nvSpPr>
        <p:spPr>
          <a:xfrm>
            <a:off x="4191000" y="2023835"/>
            <a:ext cx="4106400" cy="6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Transformar ideas de negocio en soluciones funcionales en días, permitiendo que equipos no técnicos prototipen, validen y escalen iniciativas sin depender de ciclos técnicos tradicionales (TI).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41"/>
          <p:cNvSpPr/>
          <p:nvPr/>
        </p:nvSpPr>
        <p:spPr>
          <a:xfrm>
            <a:off x="4191000" y="2857486"/>
            <a:ext cx="2252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SOLUCIÓN</a:t>
            </a:r>
            <a:endParaRPr b="1" i="0" sz="1200" u="none" cap="none" strike="noStrike">
              <a:solidFill>
                <a:srgbClr val="2B5B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54" name="Google Shape;954;p41"/>
          <p:cNvSpPr txBox="1"/>
          <p:nvPr/>
        </p:nvSpPr>
        <p:spPr>
          <a:xfrm>
            <a:off x="4191000" y="3133711"/>
            <a:ext cx="41064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755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0" i="0" lang="en-US" sz="1100" u="none" cap="none" strike="noStrike">
                <a:solidFill>
                  <a:srgbClr val="000033"/>
                </a:solidFill>
                <a:latin typeface="Montserrat"/>
                <a:ea typeface="Montserrat"/>
                <a:cs typeface="Montserrat"/>
                <a:sym typeface="Montserrat"/>
              </a:rPr>
              <a:t>Programa para convertir equipos de negocio en "AI Builders" con VS Code, capaces de crear automatizaciones y herramientas propias.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41"/>
          <p:cNvSpPr/>
          <p:nvPr/>
        </p:nvSpPr>
        <p:spPr>
          <a:xfrm>
            <a:off x="571500" y="4076474"/>
            <a:ext cx="1451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208"/>
              </a:lnSpc>
              <a:spcBef>
                <a:spcPts val="0"/>
              </a:spcBef>
              <a:spcAft>
                <a:spcPts val="0"/>
              </a:spcAft>
              <a:buClr>
                <a:srgbClr val="2B5BFC"/>
              </a:buClr>
              <a:buSzPts val="1200"/>
              <a:buFont typeface="Montserrat ExtraBold"/>
              <a:buNone/>
            </a:pPr>
            <a:r>
              <a:rPr b="1" i="0" lang="en-US" sz="1200" u="none" cap="none" strike="noStrike">
                <a:solidFill>
                  <a:srgbClr val="2B5B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RESULTADOS</a:t>
            </a:r>
            <a:endParaRPr b="0" i="0" sz="1200" u="none" cap="none" strike="noStrike">
              <a:solidFill>
                <a:srgbClr val="0000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41"/>
          <p:cNvSpPr txBox="1"/>
          <p:nvPr/>
        </p:nvSpPr>
        <p:spPr>
          <a:xfrm>
            <a:off x="670012" y="4362000"/>
            <a:ext cx="5259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+1000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41"/>
          <p:cNvSpPr txBox="1"/>
          <p:nvPr/>
        </p:nvSpPr>
        <p:spPr>
          <a:xfrm>
            <a:off x="1250867" y="4362000"/>
            <a:ext cx="11823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"/>
              <a:buNone/>
            </a:pPr>
            <a:r>
              <a:rPr b="1" i="0" lang="en-US" sz="7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Horas ahorradas al mes en reporting manual, funciones repetitivas y operativas, entre todas las soluciones.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41"/>
          <p:cNvSpPr txBox="1"/>
          <p:nvPr/>
        </p:nvSpPr>
        <p:spPr>
          <a:xfrm>
            <a:off x="2681692" y="4362000"/>
            <a:ext cx="214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41"/>
          <p:cNvSpPr txBox="1"/>
          <p:nvPr/>
        </p:nvSpPr>
        <p:spPr>
          <a:xfrm>
            <a:off x="2951093" y="4362000"/>
            <a:ext cx="14994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800"/>
              <a:buFont typeface="Montserrat"/>
              <a:buNone/>
            </a:pPr>
            <a:r>
              <a:rPr b="1" i="0" lang="en-US" sz="8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Participantes capacitados de las diferentes unidades de negocio de Intercorp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41"/>
          <p:cNvSpPr txBox="1"/>
          <p:nvPr/>
        </p:nvSpPr>
        <p:spPr>
          <a:xfrm>
            <a:off x="4693372" y="4362000"/>
            <a:ext cx="2655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4/5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41"/>
          <p:cNvSpPr txBox="1"/>
          <p:nvPr/>
        </p:nvSpPr>
        <p:spPr>
          <a:xfrm>
            <a:off x="5013796" y="4362000"/>
            <a:ext cx="14484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NPS en nuestras sesiones con los equipos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41"/>
          <p:cNvSpPr txBox="1"/>
          <p:nvPr/>
        </p:nvSpPr>
        <p:spPr>
          <a:xfrm>
            <a:off x="6710767" y="4362000"/>
            <a:ext cx="1173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377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2B5BFC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41"/>
          <p:cNvSpPr txBox="1"/>
          <p:nvPr/>
        </p:nvSpPr>
        <p:spPr>
          <a:xfrm>
            <a:off x="6882967" y="4362000"/>
            <a:ext cx="1590900" cy="43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7313"/>
              </a:lnSpc>
              <a:spcBef>
                <a:spcPts val="0"/>
              </a:spcBef>
              <a:spcAft>
                <a:spcPts val="0"/>
              </a:spcAft>
              <a:buClr>
                <a:srgbClr val="000033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00003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Oportunidades de escalamiento priorizadas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33"/>
        </a:solidFill>
      </p:bgPr>
    </p:bg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cover.png" id="969" name="Google Shape;969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_blanco.png" id="970" name="Google Shape;970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671" y="389534"/>
            <a:ext cx="1228039" cy="245059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p42"/>
          <p:cNvSpPr txBox="1"/>
          <p:nvPr/>
        </p:nvSpPr>
        <p:spPr>
          <a:xfrm>
            <a:off x="571500" y="1882250"/>
            <a:ext cx="7863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 ExtraBold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Logra tus objetivos de negocio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 ExtraBold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utilizando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7E99FE"/>
              </a:buClr>
              <a:buSzPts val="2700"/>
              <a:buFont typeface="Montserrat Black"/>
              <a:buNone/>
            </a:pPr>
            <a:r>
              <a:rPr b="1" i="1" lang="en-US" sz="2700" u="none" cap="none" strike="noStrike">
                <a:solidFill>
                  <a:srgbClr val="7E99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data e inteligencia artificial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42"/>
          <p:cNvSpPr txBox="1"/>
          <p:nvPr/>
        </p:nvSpPr>
        <p:spPr>
          <a:xfrm>
            <a:off x="0" y="4599432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D5F7"/>
              </a:buClr>
              <a:buSzPts val="1100"/>
              <a:buFont typeface="Montserrat SemiBold"/>
              <a:buNone/>
            </a:pPr>
            <a:r>
              <a:rPr b="1" i="0" lang="en-US" sz="1100" u="none" cap="none" strike="noStrike">
                <a:solidFill>
                  <a:srgbClr val="C5D5F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neoconsulting.ai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